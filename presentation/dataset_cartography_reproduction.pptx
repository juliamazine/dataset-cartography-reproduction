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206" autoAdjust="0"/>
  </p:normalViewPr>
  <p:slideViewPr>
    <p:cSldViewPr snapToGrid="0" snapToObjects="1">
      <p:cViewPr>
        <p:scale>
          <a:sx n="75" d="100"/>
          <a:sy n="75" d="100"/>
        </p:scale>
        <p:origin x="516"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7950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talk explains the Dataset Cartography paper first, then a focused reproduction of its SNLI data-selection result. The question running through the talk is whether the path a model takes while learning an example can reveal useful structure in the dataset. I will spend roughly the first half on the paper and the second half on what we reproduced. The structure is motivation, method, original evidence, reproduction protocol, results, and interpretation. Appendix slides hold configuration details so the main argument stays readable.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normally describe a training run with aggregate loss and evaluation accuracy. Those are necessary, but they collapse thousands of different example histories into one number. Some examples may become correct almost immediately, some may fluctuate, and some may resist the provided label. Dataset Cartography starts from the idea that this variation is useful information about the dataset itself. Two runs with identical final accuracy can contain very different datasets: one may have many consistently easy cases, while another may depend on unstable borderline cases. Aggregate evaluation therefore cannot tell us which examples drive learning, which are redundant, or which deserve annotation review.</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SNLI is central to our reproduction. Each example contains a premise and a hypothesis, and the task is to decide whether the hypothesis follows from the premise, could be true without following, or conflicts with it. These three hypotheses share one real SNLI premise. In-distribution evaluation uses held-out SNLI examples; later we will distinguish that from the hand-built NLI Diagnostics set. Entailment means the hypothesis must follow from the premise, contradiction means it cannot be true given the premise, and neutral covers cases where neither conclusion follows. The task is simple to state but exposes lexical, logical, and commonsense reasoning failures.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conceptual shift is simple. Instead of keeping only the final prediction, record the probability assigned to the gold label at the end of every epoch. The sequence of probabilities is an example’s training trajectory. The illustrated example rises smoothly from 0.42 to 0.91. Dataset Cartography summarizes each such trajectory and plots every training example. Recording once per epoch is computationally cheap because the model already performs these forward passes during training. The original work used all epochs, including the first, and reports that early approximations can still correlate well with converged maps.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not stylized curves; they come from our recorded SNLI training dynamics. One example is assigned essentially full gold probability in every epoch. The tennis pair switches abruptly from near zero to near one, showing high instability. The girl-versus-boy example stays near zero because its provided entailment label conflicts with the sentences. These trajectories motivate confidence, variability, and correctness. The unstable example also shows why a final prediction alone is insufficient: at the last epoch it looks confidently correct, but its earlier epochs tell us the model crossed a sharp decision boundary. Confidence and variability retain that history.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Confidence is the mean gold-label probability over epochs. High confidence means the learner usually assigns strong probability to the annotation; low confidence means it repeatedly does not. This is not the model’s maximum class probability and it is not an objective property of the sentence pair. It depends on the gold label, the model family, and training procedure. A high mean can coexist with one unusual epoch, and a low mean can arise from a bad annotation, a genuinely difficult case, or a model limitation. Confidence is therefore a diagnostic coordinate, not a verdict about data quality.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Variability is the standard deviation of those probabilities. An example can have low variability for two opposite reasons: it is confidently correct every epoch, or confidently inconsistent with its annotation every epoch. Correctness provides a coarser count of how often the predicted class matches the label. Together the measures distinguish stable-high, unstable, and stable-low behavior. The paper uses population standard deviation across epochs. Correctness takes only E plus one possible values, so it loses probability information, but it makes the distinction between stable correct and stable incorrect examples especially intuitive.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 map uses variability on the horizontal axis and confidence on the vertical axis. Each point is one training example, and color shows the number of epochs predicted correctly. The bell shape gives three characteristic regions. The labels are descriptive and model-relative; they are not fixed semantic categories or permanent properties of an example. The authors observed broadly similar bell-shaped geometry across SNLI, MultiNLI, WinoGrande, and QNLI with RoBERTa-large. They also stress that changing the encoder can move individual coordinates even when the overall structure remains recognizable.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examples make the geometry concrete. The beach-versus-jungle contradiction is consistently easy. The tennis pair is arguably compatible rather than contradictory, and the model switches sharply during training. The hard example’s entailment label says a girl entails a boy, so its near-zero confidence is unsurprising. These examples illustrate tendencies, not equivalences: ambiguity does not mean annotation error, and hard-to-learn does not guarantee one. The middle example also warns against reading the gold label as unquestionable truth: practicing tennis is compatible with playing tennis, so contradiction is debatable. The map helps prioritize such cases for human inspection without asserting the correction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paper did more than visualize four datasets. It treated the regions as empirical hypotheses. The authors trained new models on selected regions, tested in-distribution and independently collected out-of-distribution sets, varied subset size to study optimization, injected label noise, and compared dynamics with human agreement. This validation program is why the method is interesting. The subset experiments retrain from scratch after ranking examples, controlling the amount of training data. OOD sets were collected independently or designed adversarially, so they ask whether a selection learns something broader than the original dataset distribution.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 </a:t>
            </a:r>
            <a:r>
              <a:rPr dirty="0" err="1"/>
              <a:t>WinoGrande</a:t>
            </a:r>
            <a:r>
              <a:rPr dirty="0"/>
              <a:t>, the most ambiguous third produced the strongest reported OOD score, 87.6, while retaining much more ID performance than a random third. In SNLI, the ambiguous third was within 0.2 percentage points of full-data ID performance and exceeded full-data Diagnostics accuracy. The paper found related patterns across datasets, but we should state this as empirical evidence for these settings, not a universal rule. On </a:t>
            </a:r>
            <a:r>
              <a:rPr dirty="0" err="1"/>
              <a:t>WinoGrande</a:t>
            </a:r>
            <a:r>
              <a:rPr dirty="0"/>
              <a:t>, easy selections underperformed the random subset, while ambiguous and hard selections were competitive or better. For SNLI, the paper reports improvements across the Diagnostics categories, although the aggregate numbers shown here are the comparison we reproduce.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optimization experiment adds an important qualification. WinoGrande models trained on 25 percent or more of the most ambiguous data learned successfully, but at 17 percent or less they collapsed to chance despite restarts. Replacing just one tenth of that 17 percent subset with easy examples restored learning and beat the random ID baseline. Easy examples therefore are not useless; they can provide stable optimization signal. This result suggests a curriculum-like balance: difficult variable examples may define useful distinctions, while some stable examples help the optimizer find a workable solution. The paper leaves the optimal mixture as an open question rather than prescribing one fixed ratio.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authors injected controlled noise by flipping labels for one percent of easy WinoGrande examples. After retraining, the corrupted examples shifted toward lower confidence. A simple confidence-based classifier then identified candidate issues. In human review, 67 percent versus 13 percent of WinoGrande’s predicted noisy and clean groups were mislabeled or ambiguous; on SNLI the contrast was 76 versus 4 percent. This shows enrichment, not perfect diagnosis. The simple noise classifier used confidence as its single feature and achieved a sanity-check score of 100 percent F1 on similarly constructed artificial data. Real-data human review was weaker, which is expected because naturally difficult and mislabeled examples are not the same population.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concrete experiment we chose. ID means the ordinary SNLI test distribution. OOD means the NLI Diagnostics set, a small hand-crafted challenge set targeting multiple reasoning categories. The paper’s ambiguous third slightly exceeded the full-data ID score and improved Diagnostics by 1.7 points. The numerical ID difference is small; the interesting claim is data efficiency plus OOD behavior. Diagnostics contains categories for lexical semantics, predicate–argument structure, logic, and knowledge. We report one aggregate accuracy because that is what our evaluator produces. This keeps ID and OOD claims distinct and avoids implying that a higher SNLI score guarantees broader reasoning.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retained every official SNLI example with a valid label and joined all 549,367 training IDs to the authors’ released coordinates. The random subset follows their published sampling seed and procedure. Ambiguous selects highest variability and hard-to-learn selects lowest confidence. Every model is RoBERTa-large with the recovered learning rate, effective batch 96, and best validation checkpoint. Using released coordinates matters: it reproduces the paper's selection directly before asking whether our locally reconstructed map agrees. Otherwise a difference in final accuracy could combine selection error with training error and would be harder to interpret.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original physical batch of 96 does not fit a 16 GB card, so we used 32 examples with three accumulation steps, preserving the effective batch. BF16 and dynamic padding reduce memory. The software stack is modern. Most importantly, the paper reports the best of three seeds, while the released configuration exposes one seed. Our comparisons therefore test whether the reported pattern appears, not whether every decimal is identical. Gradient accumulation preserves optimizer batch frequency but not every floating-point operation, and BF16 changes numerical rounding. Dynamic padding preserves attention masks and the 128-token truncation limit while reducing wasted computation. These are practical, documented deviations.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SNLI test, full and random are about half a point above the paper. The ambiguous subset is essentially exact: 92.19 versus 92.2. It also beats our random third by 0.38 points and comes within 0.34 of our full-data run. Hard-to-learn is the largest ID disagreement, 1.38 points below the paper. The plotted axis is zoomed and explicitly labeled; the table keeps the size of each difference visible. The ordering is not identical because our full run exceeds ambiguous by 0.34 points, whereas the published ambiguous value exceeds full by 0.2. Given best-of-three versus one seed, the defensible conclusion is near-equivalent performance with one third of the data, not that ambiguous selection always wins ID.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Diagnostics, every reproduction score is within 1.65 points of the published value. Ambiguous remains best at 64.31, 1.54 points above our full run and 2.26 above our random third. The ranking supports the paper’s main OOD pattern. The random run is our largest positive difference. Diagnostics is only 1,104 examples, so a small number of predictions and seed differences can move the percentage. Here the qualitative ordering is especially informative: ambiguous is best in both paper and reproduction, and random is lowest. Hard-to-learn roughly matches the paper's OOD result even though its ID result is lower, reinforcing that ID and OOD answer different questions.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also reconstructed the map from our own training dynamics. Coverage is 99.91 percent because 498 examples lacked exactly one observation in every logged epoch and were excluded rather than imputed. Confidence correlates strongly with the released map: Pearson 0.944. Variability is less stable but still substantial at 0.708. Seventy-five percent of ambiguous selections overlap. Qualitatively, the exact girl-versus-boy example highlighted as hard in the paper also appears among our lowest-confidence examples. Set overlap is a stricter criterion than correlation because ranking changes near the one-third cutoff can swap membership. A 75.2 percent ambiguous overlap therefore coexists naturally with a Spearman variability correlation of 0.772. The excluded 0.09 percent is transparently reported.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evidence supports the paper’s central SNLI selection result: the ambiguous third nearly matches full-data ID accuracy and leads on Diagnostics. The map’s confidence structure is robust, while variability and the hard-subset score are more sensitive. The broader lesson is that per-example training histories can diagnose usefulness, uncertainty, and possible annotation issues, but all region names remain conditional on the model and training process. That is the conclusion I would defend from this reproduction. Practical uses include dataset auditing, selecting compact training sets, and studying uncertainty, but computing the initial map still requires training on the full dataset. Our evidence is one dataset, one model family, and one seed, so broader deployment should validate the map again under the intended setup.</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with the full settings that materially affect comparison. The recovered settings are documented in the repository and the raw run metrics.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containing every individual measured run rather than rounded headline values. There is no hidden aggregation across seeds.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describing exact subset construction. The slight count difference between random and coordinate-based subsets follows the separate procedures in the original code.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containing the full numerical comparison and signed differences in percentage points.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github.com/JuliaMazine/dataset-cartography-reproduction"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cxnSp>
        <p:nvCxnSpPr>
          <p:cNvPr id="2" name="Connector 1"/>
          <p:cNvCxnSpPr/>
          <p:nvPr/>
        </p:nvCxnSpPr>
        <p:spPr>
          <a:xfrm>
            <a:off x="685800" y="1005840"/>
            <a:ext cx="1508760" cy="0"/>
          </a:xfrm>
          <a:prstGeom prst="line">
            <a:avLst/>
          </a:prstGeom>
          <a:ln w="50800">
            <a:solidFill>
              <a:srgbClr val="B65C3A"/>
            </a:solidFill>
          </a:ln>
        </p:spPr>
        <p:style>
          <a:lnRef idx="2">
            <a:schemeClr val="accent1"/>
          </a:lnRef>
          <a:fillRef idx="0">
            <a:schemeClr val="accent1"/>
          </a:fillRef>
          <a:effectRef idx="1">
            <a:schemeClr val="accent1"/>
          </a:effectRef>
          <a:fontRef idx="minor">
            <a:schemeClr val="tx1"/>
          </a:fontRef>
        </p:style>
      </p:cxnSp>
      <p:sp>
        <p:nvSpPr>
          <p:cNvPr id="3" name="Rectangle 2"/>
          <p:cNvSpPr/>
          <p:nvPr/>
        </p:nvSpPr>
        <p:spPr>
          <a:xfrm>
            <a:off x="685800" y="1234440"/>
            <a:ext cx="10698480" cy="11430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3000" b="1" i="0" dirty="0">
                <a:solidFill>
                  <a:srgbClr val="202A35"/>
                </a:solidFill>
                <a:latin typeface="Aptos"/>
              </a:rPr>
              <a:t>Dataset Cartography: Mapping and
Diagnosing Datasets with Training Dynamics</a:t>
            </a:r>
          </a:p>
        </p:txBody>
      </p:sp>
      <p:sp>
        <p:nvSpPr>
          <p:cNvPr id="4" name="Rectangle 3"/>
          <p:cNvSpPr/>
          <p:nvPr/>
        </p:nvSpPr>
        <p:spPr>
          <a:xfrm>
            <a:off x="713232" y="2633472"/>
            <a:ext cx="987552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000" b="0" i="0" dirty="0">
                <a:solidFill>
                  <a:srgbClr val="697386"/>
                </a:solidFill>
                <a:latin typeface="Aptos"/>
              </a:rPr>
              <a:t>Reproduction of </a:t>
            </a:r>
            <a:r>
              <a:rPr sz="2000" b="0" i="0" dirty="0" err="1">
                <a:solidFill>
                  <a:srgbClr val="697386"/>
                </a:solidFill>
                <a:latin typeface="Aptos"/>
              </a:rPr>
              <a:t>Swayamdipta</a:t>
            </a:r>
            <a:r>
              <a:rPr sz="2000" b="0" i="0" dirty="0">
                <a:solidFill>
                  <a:srgbClr val="697386"/>
                </a:solidFill>
                <a:latin typeface="Aptos"/>
              </a:rPr>
              <a:t> et al., EMNLP 2020</a:t>
            </a:r>
          </a:p>
        </p:txBody>
      </p:sp>
      <p:sp>
        <p:nvSpPr>
          <p:cNvPr id="5" name="Rectangle 4"/>
          <p:cNvSpPr/>
          <p:nvPr/>
        </p:nvSpPr>
        <p:spPr>
          <a:xfrm>
            <a:off x="713232" y="3417569"/>
            <a:ext cx="1700213"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000" b="1" i="0" dirty="0">
                <a:solidFill>
                  <a:srgbClr val="202A35"/>
                </a:solidFill>
                <a:latin typeface="Aptos"/>
              </a:rPr>
              <a:t>Julia Mazine</a:t>
            </a:r>
          </a:p>
        </p:txBody>
      </p:sp>
      <p:sp>
        <p:nvSpPr>
          <p:cNvPr id="7" name="Rectangle 6"/>
          <p:cNvSpPr/>
          <p:nvPr/>
        </p:nvSpPr>
        <p:spPr>
          <a:xfrm>
            <a:off x="713232" y="5980175"/>
            <a:ext cx="5382768" cy="420625"/>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600" b="0" i="0" dirty="0">
                <a:solidFill>
                  <a:srgbClr val="5F6B75"/>
                </a:solidFill>
                <a:latin typeface="Aptos"/>
                <a:hlinkClick r:id="rId3" action="ppaction://hlinkfile"/>
              </a:rPr>
              <a:t>github.com/</a:t>
            </a:r>
            <a:r>
              <a:rPr sz="1600" b="0" i="0" dirty="0" err="1">
                <a:solidFill>
                  <a:srgbClr val="5F6B75"/>
                </a:solidFill>
                <a:latin typeface="Aptos"/>
                <a:hlinkClick r:id="rId3" action="ppaction://hlinkfile"/>
              </a:rPr>
              <a:t>JuliaMazine</a:t>
            </a:r>
            <a:r>
              <a:rPr sz="1600" b="0" i="0" dirty="0">
                <a:solidFill>
                  <a:srgbClr val="5F6B75"/>
                </a:solidFill>
                <a:latin typeface="Aptos"/>
                <a:hlinkClick r:id="rId3" action="ppaction://hlinkfile"/>
              </a:rPr>
              <a:t>/dataset-cartography-reproduction</a:t>
            </a:r>
            <a:endParaRPr sz="1600" b="0" i="0" dirty="0">
              <a:solidFill>
                <a:srgbClr val="5F6B75"/>
              </a:solidFill>
              <a:latin typeface="Aptos"/>
            </a:endParaRPr>
          </a:p>
        </p:txBody>
      </p:sp>
      <p:sp>
        <p:nvSpPr>
          <p:cNvPr id="8" name="Rectangle 7"/>
          <p:cNvSpPr/>
          <p:nvPr/>
        </p:nvSpPr>
        <p:spPr>
          <a:xfrm>
            <a:off x="10744200" y="6172200"/>
            <a:ext cx="64008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800" b="0" i="0">
                <a:solidFill>
                  <a:srgbClr val="5F6B75"/>
                </a:solidFill>
                <a:latin typeface="Aptos"/>
              </a:rPr>
              <a:t>1 / 20</a:t>
            </a:r>
          </a:p>
        </p:txBody>
      </p:sp>
      <p:pic>
        <p:nvPicPr>
          <p:cNvPr id="1026" name="Picture 2" descr="Download Magnifying Knowledge Detail Image - Magnifier, Text, Reading |  StockCake">
            <a:extLst>
              <a:ext uri="{FF2B5EF4-FFF2-40B4-BE49-F238E27FC236}">
                <a16:creationId xmlns:a16="http://schemas.microsoft.com/office/drawing/2014/main" id="{E9F05C06-C34C-1442-48E8-EFC29028F3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3701" y="3591305"/>
            <a:ext cx="3576638" cy="20437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Aggregate metrics hide example-level structure</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2</a:t>
            </a:r>
          </a:p>
        </p:txBody>
      </p:sp>
      <p:sp>
        <p:nvSpPr>
          <p:cNvPr id="6" name="Rectangle 5"/>
          <p:cNvSpPr/>
          <p:nvPr/>
        </p:nvSpPr>
        <p:spPr>
          <a:xfrm>
            <a:off x="1008380" y="1853067"/>
            <a:ext cx="3886200" cy="5943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200" b="1" i="0" dirty="0">
                <a:solidFill>
                  <a:srgbClr val="202A35"/>
                </a:solidFill>
                <a:latin typeface="Aptos"/>
              </a:rPr>
              <a:t>10,000 training examples</a:t>
            </a:r>
          </a:p>
        </p:txBody>
      </p:sp>
      <p:sp>
        <p:nvSpPr>
          <p:cNvPr id="7" name="Oval 6"/>
          <p:cNvSpPr/>
          <p:nvPr/>
        </p:nvSpPr>
        <p:spPr>
          <a:xfrm>
            <a:off x="1152144" y="362383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53312" y="362383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554480" y="362383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755648" y="362383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956816" y="3623837"/>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157984" y="362383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359152" y="362383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560320" y="362383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761488" y="3623837"/>
            <a:ext cx="73152" cy="73152"/>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962656" y="362383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163824" y="362383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364992" y="362383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3566160" y="362383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767327" y="362383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968496" y="362383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169664" y="362383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370832" y="362383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572000" y="3623837"/>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52144"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353312"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554480"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755648"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956816"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157984"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2359152"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2560320"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761488"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2962656"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163824" y="3825005"/>
            <a:ext cx="73152" cy="73152"/>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364992"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3566160"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3767327"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968496"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4169664"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370832"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572000" y="382500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152144"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1353312"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554480"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755648" y="4026173"/>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956816"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2157984"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2359152"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2560320"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2761488"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2962656"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3163824"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3364992"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3566160"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3767327"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3968496" y="4026173"/>
            <a:ext cx="73152" cy="73152"/>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4169664"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4370832"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4572000" y="402617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1152144"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353312"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1554480"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755648"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956816" y="4227341"/>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2157984"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2359152"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2560320"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2761488"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2962656"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3163824"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3364992"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3566160"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3767327"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3968496"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4169664"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4370832"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4572000" y="422734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1152144"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1353312" y="4428509"/>
            <a:ext cx="73152" cy="73152"/>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1554480"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1755648"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1956816"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2157984"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2359152"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2560320"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2761488"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2962656"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3163824" y="4428509"/>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3364992"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3566160"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3767327"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3968496"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4169664"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4370832"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4572000" y="4428509"/>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1152144"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1353312"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1554480"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1755648"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1956816"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2157984" y="4629677"/>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2359152"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2560320"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2761488"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2962656"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3163824"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3364992"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3566160"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p:cNvSpPr/>
          <p:nvPr/>
        </p:nvSpPr>
        <p:spPr>
          <a:xfrm>
            <a:off x="3767327"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3968496" y="4629677"/>
            <a:ext cx="73152" cy="73152"/>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4169664"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p:cNvSpPr/>
          <p:nvPr/>
        </p:nvSpPr>
        <p:spPr>
          <a:xfrm>
            <a:off x="4370832"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4572000" y="4629677"/>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1152144"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115"/>
          <p:cNvSpPr/>
          <p:nvPr/>
        </p:nvSpPr>
        <p:spPr>
          <a:xfrm>
            <a:off x="1353312"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1554480"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1755648" y="4830845"/>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1956816"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2157984"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2359152"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2560320"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2761488"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2962656"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3163824"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3364992"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3566160"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3767327"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3968496"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4169664"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4370832"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4572000" y="4830845"/>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1152144" y="5032013"/>
            <a:ext cx="73152" cy="73152"/>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1353312"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1554480"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755648"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1956816"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2157984"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2359152"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2560320"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2761488"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2962656"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3163824"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3364992" y="5032013"/>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3566160"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3767327"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3968496"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4169664"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val 148"/>
          <p:cNvSpPr/>
          <p:nvPr/>
        </p:nvSpPr>
        <p:spPr>
          <a:xfrm>
            <a:off x="4370832"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149"/>
          <p:cNvSpPr/>
          <p:nvPr/>
        </p:nvSpPr>
        <p:spPr>
          <a:xfrm>
            <a:off x="4572000" y="5032013"/>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p:cNvSpPr/>
          <p:nvPr/>
        </p:nvSpPr>
        <p:spPr>
          <a:xfrm>
            <a:off x="1152144"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val 151"/>
          <p:cNvSpPr/>
          <p:nvPr/>
        </p:nvSpPr>
        <p:spPr>
          <a:xfrm>
            <a:off x="1353312"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p:cNvSpPr/>
          <p:nvPr/>
        </p:nvSpPr>
        <p:spPr>
          <a:xfrm>
            <a:off x="1554480"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val 153"/>
          <p:cNvSpPr/>
          <p:nvPr/>
        </p:nvSpPr>
        <p:spPr>
          <a:xfrm>
            <a:off x="1755648"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val 154"/>
          <p:cNvSpPr/>
          <p:nvPr/>
        </p:nvSpPr>
        <p:spPr>
          <a:xfrm>
            <a:off x="1956816"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val 155"/>
          <p:cNvSpPr/>
          <p:nvPr/>
        </p:nvSpPr>
        <p:spPr>
          <a:xfrm>
            <a:off x="2157984" y="5233181"/>
            <a:ext cx="73152" cy="73152"/>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val 156"/>
          <p:cNvSpPr/>
          <p:nvPr/>
        </p:nvSpPr>
        <p:spPr>
          <a:xfrm>
            <a:off x="2359152"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p:cNvSpPr/>
          <p:nvPr/>
        </p:nvSpPr>
        <p:spPr>
          <a:xfrm>
            <a:off x="2560320"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val 158"/>
          <p:cNvSpPr/>
          <p:nvPr/>
        </p:nvSpPr>
        <p:spPr>
          <a:xfrm>
            <a:off x="2761488"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val 159"/>
          <p:cNvSpPr/>
          <p:nvPr/>
        </p:nvSpPr>
        <p:spPr>
          <a:xfrm>
            <a:off x="2962656"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p:cNvSpPr/>
          <p:nvPr/>
        </p:nvSpPr>
        <p:spPr>
          <a:xfrm>
            <a:off x="3163824"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val 161"/>
          <p:cNvSpPr/>
          <p:nvPr/>
        </p:nvSpPr>
        <p:spPr>
          <a:xfrm>
            <a:off x="3364992" y="5233181"/>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val 162"/>
          <p:cNvSpPr/>
          <p:nvPr/>
        </p:nvSpPr>
        <p:spPr>
          <a:xfrm>
            <a:off x="3566160"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val 163"/>
          <p:cNvSpPr/>
          <p:nvPr/>
        </p:nvSpPr>
        <p:spPr>
          <a:xfrm>
            <a:off x="3767327"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val 164"/>
          <p:cNvSpPr/>
          <p:nvPr/>
        </p:nvSpPr>
        <p:spPr>
          <a:xfrm>
            <a:off x="3968496"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val 165"/>
          <p:cNvSpPr/>
          <p:nvPr/>
        </p:nvSpPr>
        <p:spPr>
          <a:xfrm>
            <a:off x="4169664"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val 166"/>
          <p:cNvSpPr/>
          <p:nvPr/>
        </p:nvSpPr>
        <p:spPr>
          <a:xfrm>
            <a:off x="4370832"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val 167"/>
          <p:cNvSpPr/>
          <p:nvPr/>
        </p:nvSpPr>
        <p:spPr>
          <a:xfrm>
            <a:off x="4572000" y="5233181"/>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val 168"/>
          <p:cNvSpPr/>
          <p:nvPr/>
        </p:nvSpPr>
        <p:spPr>
          <a:xfrm>
            <a:off x="1152144"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val 169"/>
          <p:cNvSpPr/>
          <p:nvPr/>
        </p:nvSpPr>
        <p:spPr>
          <a:xfrm>
            <a:off x="1353312"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val 170"/>
          <p:cNvSpPr/>
          <p:nvPr/>
        </p:nvSpPr>
        <p:spPr>
          <a:xfrm>
            <a:off x="1554480"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val 171"/>
          <p:cNvSpPr/>
          <p:nvPr/>
        </p:nvSpPr>
        <p:spPr>
          <a:xfrm>
            <a:off x="1755648"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val 172"/>
          <p:cNvSpPr/>
          <p:nvPr/>
        </p:nvSpPr>
        <p:spPr>
          <a:xfrm>
            <a:off x="1956816"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val 173"/>
          <p:cNvSpPr/>
          <p:nvPr/>
        </p:nvSpPr>
        <p:spPr>
          <a:xfrm>
            <a:off x="2157984"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val 174"/>
          <p:cNvSpPr/>
          <p:nvPr/>
        </p:nvSpPr>
        <p:spPr>
          <a:xfrm>
            <a:off x="2359152"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val 175"/>
          <p:cNvSpPr/>
          <p:nvPr/>
        </p:nvSpPr>
        <p:spPr>
          <a:xfrm>
            <a:off x="2560320" y="5434348"/>
            <a:ext cx="73152" cy="73152"/>
          </a:xfrm>
          <a:prstGeom prst="ellipse">
            <a:avLst/>
          </a:prstGeom>
          <a:solidFill>
            <a:srgbClr val="B65C3A"/>
          </a:solidFill>
          <a:ln>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val 176"/>
          <p:cNvSpPr/>
          <p:nvPr/>
        </p:nvSpPr>
        <p:spPr>
          <a:xfrm>
            <a:off x="2761488"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val 177"/>
          <p:cNvSpPr/>
          <p:nvPr/>
        </p:nvSpPr>
        <p:spPr>
          <a:xfrm>
            <a:off x="2962656"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val 178"/>
          <p:cNvSpPr/>
          <p:nvPr/>
        </p:nvSpPr>
        <p:spPr>
          <a:xfrm>
            <a:off x="3163824"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val 179"/>
          <p:cNvSpPr/>
          <p:nvPr/>
        </p:nvSpPr>
        <p:spPr>
          <a:xfrm>
            <a:off x="3364992"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val 180"/>
          <p:cNvSpPr/>
          <p:nvPr/>
        </p:nvSpPr>
        <p:spPr>
          <a:xfrm>
            <a:off x="3566160"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val 181"/>
          <p:cNvSpPr/>
          <p:nvPr/>
        </p:nvSpPr>
        <p:spPr>
          <a:xfrm>
            <a:off x="3767327"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val 182"/>
          <p:cNvSpPr/>
          <p:nvPr/>
        </p:nvSpPr>
        <p:spPr>
          <a:xfrm>
            <a:off x="3968496"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83"/>
          <p:cNvSpPr/>
          <p:nvPr/>
        </p:nvSpPr>
        <p:spPr>
          <a:xfrm>
            <a:off x="4169664"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val 184"/>
          <p:cNvSpPr/>
          <p:nvPr/>
        </p:nvSpPr>
        <p:spPr>
          <a:xfrm>
            <a:off x="4370832"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val 185"/>
          <p:cNvSpPr/>
          <p:nvPr/>
        </p:nvSpPr>
        <p:spPr>
          <a:xfrm>
            <a:off x="4572000" y="5434348"/>
            <a:ext cx="73152" cy="73152"/>
          </a:xfrm>
          <a:prstGeom prst="ellipse">
            <a:avLst/>
          </a:prstGeom>
          <a:solidFill>
            <a:srgbClr val="ECE9E2"/>
          </a:solidFill>
          <a:ln>
            <a:solidFill>
              <a:srgbClr val="ECE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Rectangle 186"/>
          <p:cNvSpPr/>
          <p:nvPr/>
        </p:nvSpPr>
        <p:spPr>
          <a:xfrm>
            <a:off x="5199380" y="1916430"/>
            <a:ext cx="822960" cy="47548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800" b="1" i="0" dirty="0">
                <a:solidFill>
                  <a:srgbClr val="5F6B75"/>
                </a:solidFill>
                <a:latin typeface="Aptos"/>
              </a:rPr>
              <a:t>→</a:t>
            </a:r>
          </a:p>
        </p:txBody>
      </p:sp>
      <p:sp>
        <p:nvSpPr>
          <p:cNvPr id="188" name="Rectangle 187"/>
          <p:cNvSpPr/>
          <p:nvPr/>
        </p:nvSpPr>
        <p:spPr>
          <a:xfrm>
            <a:off x="6197600" y="1573531"/>
            <a:ext cx="2057400" cy="1234440"/>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Rectangle 188"/>
          <p:cNvSpPr/>
          <p:nvPr/>
        </p:nvSpPr>
        <p:spPr>
          <a:xfrm>
            <a:off x="6353048" y="1774699"/>
            <a:ext cx="1737360" cy="2926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300" b="0" i="0">
                <a:solidFill>
                  <a:srgbClr val="5F6B75"/>
                </a:solidFill>
                <a:latin typeface="Aptos"/>
              </a:rPr>
              <a:t>Accuracy</a:t>
            </a:r>
          </a:p>
        </p:txBody>
      </p:sp>
      <p:sp>
        <p:nvSpPr>
          <p:cNvPr id="190" name="Rectangle 189"/>
          <p:cNvSpPr/>
          <p:nvPr/>
        </p:nvSpPr>
        <p:spPr>
          <a:xfrm>
            <a:off x="6353048" y="2094738"/>
            <a:ext cx="1737360" cy="4572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700" b="1" i="0">
                <a:solidFill>
                  <a:srgbClr val="697386"/>
                </a:solidFill>
                <a:latin typeface="Aptos"/>
              </a:rPr>
              <a:t>92.0%</a:t>
            </a:r>
          </a:p>
        </p:txBody>
      </p:sp>
      <p:sp>
        <p:nvSpPr>
          <p:cNvPr id="191" name="Rectangle 190"/>
          <p:cNvSpPr/>
          <p:nvPr/>
        </p:nvSpPr>
        <p:spPr>
          <a:xfrm>
            <a:off x="8529320" y="1573531"/>
            <a:ext cx="2057400" cy="1234440"/>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Rectangle 191"/>
          <p:cNvSpPr/>
          <p:nvPr/>
        </p:nvSpPr>
        <p:spPr>
          <a:xfrm>
            <a:off x="8684768" y="1774699"/>
            <a:ext cx="1737360" cy="2926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300" b="0" i="0">
                <a:solidFill>
                  <a:srgbClr val="5F6B75"/>
                </a:solidFill>
                <a:latin typeface="Aptos"/>
              </a:rPr>
              <a:t>Loss</a:t>
            </a:r>
          </a:p>
        </p:txBody>
      </p:sp>
      <p:sp>
        <p:nvSpPr>
          <p:cNvPr id="193" name="Rectangle 192"/>
          <p:cNvSpPr/>
          <p:nvPr/>
        </p:nvSpPr>
        <p:spPr>
          <a:xfrm>
            <a:off x="8684768" y="2094738"/>
            <a:ext cx="1737360" cy="4572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700" b="1" i="0">
                <a:solidFill>
                  <a:srgbClr val="697386"/>
                </a:solidFill>
                <a:latin typeface="Aptos"/>
              </a:rPr>
              <a:t>0.21</a:t>
            </a:r>
          </a:p>
        </p:txBody>
      </p:sp>
      <p:sp>
        <p:nvSpPr>
          <p:cNvPr id="194" name="Rectangle 193"/>
          <p:cNvSpPr/>
          <p:nvPr/>
        </p:nvSpPr>
        <p:spPr>
          <a:xfrm>
            <a:off x="5422900" y="3428999"/>
            <a:ext cx="5805932" cy="1111777"/>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800" b="1" i="0" dirty="0">
                <a:solidFill>
                  <a:srgbClr val="202A35"/>
                </a:solidFill>
                <a:latin typeface="Aptos"/>
              </a:rPr>
              <a:t>These summaries say little about which examples were learned immediately, learned unreliably, or never learned.</a:t>
            </a:r>
          </a:p>
        </p:txBody>
      </p:sp>
      <p:sp>
        <p:nvSpPr>
          <p:cNvPr id="195" name="Rectangle 194"/>
          <p:cNvSpPr/>
          <p:nvPr/>
        </p:nvSpPr>
        <p:spPr>
          <a:xfrm>
            <a:off x="5422900" y="4869959"/>
            <a:ext cx="5805932" cy="1073625"/>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200" b="1" i="0" dirty="0">
                <a:solidFill>
                  <a:srgbClr val="B65C3A"/>
                </a:solidFill>
                <a:latin typeface="Aptos"/>
              </a:rPr>
              <a:t>Can we diagnose a dataset by watching how the model learns each example?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SNLI is a three-way natural-language inference task</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3</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720" b="0" i="0">
                <a:solidFill>
                  <a:srgbClr val="5F6B75"/>
                </a:solidFill>
                <a:latin typeface="Aptos"/>
              </a:rPr>
              <a:t>SNLI: Bowman et al. (2015). Examples shown are real SNLI training pairs.</a:t>
            </a:r>
          </a:p>
        </p:txBody>
      </p:sp>
      <p:sp>
        <p:nvSpPr>
          <p:cNvPr id="7" name="Rectangle 6"/>
          <p:cNvSpPr/>
          <p:nvPr/>
        </p:nvSpPr>
        <p:spPr>
          <a:xfrm>
            <a:off x="658368" y="1261872"/>
            <a:ext cx="10881360" cy="749808"/>
          </a:xfrm>
          <a:prstGeom prst="rect">
            <a:avLst/>
          </a:prstGeom>
          <a:solidFill>
            <a:srgbClr val="F0EEE8"/>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41248" y="1417320"/>
            <a:ext cx="1005840" cy="21945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a:solidFill>
                  <a:srgbClr val="5F6B75"/>
                </a:solidFill>
                <a:latin typeface="Aptos"/>
              </a:rPr>
              <a:t>PREMISE</a:t>
            </a:r>
          </a:p>
        </p:txBody>
      </p:sp>
      <p:sp>
        <p:nvSpPr>
          <p:cNvPr id="9" name="Rectangle 8"/>
          <p:cNvSpPr/>
          <p:nvPr/>
        </p:nvSpPr>
        <p:spPr>
          <a:xfrm>
            <a:off x="1847088" y="1344168"/>
            <a:ext cx="905256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900" b="1" i="0">
                <a:solidFill>
                  <a:srgbClr val="202A35"/>
                </a:solidFill>
                <a:latin typeface="Aptos"/>
              </a:rPr>
              <a:t>“Cafe Express” sign covered in graffiti.</a:t>
            </a:r>
          </a:p>
        </p:txBody>
      </p:sp>
      <p:sp>
        <p:nvSpPr>
          <p:cNvPr id="10" name="Rectangle 9"/>
          <p:cNvSpPr/>
          <p:nvPr/>
        </p:nvSpPr>
        <p:spPr>
          <a:xfrm>
            <a:off x="841248" y="2395728"/>
            <a:ext cx="9966960" cy="822960"/>
          </a:xfrm>
          <a:prstGeom prst="rect">
            <a:avLst/>
          </a:prstGeom>
          <a:solidFill>
            <a:srgbClr val="FFFFFF"/>
          </a:solidFill>
          <a:ln w="10160">
            <a:solidFill>
              <a:srgbClr val="4F7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024128" y="2578608"/>
            <a:ext cx="1508760" cy="292608"/>
          </a:xfrm>
          <a:prstGeom prst="roundRect">
            <a:avLst/>
          </a:prstGeom>
          <a:solidFill>
            <a:srgbClr val="FFFFFF"/>
          </a:solidFill>
          <a:ln>
            <a:solidFill>
              <a:srgbClr val="4F7661"/>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4F7661"/>
                </a:solidFill>
                <a:latin typeface="Aptos"/>
              </a:rPr>
              <a:t>ENTAILMENT</a:t>
            </a:r>
          </a:p>
        </p:txBody>
      </p:sp>
      <p:sp>
        <p:nvSpPr>
          <p:cNvPr id="12" name="Rectangle 11"/>
          <p:cNvSpPr/>
          <p:nvPr/>
        </p:nvSpPr>
        <p:spPr>
          <a:xfrm>
            <a:off x="2788920" y="2523744"/>
            <a:ext cx="6035040" cy="3108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600" b="1" i="0">
                <a:solidFill>
                  <a:srgbClr val="202A35"/>
                </a:solidFill>
                <a:latin typeface="Aptos"/>
              </a:rPr>
              <a:t>A sign covered in graffiti.</a:t>
            </a:r>
          </a:p>
        </p:txBody>
      </p:sp>
      <p:sp>
        <p:nvSpPr>
          <p:cNvPr id="13" name="Rectangle 12"/>
          <p:cNvSpPr/>
          <p:nvPr/>
        </p:nvSpPr>
        <p:spPr>
          <a:xfrm>
            <a:off x="8887968" y="2560320"/>
            <a:ext cx="1600200" cy="23774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1100" b="0" i="0">
                <a:solidFill>
                  <a:srgbClr val="4F7661"/>
                </a:solidFill>
                <a:latin typeface="Aptos"/>
              </a:rPr>
              <a:t>must be true</a:t>
            </a:r>
          </a:p>
        </p:txBody>
      </p:sp>
      <p:sp>
        <p:nvSpPr>
          <p:cNvPr id="14" name="Rectangle 13"/>
          <p:cNvSpPr/>
          <p:nvPr/>
        </p:nvSpPr>
        <p:spPr>
          <a:xfrm>
            <a:off x="841248" y="3474720"/>
            <a:ext cx="9966960" cy="822960"/>
          </a:xfrm>
          <a:prstGeom prst="rect">
            <a:avLst/>
          </a:prstGeom>
          <a:solidFill>
            <a:srgbClr val="FFFFFF"/>
          </a:solidFill>
          <a:ln w="10160">
            <a:solidFill>
              <a:srgbClr val="B47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024128" y="3657600"/>
            <a:ext cx="1508760" cy="292608"/>
          </a:xfrm>
          <a:prstGeom prst="roundRect">
            <a:avLst/>
          </a:prstGeom>
          <a:solidFill>
            <a:srgbClr val="FFFFFF"/>
          </a:solidFill>
          <a:ln>
            <a:solidFill>
              <a:srgbClr val="B47A2A"/>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B47A2A"/>
                </a:solidFill>
                <a:latin typeface="Aptos"/>
              </a:rPr>
              <a:t>NEUTRAL</a:t>
            </a:r>
          </a:p>
        </p:txBody>
      </p:sp>
      <p:sp>
        <p:nvSpPr>
          <p:cNvPr id="16" name="Rectangle 15"/>
          <p:cNvSpPr/>
          <p:nvPr/>
        </p:nvSpPr>
        <p:spPr>
          <a:xfrm>
            <a:off x="2788920" y="3602736"/>
            <a:ext cx="6035040" cy="3108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600" b="1" i="0">
                <a:solidFill>
                  <a:srgbClr val="202A35"/>
                </a:solidFill>
                <a:latin typeface="Aptos"/>
              </a:rPr>
              <a:t>The sign is hard to read.</a:t>
            </a:r>
          </a:p>
        </p:txBody>
      </p:sp>
      <p:sp>
        <p:nvSpPr>
          <p:cNvPr id="17" name="Rectangle 16"/>
          <p:cNvSpPr/>
          <p:nvPr/>
        </p:nvSpPr>
        <p:spPr>
          <a:xfrm>
            <a:off x="8887968" y="3639312"/>
            <a:ext cx="1600200" cy="23774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1100" b="0" i="0">
                <a:solidFill>
                  <a:srgbClr val="B47A2A"/>
                </a:solidFill>
                <a:latin typeface="Aptos"/>
              </a:rPr>
              <a:t>may be true</a:t>
            </a:r>
          </a:p>
        </p:txBody>
      </p:sp>
      <p:sp>
        <p:nvSpPr>
          <p:cNvPr id="18" name="Rectangle 17"/>
          <p:cNvSpPr/>
          <p:nvPr/>
        </p:nvSpPr>
        <p:spPr>
          <a:xfrm>
            <a:off x="841248" y="4553712"/>
            <a:ext cx="9966960" cy="822960"/>
          </a:xfrm>
          <a:prstGeom prst="rect">
            <a:avLst/>
          </a:prstGeom>
          <a:solidFill>
            <a:srgbClr val="FFFFFF"/>
          </a:solidFill>
          <a:ln w="10160">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024128" y="4736592"/>
            <a:ext cx="1508760" cy="292608"/>
          </a:xfrm>
          <a:prstGeom prst="roundRect">
            <a:avLst/>
          </a:prstGeom>
          <a:solidFill>
            <a:srgbClr val="FFFFFF"/>
          </a:solidFill>
          <a:ln>
            <a:solidFill>
              <a:srgbClr val="A94B46"/>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A94B46"/>
                </a:solidFill>
                <a:latin typeface="Aptos"/>
              </a:rPr>
              <a:t>CONTRADICTION</a:t>
            </a:r>
          </a:p>
        </p:txBody>
      </p:sp>
      <p:sp>
        <p:nvSpPr>
          <p:cNvPr id="20" name="Rectangle 19"/>
          <p:cNvSpPr/>
          <p:nvPr/>
        </p:nvSpPr>
        <p:spPr>
          <a:xfrm>
            <a:off x="2788920" y="4681728"/>
            <a:ext cx="6035040" cy="3108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600" b="1" i="0">
                <a:solidFill>
                  <a:srgbClr val="202A35"/>
                </a:solidFill>
                <a:latin typeface="Aptos"/>
              </a:rPr>
              <a:t>The sign is brand new and clean.</a:t>
            </a:r>
          </a:p>
        </p:txBody>
      </p:sp>
      <p:sp>
        <p:nvSpPr>
          <p:cNvPr id="21" name="Rectangle 20"/>
          <p:cNvSpPr/>
          <p:nvPr/>
        </p:nvSpPr>
        <p:spPr>
          <a:xfrm>
            <a:off x="8887968" y="4718304"/>
            <a:ext cx="1600200" cy="23774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1100" b="0" i="0">
                <a:solidFill>
                  <a:srgbClr val="A94B46"/>
                </a:solidFill>
                <a:latin typeface="Aptos"/>
              </a:rPr>
              <a:t>cannot be true</a:t>
            </a:r>
          </a:p>
        </p:txBody>
      </p:sp>
      <p:sp>
        <p:nvSpPr>
          <p:cNvPr id="22" name="Rectangle 21"/>
          <p:cNvSpPr/>
          <p:nvPr/>
        </p:nvSpPr>
        <p:spPr>
          <a:xfrm>
            <a:off x="914400" y="5779008"/>
            <a:ext cx="987552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700" b="0" i="0">
                <a:solidFill>
                  <a:srgbClr val="202A35"/>
                </a:solidFill>
                <a:latin typeface="Aptos"/>
              </a:rPr>
              <a:t>The model receives a premise–hypothesis pair and predicts their logical relation.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Training dynamics record the path, not only the endpoint</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4</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720" b="0" i="0">
                <a:solidFill>
                  <a:srgbClr val="5F6B75"/>
                </a:solidFill>
                <a:latin typeface="Aptos"/>
              </a:rPr>
              <a:t>Swayamdipta et al. (2020), §2.1.</a:t>
            </a:r>
          </a:p>
        </p:txBody>
      </p:sp>
      <p:sp>
        <p:nvSpPr>
          <p:cNvPr id="7" name="Rectangle 6"/>
          <p:cNvSpPr/>
          <p:nvPr/>
        </p:nvSpPr>
        <p:spPr>
          <a:xfrm>
            <a:off x="676656" y="1280160"/>
            <a:ext cx="3886200" cy="4526280"/>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14400" y="1554480"/>
            <a:ext cx="33832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300" b="1" i="0">
                <a:solidFill>
                  <a:srgbClr val="697386"/>
                </a:solidFill>
                <a:latin typeface="Aptos"/>
              </a:rPr>
              <a:t>Ordinary analysis</a:t>
            </a:r>
          </a:p>
        </p:txBody>
      </p:sp>
      <p:sp>
        <p:nvSpPr>
          <p:cNvPr id="9" name="Rectangle 8"/>
          <p:cNvSpPr/>
          <p:nvPr/>
        </p:nvSpPr>
        <p:spPr>
          <a:xfrm>
            <a:off x="932688" y="2103120"/>
            <a:ext cx="3337560" cy="85953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300" b="1" i="0" dirty="0">
                <a:solidFill>
                  <a:srgbClr val="202A35"/>
                </a:solidFill>
                <a:latin typeface="Aptos"/>
              </a:rPr>
              <a:t>What did the final model predict?</a:t>
            </a:r>
          </a:p>
        </p:txBody>
      </p:sp>
      <p:sp>
        <p:nvSpPr>
          <p:cNvPr id="10" name="Rectangle 9"/>
          <p:cNvSpPr/>
          <p:nvPr/>
        </p:nvSpPr>
        <p:spPr>
          <a:xfrm>
            <a:off x="960120" y="3127248"/>
            <a:ext cx="329184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200" b="0" i="0">
                <a:solidFill>
                  <a:srgbClr val="5F6B75"/>
                </a:solidFill>
                <a:latin typeface="Aptos"/>
              </a:rPr>
              <a:t>Epoch 6</a:t>
            </a:r>
          </a:p>
        </p:txBody>
      </p:sp>
      <p:sp>
        <p:nvSpPr>
          <p:cNvPr id="11" name="Rectangle 10"/>
          <p:cNvSpPr/>
          <p:nvPr/>
        </p:nvSpPr>
        <p:spPr>
          <a:xfrm>
            <a:off x="1417320" y="3686176"/>
            <a:ext cx="2377440" cy="914400"/>
          </a:xfrm>
          <a:prstGeom prst="rect">
            <a:avLst/>
          </a:prstGeom>
          <a:solidFill>
            <a:srgbClr val="E7EFEA"/>
          </a:solidFill>
          <a:ln w="10160">
            <a:solidFill>
              <a:srgbClr val="4F7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508760" y="3813048"/>
            <a:ext cx="2194560" cy="21945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850" b="1" i="0">
                <a:solidFill>
                  <a:srgbClr val="4F7661"/>
                </a:solidFill>
                <a:latin typeface="Aptos"/>
              </a:rPr>
              <a:t>GOLD LABEL</a:t>
            </a:r>
          </a:p>
        </p:txBody>
      </p:sp>
      <p:sp>
        <p:nvSpPr>
          <p:cNvPr id="13" name="Rectangle 12"/>
          <p:cNvSpPr/>
          <p:nvPr/>
        </p:nvSpPr>
        <p:spPr>
          <a:xfrm>
            <a:off x="1508760" y="4096512"/>
            <a:ext cx="2194560" cy="4297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500" b="1" i="0">
                <a:solidFill>
                  <a:srgbClr val="4F7661"/>
                </a:solidFill>
                <a:latin typeface="Aptos"/>
              </a:rPr>
              <a:t>0.91</a:t>
            </a:r>
          </a:p>
        </p:txBody>
      </p:sp>
      <p:sp>
        <p:nvSpPr>
          <p:cNvPr id="14" name="Rectangle 13"/>
          <p:cNvSpPr/>
          <p:nvPr/>
        </p:nvSpPr>
        <p:spPr>
          <a:xfrm>
            <a:off x="1005840" y="5074920"/>
            <a:ext cx="324612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500" b="0" i="1">
                <a:solidFill>
                  <a:srgbClr val="697386"/>
                </a:solidFill>
                <a:latin typeface="Aptos"/>
              </a:rPr>
              <a:t>one decision</a:t>
            </a:r>
          </a:p>
        </p:txBody>
      </p:sp>
      <p:sp>
        <p:nvSpPr>
          <p:cNvPr id="15" name="Rectangle 14"/>
          <p:cNvSpPr/>
          <p:nvPr/>
        </p:nvSpPr>
        <p:spPr>
          <a:xfrm>
            <a:off x="4828032" y="3035808"/>
            <a:ext cx="594360" cy="4572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3000" b="1" i="0">
                <a:solidFill>
                  <a:srgbClr val="B65C3A"/>
                </a:solidFill>
                <a:latin typeface="Aptos"/>
              </a:rPr>
              <a:t>→</a:t>
            </a:r>
          </a:p>
        </p:txBody>
      </p:sp>
      <p:sp>
        <p:nvSpPr>
          <p:cNvPr id="16" name="Rectangle 15"/>
          <p:cNvSpPr/>
          <p:nvPr/>
        </p:nvSpPr>
        <p:spPr>
          <a:xfrm>
            <a:off x="5577840" y="1280160"/>
            <a:ext cx="5715000" cy="4526280"/>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870448" y="1554480"/>
            <a:ext cx="512064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300" b="1" i="0">
                <a:solidFill>
                  <a:srgbClr val="B65C3A"/>
                </a:solidFill>
                <a:latin typeface="Aptos"/>
              </a:rPr>
              <a:t>Dataset Cartography</a:t>
            </a:r>
          </a:p>
        </p:txBody>
      </p:sp>
      <p:pic>
        <p:nvPicPr>
          <p:cNvPr id="18" name="Picture 17" descr="single_trajectory.png"/>
          <p:cNvPicPr>
            <a:picLocks noChangeAspect="1"/>
          </p:cNvPicPr>
          <p:nvPr/>
        </p:nvPicPr>
        <p:blipFill>
          <a:blip r:embed="rId3"/>
          <a:stretch>
            <a:fillRect/>
          </a:stretch>
        </p:blipFill>
        <p:spPr>
          <a:xfrm>
            <a:off x="5989320" y="1956940"/>
            <a:ext cx="4892040" cy="2660654"/>
          </a:xfrm>
          <a:prstGeom prst="rect">
            <a:avLst/>
          </a:prstGeom>
        </p:spPr>
      </p:pic>
      <p:sp>
        <p:nvSpPr>
          <p:cNvPr id="19" name="Rectangle 18"/>
          <p:cNvSpPr/>
          <p:nvPr/>
        </p:nvSpPr>
        <p:spPr>
          <a:xfrm>
            <a:off x="5961888" y="5074920"/>
            <a:ext cx="498348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500" b="0" i="1">
                <a:solidFill>
                  <a:srgbClr val="B65C3A"/>
                </a:solidFill>
                <a:latin typeface="Aptos"/>
              </a:rPr>
              <a:t>a trajectory across training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B65C3A"/>
                </a:solidFill>
                <a:latin typeface="Aptos"/>
              </a:rPr>
              <a:t>OUR REPRODUCTION</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Three examples produce three distinct trajectories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5</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720" b="0" i="0">
                <a:solidFill>
                  <a:srgbClr val="5F6B75"/>
                </a:solidFill>
                <a:latin typeface="Aptos"/>
              </a:rPr>
              <a:t>Actual epoch-level probabilities from our full SNLI run; five logged epochs.</a:t>
            </a:r>
          </a:p>
        </p:txBody>
      </p:sp>
      <p:pic>
        <p:nvPicPr>
          <p:cNvPr id="7" name="Picture 6" descr="three_trajectories.png"/>
          <p:cNvPicPr>
            <a:picLocks noChangeAspect="1"/>
          </p:cNvPicPr>
          <p:nvPr/>
        </p:nvPicPr>
        <p:blipFill>
          <a:blip r:embed="rId3"/>
          <a:stretch>
            <a:fillRect/>
          </a:stretch>
        </p:blipFill>
        <p:spPr>
          <a:xfrm>
            <a:off x="658368" y="1429550"/>
            <a:ext cx="6720840" cy="3925746"/>
          </a:xfrm>
          <a:prstGeom prst="rect">
            <a:avLst/>
          </a:prstGeom>
        </p:spPr>
      </p:pic>
      <p:sp>
        <p:nvSpPr>
          <p:cNvPr id="8" name="Rectangle 7"/>
          <p:cNvSpPr/>
          <p:nvPr/>
        </p:nvSpPr>
        <p:spPr>
          <a:xfrm>
            <a:off x="7571231" y="1417320"/>
            <a:ext cx="36118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500" b="1" i="0">
                <a:solidFill>
                  <a:srgbClr val="4F7661"/>
                </a:solidFill>
                <a:latin typeface="Aptos"/>
              </a:rPr>
              <a:t>Stable high</a:t>
            </a:r>
          </a:p>
        </p:txBody>
      </p:sp>
      <p:sp>
        <p:nvSpPr>
          <p:cNvPr id="9" name="Rectangle 8"/>
          <p:cNvSpPr/>
          <p:nvPr/>
        </p:nvSpPr>
        <p:spPr>
          <a:xfrm>
            <a:off x="7571231" y="1755648"/>
            <a:ext cx="361188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250" b="0" i="0">
                <a:solidFill>
                  <a:srgbClr val="202A35"/>
                </a:solidFill>
                <a:latin typeface="Aptos"/>
              </a:rPr>
              <a:t>Beach children  →  men in a jungle</a:t>
            </a:r>
          </a:p>
        </p:txBody>
      </p:sp>
      <p:sp>
        <p:nvSpPr>
          <p:cNvPr id="10" name="Rounded Rectangle 9"/>
          <p:cNvSpPr/>
          <p:nvPr/>
        </p:nvSpPr>
        <p:spPr>
          <a:xfrm>
            <a:off x="7571231" y="2286000"/>
            <a:ext cx="1143000" cy="292608"/>
          </a:xfrm>
          <a:prstGeom prst="roundRect">
            <a:avLst/>
          </a:prstGeom>
          <a:solidFill>
            <a:srgbClr val="F7F5F0"/>
          </a:solidFill>
          <a:ln>
            <a:solidFill>
              <a:srgbClr val="4F7661"/>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4F7661"/>
                </a:solidFill>
                <a:latin typeface="Aptos"/>
              </a:rPr>
              <a:t>CONTRADICTION</a:t>
            </a:r>
          </a:p>
        </p:txBody>
      </p:sp>
      <p:sp>
        <p:nvSpPr>
          <p:cNvPr id="11" name="Rectangle 10"/>
          <p:cNvSpPr/>
          <p:nvPr/>
        </p:nvSpPr>
        <p:spPr>
          <a:xfrm>
            <a:off x="7571231" y="2834640"/>
            <a:ext cx="36118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500" b="1" i="0">
                <a:solidFill>
                  <a:srgbClr val="B47A2A"/>
                </a:solidFill>
                <a:latin typeface="Aptos"/>
              </a:rPr>
              <a:t>Unstable</a:t>
            </a:r>
          </a:p>
        </p:txBody>
      </p:sp>
      <p:sp>
        <p:nvSpPr>
          <p:cNvPr id="12" name="Rectangle 11"/>
          <p:cNvSpPr/>
          <p:nvPr/>
        </p:nvSpPr>
        <p:spPr>
          <a:xfrm>
            <a:off x="7571231" y="3172968"/>
            <a:ext cx="361188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250" b="0" i="0">
                <a:solidFill>
                  <a:srgbClr val="202A35"/>
                </a:solidFill>
                <a:latin typeface="Aptos"/>
              </a:rPr>
              <a:t>Woman playing tennis  →  woman practices tennis</a:t>
            </a:r>
          </a:p>
        </p:txBody>
      </p:sp>
      <p:sp>
        <p:nvSpPr>
          <p:cNvPr id="13" name="Rounded Rectangle 12"/>
          <p:cNvSpPr/>
          <p:nvPr/>
        </p:nvSpPr>
        <p:spPr>
          <a:xfrm>
            <a:off x="7571231" y="3703320"/>
            <a:ext cx="1143000" cy="292608"/>
          </a:xfrm>
          <a:prstGeom prst="roundRect">
            <a:avLst/>
          </a:prstGeom>
          <a:solidFill>
            <a:srgbClr val="F7F5F0"/>
          </a:solidFill>
          <a:ln>
            <a:solidFill>
              <a:srgbClr val="B47A2A"/>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B47A2A"/>
                </a:solidFill>
                <a:latin typeface="Aptos"/>
              </a:rPr>
              <a:t>CONTRADICTION</a:t>
            </a:r>
          </a:p>
        </p:txBody>
      </p:sp>
      <p:sp>
        <p:nvSpPr>
          <p:cNvPr id="14" name="Rectangle 13"/>
          <p:cNvSpPr/>
          <p:nvPr/>
        </p:nvSpPr>
        <p:spPr>
          <a:xfrm>
            <a:off x="7571231" y="4251960"/>
            <a:ext cx="36118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500" b="1" i="0">
                <a:solidFill>
                  <a:srgbClr val="A94B46"/>
                </a:solidFill>
                <a:latin typeface="Aptos"/>
              </a:rPr>
              <a:t>Stable low</a:t>
            </a:r>
          </a:p>
        </p:txBody>
      </p:sp>
      <p:sp>
        <p:nvSpPr>
          <p:cNvPr id="15" name="Rectangle 14"/>
          <p:cNvSpPr/>
          <p:nvPr/>
        </p:nvSpPr>
        <p:spPr>
          <a:xfrm>
            <a:off x="7571231" y="4590288"/>
            <a:ext cx="361188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250" b="0" i="0">
                <a:solidFill>
                  <a:srgbClr val="202A35"/>
                </a:solidFill>
                <a:latin typeface="Aptos"/>
              </a:rPr>
              <a:t>Girl photographed  →  boy photographed</a:t>
            </a:r>
          </a:p>
        </p:txBody>
      </p:sp>
      <p:sp>
        <p:nvSpPr>
          <p:cNvPr id="16" name="Rounded Rectangle 15"/>
          <p:cNvSpPr/>
          <p:nvPr/>
        </p:nvSpPr>
        <p:spPr>
          <a:xfrm>
            <a:off x="7571231" y="5120640"/>
            <a:ext cx="1143000" cy="292608"/>
          </a:xfrm>
          <a:prstGeom prst="roundRect">
            <a:avLst/>
          </a:prstGeom>
          <a:solidFill>
            <a:srgbClr val="F7F5F0"/>
          </a:solidFill>
          <a:ln>
            <a:solidFill>
              <a:srgbClr val="A94B46"/>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A94B46"/>
                </a:solidFill>
                <a:latin typeface="Aptos"/>
              </a:rPr>
              <a:t>ENTAILMENT</a:t>
            </a:r>
          </a:p>
        </p:txBody>
      </p:sp>
      <p:sp>
        <p:nvSpPr>
          <p:cNvPr id="17" name="Rectangle 16"/>
          <p:cNvSpPr/>
          <p:nvPr/>
        </p:nvSpPr>
        <p:spPr>
          <a:xfrm>
            <a:off x="1097280" y="5742432"/>
            <a:ext cx="9875520"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900" b="1" i="0">
                <a:solidFill>
                  <a:srgbClr val="B65C3A"/>
                </a:solidFill>
                <a:latin typeface="Aptos"/>
              </a:rPr>
              <a:t>How can these trajectories be summarized with a few comparable numbers?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Confidence summarizes how strongly an example is learned</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6</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720" b="0" i="0">
                <a:solidFill>
                  <a:srgbClr val="5F6B75"/>
                </a:solidFill>
                <a:latin typeface="Aptos"/>
              </a:rPr>
              <a:t>Swayamdipta et al. (2020), Eq. 1 and §2.1.</a:t>
            </a:r>
          </a:p>
        </p:txBody>
      </p:sp>
      <p:pic>
        <p:nvPicPr>
          <p:cNvPr id="7" name="Picture 6" descr="confidence_formula.png"/>
          <p:cNvPicPr>
            <a:picLocks noChangeAspect="1"/>
          </p:cNvPicPr>
          <p:nvPr/>
        </p:nvPicPr>
        <p:blipFill>
          <a:blip r:embed="rId3"/>
          <a:stretch>
            <a:fillRect/>
          </a:stretch>
        </p:blipFill>
        <p:spPr>
          <a:xfrm>
            <a:off x="914400" y="1370983"/>
            <a:ext cx="6126480" cy="1199097"/>
          </a:xfrm>
          <a:prstGeom prst="rect">
            <a:avLst/>
          </a:prstGeom>
        </p:spPr>
      </p:pic>
      <p:sp>
        <p:nvSpPr>
          <p:cNvPr id="8" name="Rectangle 7"/>
          <p:cNvSpPr/>
          <p:nvPr/>
        </p:nvSpPr>
        <p:spPr>
          <a:xfrm>
            <a:off x="1024128" y="2683768"/>
            <a:ext cx="5943600" cy="745229"/>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000" b="1" i="0" dirty="0">
                <a:solidFill>
                  <a:srgbClr val="202A35"/>
                </a:solidFill>
                <a:latin typeface="Aptos"/>
              </a:rPr>
              <a:t>Average probability assigned to the gold label throughout training.</a:t>
            </a:r>
          </a:p>
        </p:txBody>
      </p:sp>
      <p:sp>
        <p:nvSpPr>
          <p:cNvPr id="9" name="Rectangle 8"/>
          <p:cNvSpPr/>
          <p:nvPr/>
        </p:nvSpPr>
        <p:spPr>
          <a:xfrm>
            <a:off x="7360920" y="1466704"/>
            <a:ext cx="3886200" cy="1874519"/>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644383" y="1686160"/>
            <a:ext cx="3383280" cy="23774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900" b="1" i="0">
                <a:solidFill>
                  <a:srgbClr val="5F6B75"/>
                </a:solidFill>
                <a:latin typeface="Aptos"/>
              </a:rPr>
              <a:t>WHERE</a:t>
            </a:r>
          </a:p>
        </p:txBody>
      </p:sp>
      <p:sp>
        <p:nvSpPr>
          <p:cNvPr id="11" name="Rectangle 10"/>
          <p:cNvSpPr/>
          <p:nvPr/>
        </p:nvSpPr>
        <p:spPr>
          <a:xfrm>
            <a:off x="7644383" y="2051920"/>
            <a:ext cx="33832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400" b="0" i="0">
                <a:solidFill>
                  <a:srgbClr val="202A35"/>
                </a:solidFill>
                <a:latin typeface="Aptos"/>
              </a:rPr>
              <a:t>E   number of epochs</a:t>
            </a:r>
          </a:p>
        </p:txBody>
      </p:sp>
      <p:sp>
        <p:nvSpPr>
          <p:cNvPr id="12" name="Rectangle 11"/>
          <p:cNvSpPr/>
          <p:nvPr/>
        </p:nvSpPr>
        <p:spPr>
          <a:xfrm>
            <a:off x="7644383" y="2445112"/>
            <a:ext cx="33832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400" b="0" i="0">
                <a:solidFill>
                  <a:srgbClr val="202A35"/>
                </a:solidFill>
                <a:latin typeface="Aptos"/>
              </a:rPr>
              <a:t>yᵢ   gold label</a:t>
            </a:r>
          </a:p>
        </p:txBody>
      </p:sp>
      <p:sp>
        <p:nvSpPr>
          <p:cNvPr id="13" name="Rectangle 12"/>
          <p:cNvSpPr/>
          <p:nvPr/>
        </p:nvSpPr>
        <p:spPr>
          <a:xfrm>
            <a:off x="7644383" y="2838304"/>
            <a:ext cx="33832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400" b="0" i="0">
                <a:solidFill>
                  <a:srgbClr val="202A35"/>
                </a:solidFill>
                <a:latin typeface="Aptos"/>
              </a:rPr>
              <a:t>pθₑ  model probability at epoch e</a:t>
            </a:r>
          </a:p>
        </p:txBody>
      </p:sp>
      <p:cxnSp>
        <p:nvCxnSpPr>
          <p:cNvPr id="14" name="Connector 13"/>
          <p:cNvCxnSpPr/>
          <p:nvPr/>
        </p:nvCxnSpPr>
        <p:spPr>
          <a:xfrm>
            <a:off x="914400" y="4059644"/>
            <a:ext cx="102412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914400" y="4352144"/>
            <a:ext cx="4800600" cy="1325880"/>
          </a:xfrm>
          <a:prstGeom prst="rect">
            <a:avLst/>
          </a:prstGeom>
          <a:solidFill>
            <a:srgbClr val="E7EFEA"/>
          </a:solidFill>
          <a:ln w="10160">
            <a:solidFill>
              <a:srgbClr val="4F7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43000" y="4580744"/>
            <a:ext cx="4343400"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100" b="1" i="0">
                <a:solidFill>
                  <a:srgbClr val="4F7661"/>
                </a:solidFill>
                <a:latin typeface="Aptos"/>
              </a:rPr>
              <a:t>HIGH CONFIDENCE</a:t>
            </a:r>
          </a:p>
        </p:txBody>
      </p:sp>
      <p:sp>
        <p:nvSpPr>
          <p:cNvPr id="17" name="Rectangle 16"/>
          <p:cNvSpPr/>
          <p:nvPr/>
        </p:nvSpPr>
        <p:spPr>
          <a:xfrm>
            <a:off x="1143000" y="4992223"/>
            <a:ext cx="4297680" cy="530969"/>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700" b="0" i="0" dirty="0">
                <a:solidFill>
                  <a:srgbClr val="202A35"/>
                </a:solidFill>
                <a:latin typeface="Aptos"/>
              </a:rPr>
              <a:t>The model generally supports the provided label.</a:t>
            </a:r>
          </a:p>
        </p:txBody>
      </p:sp>
      <p:sp>
        <p:nvSpPr>
          <p:cNvPr id="18" name="Rectangle 17"/>
          <p:cNvSpPr/>
          <p:nvPr/>
        </p:nvSpPr>
        <p:spPr>
          <a:xfrm>
            <a:off x="6400800" y="4352144"/>
            <a:ext cx="4800600" cy="1325880"/>
          </a:xfrm>
          <a:prstGeom prst="rect">
            <a:avLst/>
          </a:prstGeom>
          <a:solidFill>
            <a:srgbClr val="F3E8E5"/>
          </a:solidFill>
          <a:ln w="10160">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629400" y="4580744"/>
            <a:ext cx="4343400"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100" b="1" i="0">
                <a:solidFill>
                  <a:srgbClr val="A94B46"/>
                </a:solidFill>
                <a:latin typeface="Aptos"/>
              </a:rPr>
              <a:t>LOW CONFIDENCE</a:t>
            </a:r>
          </a:p>
        </p:txBody>
      </p:sp>
      <p:sp>
        <p:nvSpPr>
          <p:cNvPr id="20" name="Rectangle 19"/>
          <p:cNvSpPr/>
          <p:nvPr/>
        </p:nvSpPr>
        <p:spPr>
          <a:xfrm>
            <a:off x="6629400" y="4992223"/>
            <a:ext cx="4297680" cy="530969"/>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700" b="0" i="0" dirty="0">
                <a:solidFill>
                  <a:srgbClr val="202A35"/>
                </a:solidFill>
                <a:latin typeface="Aptos"/>
              </a:rPr>
              <a:t>The model repeatedly struggles with that label.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Variability captures instability; correctness counts decisions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7</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720" b="0" i="0">
                <a:solidFill>
                  <a:srgbClr val="5F6B75"/>
                </a:solidFill>
                <a:latin typeface="Aptos"/>
              </a:rPr>
              <a:t>Swayamdipta et al. (2020), §2.1.</a:t>
            </a:r>
          </a:p>
        </p:txBody>
      </p:sp>
      <p:pic>
        <p:nvPicPr>
          <p:cNvPr id="7" name="Picture 6" descr="variability_formula.png"/>
          <p:cNvPicPr>
            <a:picLocks noChangeAspect="1"/>
          </p:cNvPicPr>
          <p:nvPr/>
        </p:nvPicPr>
        <p:blipFill>
          <a:blip r:embed="rId3"/>
          <a:stretch>
            <a:fillRect/>
          </a:stretch>
        </p:blipFill>
        <p:spPr>
          <a:xfrm>
            <a:off x="1224642" y="1298448"/>
            <a:ext cx="5643154" cy="1234440"/>
          </a:xfrm>
          <a:prstGeom prst="rect">
            <a:avLst/>
          </a:prstGeom>
        </p:spPr>
      </p:pic>
      <p:sp>
        <p:nvSpPr>
          <p:cNvPr id="8" name="Rectangle 7"/>
          <p:cNvSpPr/>
          <p:nvPr/>
        </p:nvSpPr>
        <p:spPr>
          <a:xfrm>
            <a:off x="1005840" y="2686638"/>
            <a:ext cx="6080760" cy="720085"/>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900" b="1" i="0" dirty="0">
                <a:solidFill>
                  <a:srgbClr val="202A35"/>
                </a:solidFill>
                <a:latin typeface="Aptos"/>
              </a:rPr>
              <a:t>Standard deviation of gold-label confidence across epochs.</a:t>
            </a:r>
          </a:p>
        </p:txBody>
      </p:sp>
      <p:sp>
        <p:nvSpPr>
          <p:cNvPr id="9" name="Rectangle 8"/>
          <p:cNvSpPr/>
          <p:nvPr/>
        </p:nvSpPr>
        <p:spPr>
          <a:xfrm>
            <a:off x="7543800" y="1344168"/>
            <a:ext cx="3611880" cy="1664208"/>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90688" y="1572768"/>
            <a:ext cx="310896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100" b="1" i="0">
                <a:solidFill>
                  <a:srgbClr val="2B6F6D"/>
                </a:solidFill>
                <a:latin typeface="Aptos"/>
              </a:rPr>
              <a:t>CORRECTNESS</a:t>
            </a:r>
          </a:p>
        </p:txBody>
      </p:sp>
      <p:sp>
        <p:nvSpPr>
          <p:cNvPr id="11" name="Rectangle 10"/>
          <p:cNvSpPr/>
          <p:nvPr/>
        </p:nvSpPr>
        <p:spPr>
          <a:xfrm>
            <a:off x="7790688" y="1947672"/>
            <a:ext cx="3063240" cy="80924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600" b="0" i="0" dirty="0">
                <a:solidFill>
                  <a:srgbClr val="202A35"/>
                </a:solidFill>
                <a:latin typeface="Aptos"/>
              </a:rPr>
              <a:t>Fraction of epochs in which the predicted class equals the gold label.</a:t>
            </a:r>
          </a:p>
        </p:txBody>
      </p:sp>
      <p:sp>
        <p:nvSpPr>
          <p:cNvPr id="12" name="Rectangle 11"/>
          <p:cNvSpPr/>
          <p:nvPr/>
        </p:nvSpPr>
        <p:spPr>
          <a:xfrm>
            <a:off x="841248" y="3854784"/>
            <a:ext cx="256032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300" b="1" i="0">
                <a:solidFill>
                  <a:srgbClr val="202A35"/>
                </a:solidFill>
                <a:latin typeface="Aptos"/>
              </a:rPr>
              <a:t>stable high confidence</a:t>
            </a:r>
          </a:p>
        </p:txBody>
      </p:sp>
      <p:cxnSp>
        <p:nvCxnSpPr>
          <p:cNvPr id="13" name="Connector 12"/>
          <p:cNvCxnSpPr/>
          <p:nvPr/>
        </p:nvCxnSpPr>
        <p:spPr>
          <a:xfrm flipV="1">
            <a:off x="3657600" y="3950795"/>
            <a:ext cx="420624" cy="27433"/>
          </a:xfrm>
          <a:prstGeom prst="line">
            <a:avLst/>
          </a:prstGeom>
          <a:ln w="31750">
            <a:solidFill>
              <a:srgbClr val="4F766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78224" y="3950795"/>
            <a:ext cx="420624" cy="4572"/>
          </a:xfrm>
          <a:prstGeom prst="line">
            <a:avLst/>
          </a:prstGeom>
          <a:ln w="31750">
            <a:solidFill>
              <a:srgbClr val="4F766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498848" y="3937080"/>
            <a:ext cx="420624" cy="18287"/>
          </a:xfrm>
          <a:prstGeom prst="line">
            <a:avLst/>
          </a:prstGeom>
          <a:ln w="31750">
            <a:solidFill>
              <a:srgbClr val="4F766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919472" y="3937080"/>
            <a:ext cx="420624" cy="4572"/>
          </a:xfrm>
          <a:prstGeom prst="line">
            <a:avLst/>
          </a:prstGeom>
          <a:ln w="31750">
            <a:solidFill>
              <a:srgbClr val="4F7661"/>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715000" y="3854784"/>
            <a:ext cx="219456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300" b="1" i="0">
                <a:solidFill>
                  <a:srgbClr val="4F7661"/>
                </a:solidFill>
                <a:latin typeface="Aptos"/>
              </a:rPr>
              <a:t>low variability</a:t>
            </a:r>
          </a:p>
        </p:txBody>
      </p:sp>
      <p:sp>
        <p:nvSpPr>
          <p:cNvPr id="18" name="Rectangle 17"/>
          <p:cNvSpPr/>
          <p:nvPr/>
        </p:nvSpPr>
        <p:spPr>
          <a:xfrm>
            <a:off x="841248" y="4705176"/>
            <a:ext cx="256032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300" b="1" i="0">
                <a:solidFill>
                  <a:srgbClr val="202A35"/>
                </a:solidFill>
                <a:latin typeface="Aptos"/>
              </a:rPr>
              <a:t>unstable confidence</a:t>
            </a:r>
          </a:p>
        </p:txBody>
      </p:sp>
      <p:cxnSp>
        <p:nvCxnSpPr>
          <p:cNvPr id="19" name="Connector 18"/>
          <p:cNvCxnSpPr/>
          <p:nvPr/>
        </p:nvCxnSpPr>
        <p:spPr>
          <a:xfrm flipV="1">
            <a:off x="3657600" y="4828620"/>
            <a:ext cx="420624" cy="333756"/>
          </a:xfrm>
          <a:prstGeom prst="line">
            <a:avLst/>
          </a:prstGeom>
          <a:ln w="31750">
            <a:solidFill>
              <a:srgbClr val="B47A2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078224" y="4828620"/>
            <a:ext cx="420624" cy="297180"/>
          </a:xfrm>
          <a:prstGeom prst="line">
            <a:avLst/>
          </a:prstGeom>
          <a:ln w="31750">
            <a:solidFill>
              <a:srgbClr val="B47A2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498848" y="4801187"/>
            <a:ext cx="420624" cy="324613"/>
          </a:xfrm>
          <a:prstGeom prst="line">
            <a:avLst/>
          </a:prstGeom>
          <a:ln w="31750">
            <a:solidFill>
              <a:srgbClr val="B47A2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919472" y="4801187"/>
            <a:ext cx="420624" cy="242316"/>
          </a:xfrm>
          <a:prstGeom prst="line">
            <a:avLst/>
          </a:prstGeom>
          <a:ln w="31750">
            <a:solidFill>
              <a:srgbClr val="B47A2A"/>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715000" y="4705176"/>
            <a:ext cx="219456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300" b="1" i="0">
                <a:solidFill>
                  <a:srgbClr val="B47A2A"/>
                </a:solidFill>
                <a:latin typeface="Aptos"/>
              </a:rPr>
              <a:t>high variability</a:t>
            </a:r>
          </a:p>
        </p:txBody>
      </p:sp>
      <p:sp>
        <p:nvSpPr>
          <p:cNvPr id="24" name="Rectangle 23"/>
          <p:cNvSpPr/>
          <p:nvPr/>
        </p:nvSpPr>
        <p:spPr>
          <a:xfrm>
            <a:off x="841248" y="5555568"/>
            <a:ext cx="256032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300" b="1" i="0">
                <a:solidFill>
                  <a:srgbClr val="202A35"/>
                </a:solidFill>
                <a:latin typeface="Aptos"/>
              </a:rPr>
              <a:t>stable low confidence</a:t>
            </a:r>
          </a:p>
        </p:txBody>
      </p:sp>
      <p:cxnSp>
        <p:nvCxnSpPr>
          <p:cNvPr id="25" name="Connector 24"/>
          <p:cNvCxnSpPr/>
          <p:nvPr/>
        </p:nvCxnSpPr>
        <p:spPr>
          <a:xfrm>
            <a:off x="3657600" y="5768728"/>
            <a:ext cx="420624" cy="13716"/>
          </a:xfrm>
          <a:prstGeom prst="line">
            <a:avLst/>
          </a:prstGeom>
          <a:ln w="31750">
            <a:solidFill>
              <a:srgbClr val="A94B4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078224" y="5773300"/>
            <a:ext cx="420624" cy="9144"/>
          </a:xfrm>
          <a:prstGeom prst="line">
            <a:avLst/>
          </a:prstGeom>
          <a:ln w="31750">
            <a:solidFill>
              <a:srgbClr val="A94B4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498848" y="5773300"/>
            <a:ext cx="420624" cy="4572"/>
          </a:xfrm>
          <a:prstGeom prst="line">
            <a:avLst/>
          </a:prstGeom>
          <a:ln w="31750">
            <a:solidFill>
              <a:srgbClr val="A94B4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4919472" y="5768728"/>
            <a:ext cx="420624" cy="9144"/>
          </a:xfrm>
          <a:prstGeom prst="line">
            <a:avLst/>
          </a:prstGeom>
          <a:ln w="31750">
            <a:solidFill>
              <a:srgbClr val="A94B46"/>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715000" y="5555568"/>
            <a:ext cx="219456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300" b="1" i="0">
                <a:solidFill>
                  <a:srgbClr val="A94B46"/>
                </a:solidFill>
                <a:latin typeface="Aptos"/>
              </a:rPr>
              <a:t>low variability</a:t>
            </a:r>
          </a:p>
        </p:txBody>
      </p:sp>
      <p:sp>
        <p:nvSpPr>
          <p:cNvPr id="30" name="Rectangle 29"/>
          <p:cNvSpPr/>
          <p:nvPr/>
        </p:nvSpPr>
        <p:spPr>
          <a:xfrm>
            <a:off x="8321040" y="3948504"/>
            <a:ext cx="2532888" cy="10515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600" b="1" i="0">
                <a:solidFill>
                  <a:srgbClr val="202A35"/>
                </a:solidFill>
                <a:latin typeface="Aptos"/>
              </a:rPr>
              <a:t>Variability can be low when the model is consistently right or consistently wrong.</a:t>
            </a:r>
          </a:p>
        </p:txBody>
      </p:sp>
      <p:sp>
        <p:nvSpPr>
          <p:cNvPr id="31" name="Rectangle 30"/>
          <p:cNvSpPr/>
          <p:nvPr/>
        </p:nvSpPr>
        <p:spPr>
          <a:xfrm>
            <a:off x="8321040" y="5256096"/>
            <a:ext cx="2532888" cy="5263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500" b="0" i="0" dirty="0">
                <a:solidFill>
                  <a:srgbClr val="2B6F6D"/>
                </a:solidFill>
                <a:latin typeface="Aptos"/>
              </a:rPr>
              <a:t>Correctness helps distinguish those cases.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A data map places every example by confidence and variability</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8</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720" b="0" i="0">
                <a:solidFill>
                  <a:srgbClr val="5F6B75"/>
                </a:solidFill>
                <a:latin typeface="Aptos"/>
              </a:rPr>
              <a:t>Method: Swayamdipta et al. (2020), §2.2. Plot shown: our reproduced SNLI map.</a:t>
            </a:r>
          </a:p>
        </p:txBody>
      </p:sp>
      <p:pic>
        <p:nvPicPr>
          <p:cNvPr id="7" name="Picture 6" descr="snli_data_map.png"/>
          <p:cNvPicPr>
            <a:picLocks noChangeAspect="1"/>
          </p:cNvPicPr>
          <p:nvPr/>
        </p:nvPicPr>
        <p:blipFill>
          <a:blip r:embed="rId3"/>
          <a:stretch>
            <a:fillRect/>
          </a:stretch>
        </p:blipFill>
        <p:spPr>
          <a:xfrm>
            <a:off x="762000" y="1170432"/>
            <a:ext cx="6888480" cy="5166360"/>
          </a:xfrm>
          <a:prstGeom prst="rect">
            <a:avLst/>
          </a:prstGeom>
        </p:spPr>
      </p:pic>
      <p:sp>
        <p:nvSpPr>
          <p:cNvPr id="8" name="Rounded Rectangle 7"/>
          <p:cNvSpPr/>
          <p:nvPr/>
        </p:nvSpPr>
        <p:spPr>
          <a:xfrm>
            <a:off x="8229600" y="1490472"/>
            <a:ext cx="2103120" cy="292608"/>
          </a:xfrm>
          <a:prstGeom prst="roundRect">
            <a:avLst/>
          </a:prstGeom>
          <a:solidFill>
            <a:srgbClr val="F7F5F0"/>
          </a:solidFill>
          <a:ln>
            <a:solidFill>
              <a:srgbClr val="4F7661"/>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4F7661"/>
                </a:solidFill>
                <a:latin typeface="Aptos"/>
              </a:rPr>
              <a:t>EASY-TO-LEARN</a:t>
            </a:r>
          </a:p>
        </p:txBody>
      </p:sp>
      <p:sp>
        <p:nvSpPr>
          <p:cNvPr id="9" name="Rectangle 8"/>
          <p:cNvSpPr/>
          <p:nvPr/>
        </p:nvSpPr>
        <p:spPr>
          <a:xfrm>
            <a:off x="8183879" y="1874519"/>
            <a:ext cx="2743200" cy="53035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500" b="0" i="0">
                <a:solidFill>
                  <a:srgbClr val="202A35"/>
                </a:solidFill>
                <a:latin typeface="Aptos"/>
              </a:rPr>
              <a:t>high confidence
low variability</a:t>
            </a:r>
          </a:p>
        </p:txBody>
      </p:sp>
      <p:sp>
        <p:nvSpPr>
          <p:cNvPr id="10" name="Rounded Rectangle 9"/>
          <p:cNvSpPr/>
          <p:nvPr/>
        </p:nvSpPr>
        <p:spPr>
          <a:xfrm>
            <a:off x="8229600" y="2880360"/>
            <a:ext cx="2103120" cy="292608"/>
          </a:xfrm>
          <a:prstGeom prst="roundRect">
            <a:avLst/>
          </a:prstGeom>
          <a:solidFill>
            <a:srgbClr val="F7F5F0"/>
          </a:solidFill>
          <a:ln>
            <a:solidFill>
              <a:srgbClr val="B47A2A"/>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B47A2A"/>
                </a:solidFill>
                <a:latin typeface="Aptos"/>
              </a:rPr>
              <a:t>AMBIGUOUS</a:t>
            </a:r>
          </a:p>
        </p:txBody>
      </p:sp>
      <p:sp>
        <p:nvSpPr>
          <p:cNvPr id="11" name="Rectangle 10"/>
          <p:cNvSpPr/>
          <p:nvPr/>
        </p:nvSpPr>
        <p:spPr>
          <a:xfrm>
            <a:off x="8183879" y="3264408"/>
            <a:ext cx="2743200" cy="53035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500" b="0" i="0">
                <a:solidFill>
                  <a:srgbClr val="202A35"/>
                </a:solidFill>
                <a:latin typeface="Aptos"/>
              </a:rPr>
              <a:t>high variability
confidence may vary</a:t>
            </a:r>
          </a:p>
        </p:txBody>
      </p:sp>
      <p:sp>
        <p:nvSpPr>
          <p:cNvPr id="12" name="Rounded Rectangle 11"/>
          <p:cNvSpPr/>
          <p:nvPr/>
        </p:nvSpPr>
        <p:spPr>
          <a:xfrm>
            <a:off x="8229600" y="4270248"/>
            <a:ext cx="2103120" cy="292608"/>
          </a:xfrm>
          <a:prstGeom prst="roundRect">
            <a:avLst/>
          </a:prstGeom>
          <a:solidFill>
            <a:srgbClr val="F7F5F0"/>
          </a:solidFill>
          <a:ln>
            <a:solidFill>
              <a:srgbClr val="A94B46"/>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A94B46"/>
                </a:solidFill>
                <a:latin typeface="Aptos"/>
              </a:rPr>
              <a:t>HARD-TO-LEARN</a:t>
            </a:r>
          </a:p>
        </p:txBody>
      </p:sp>
      <p:sp>
        <p:nvSpPr>
          <p:cNvPr id="13" name="Rectangle 12"/>
          <p:cNvSpPr/>
          <p:nvPr/>
        </p:nvSpPr>
        <p:spPr>
          <a:xfrm>
            <a:off x="8183879" y="4654296"/>
            <a:ext cx="2743200" cy="53035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500" b="0" i="0">
                <a:solidFill>
                  <a:srgbClr val="202A35"/>
                </a:solidFill>
                <a:latin typeface="Aptos"/>
              </a:rPr>
              <a:t>low confidence
often low correctness</a:t>
            </a:r>
          </a:p>
        </p:txBody>
      </p:sp>
      <p:sp>
        <p:nvSpPr>
          <p:cNvPr id="14" name="Rectangle 13"/>
          <p:cNvSpPr/>
          <p:nvPr/>
        </p:nvSpPr>
        <p:spPr>
          <a:xfrm>
            <a:off x="8046720" y="5623559"/>
            <a:ext cx="3108960" cy="530347"/>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600" b="1" i="0" dirty="0">
                <a:solidFill>
                  <a:srgbClr val="B65C3A"/>
                </a:solidFill>
                <a:latin typeface="Aptos"/>
              </a:rPr>
              <a:t>Every point is one training example.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B65C3A"/>
                </a:solidFill>
                <a:latin typeface="Aptos"/>
              </a:rPr>
              <a:t>OUR REPRODUCTION</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Map regions become interpretable through real examples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9</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720" b="0" i="0">
                <a:solidFill>
                  <a:srgbClr val="5F6B75"/>
                </a:solidFill>
                <a:latin typeface="Aptos"/>
              </a:rPr>
              <a:t>Examples and coordinates from our reproduced SNLI map; five logged epochs.</a:t>
            </a:r>
          </a:p>
        </p:txBody>
      </p:sp>
      <p:sp>
        <p:nvSpPr>
          <p:cNvPr id="7" name="Rectangle 6"/>
          <p:cNvSpPr/>
          <p:nvPr/>
        </p:nvSpPr>
        <p:spPr>
          <a:xfrm>
            <a:off x="585216" y="1298448"/>
            <a:ext cx="3520440" cy="4526280"/>
          </a:xfrm>
          <a:prstGeom prst="rect">
            <a:avLst/>
          </a:prstGeom>
          <a:solidFill>
            <a:srgbClr val="FFFFFF"/>
          </a:solidFill>
          <a:ln w="10160">
            <a:solidFill>
              <a:srgbClr val="4F7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04672" y="1554480"/>
            <a:ext cx="1627632" cy="292608"/>
          </a:xfrm>
          <a:prstGeom prst="roundRect">
            <a:avLst/>
          </a:prstGeom>
          <a:solidFill>
            <a:srgbClr val="FFFFFF"/>
          </a:solidFill>
          <a:ln>
            <a:solidFill>
              <a:srgbClr val="4F7661"/>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4F7661"/>
                </a:solidFill>
                <a:latin typeface="Aptos"/>
              </a:rPr>
              <a:t>EASY-TO-LEARN</a:t>
            </a:r>
          </a:p>
        </p:txBody>
      </p:sp>
      <p:sp>
        <p:nvSpPr>
          <p:cNvPr id="9" name="Rectangle 8"/>
          <p:cNvSpPr/>
          <p:nvPr/>
        </p:nvSpPr>
        <p:spPr>
          <a:xfrm>
            <a:off x="804672" y="2066543"/>
            <a:ext cx="306324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a:solidFill>
                  <a:srgbClr val="5F6B75"/>
                </a:solidFill>
                <a:latin typeface="Aptos"/>
              </a:rPr>
              <a:t>PREMISE</a:t>
            </a:r>
          </a:p>
        </p:txBody>
      </p:sp>
      <p:sp>
        <p:nvSpPr>
          <p:cNvPr id="10" name="Rectangle 9"/>
          <p:cNvSpPr/>
          <p:nvPr/>
        </p:nvSpPr>
        <p:spPr>
          <a:xfrm>
            <a:off x="804672" y="2340864"/>
            <a:ext cx="3054096" cy="7680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400" b="1" i="0">
                <a:solidFill>
                  <a:srgbClr val="202A35"/>
                </a:solidFill>
                <a:latin typeface="Aptos"/>
              </a:rPr>
              <a:t>Two children are on the beach and play in wet sand.</a:t>
            </a:r>
          </a:p>
        </p:txBody>
      </p:sp>
      <p:sp>
        <p:nvSpPr>
          <p:cNvPr id="11" name="Rectangle 10"/>
          <p:cNvSpPr/>
          <p:nvPr/>
        </p:nvSpPr>
        <p:spPr>
          <a:xfrm>
            <a:off x="804672" y="3273552"/>
            <a:ext cx="306324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a:solidFill>
                  <a:srgbClr val="5F6B75"/>
                </a:solidFill>
                <a:latin typeface="Aptos"/>
              </a:rPr>
              <a:t>HYPOTHESIS</a:t>
            </a:r>
          </a:p>
        </p:txBody>
      </p:sp>
      <p:sp>
        <p:nvSpPr>
          <p:cNvPr id="12" name="Rectangle 11"/>
          <p:cNvSpPr/>
          <p:nvPr/>
        </p:nvSpPr>
        <p:spPr>
          <a:xfrm>
            <a:off x="804672" y="3547872"/>
            <a:ext cx="3054096" cy="7498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400" b="1" i="0">
                <a:solidFill>
                  <a:srgbClr val="202A35"/>
                </a:solidFill>
                <a:latin typeface="Aptos"/>
              </a:rPr>
              <a:t>Two men are walking through a jungle.</a:t>
            </a:r>
          </a:p>
        </p:txBody>
      </p:sp>
      <p:sp>
        <p:nvSpPr>
          <p:cNvPr id="13" name="Rounded Rectangle 12"/>
          <p:cNvSpPr/>
          <p:nvPr/>
        </p:nvSpPr>
        <p:spPr>
          <a:xfrm>
            <a:off x="804672" y="4517136"/>
            <a:ext cx="1143000" cy="292608"/>
          </a:xfrm>
          <a:prstGeom prst="roundRect">
            <a:avLst/>
          </a:prstGeom>
          <a:solidFill>
            <a:srgbClr val="FFFFFF"/>
          </a:solidFill>
          <a:ln>
            <a:solidFill>
              <a:srgbClr val="4F7661"/>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4F7661"/>
                </a:solidFill>
                <a:latin typeface="Aptos"/>
              </a:rPr>
              <a:t>CONTRADICTION</a:t>
            </a:r>
          </a:p>
        </p:txBody>
      </p:sp>
      <p:sp>
        <p:nvSpPr>
          <p:cNvPr id="14" name="Rectangle 13"/>
          <p:cNvSpPr/>
          <p:nvPr/>
        </p:nvSpPr>
        <p:spPr>
          <a:xfrm>
            <a:off x="804672" y="5065776"/>
            <a:ext cx="3054096"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150" b="1" i="0">
                <a:solidFill>
                  <a:srgbClr val="4F7661"/>
                </a:solidFill>
                <a:latin typeface="Aptos"/>
              </a:rPr>
              <a:t>confidence 1.000  ·  variability &lt; .001</a:t>
            </a:r>
          </a:p>
        </p:txBody>
      </p:sp>
      <p:sp>
        <p:nvSpPr>
          <p:cNvPr id="15" name="Rectangle 14"/>
          <p:cNvSpPr/>
          <p:nvPr/>
        </p:nvSpPr>
        <p:spPr>
          <a:xfrm>
            <a:off x="4425696" y="1298448"/>
            <a:ext cx="3520440" cy="4526280"/>
          </a:xfrm>
          <a:prstGeom prst="rect">
            <a:avLst/>
          </a:prstGeom>
          <a:solidFill>
            <a:srgbClr val="FFFFFF"/>
          </a:solidFill>
          <a:ln w="10160">
            <a:solidFill>
              <a:srgbClr val="B47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645152" y="1554480"/>
            <a:ext cx="1627632" cy="292608"/>
          </a:xfrm>
          <a:prstGeom prst="roundRect">
            <a:avLst/>
          </a:prstGeom>
          <a:solidFill>
            <a:srgbClr val="FFFFFF"/>
          </a:solidFill>
          <a:ln>
            <a:solidFill>
              <a:srgbClr val="B47A2A"/>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B47A2A"/>
                </a:solidFill>
                <a:latin typeface="Aptos"/>
              </a:rPr>
              <a:t>AMBIGUOUS</a:t>
            </a:r>
          </a:p>
        </p:txBody>
      </p:sp>
      <p:sp>
        <p:nvSpPr>
          <p:cNvPr id="17" name="Rectangle 16"/>
          <p:cNvSpPr/>
          <p:nvPr/>
        </p:nvSpPr>
        <p:spPr>
          <a:xfrm>
            <a:off x="4645152" y="2066543"/>
            <a:ext cx="306324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a:solidFill>
                  <a:srgbClr val="5F6B75"/>
                </a:solidFill>
                <a:latin typeface="Aptos"/>
              </a:rPr>
              <a:t>PREMISE</a:t>
            </a:r>
          </a:p>
        </p:txBody>
      </p:sp>
      <p:sp>
        <p:nvSpPr>
          <p:cNvPr id="18" name="Rectangle 17"/>
          <p:cNvSpPr/>
          <p:nvPr/>
        </p:nvSpPr>
        <p:spPr>
          <a:xfrm>
            <a:off x="4645152" y="2340864"/>
            <a:ext cx="3054096" cy="7680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400" b="1" i="0">
                <a:solidFill>
                  <a:srgbClr val="202A35"/>
                </a:solidFill>
                <a:latin typeface="Aptos"/>
              </a:rPr>
              <a:t>A woman in red and white clothing is playing tennis.</a:t>
            </a:r>
          </a:p>
        </p:txBody>
      </p:sp>
      <p:sp>
        <p:nvSpPr>
          <p:cNvPr id="19" name="Rectangle 18"/>
          <p:cNvSpPr/>
          <p:nvPr/>
        </p:nvSpPr>
        <p:spPr>
          <a:xfrm>
            <a:off x="4645152" y="3273552"/>
            <a:ext cx="306324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a:solidFill>
                  <a:srgbClr val="5F6B75"/>
                </a:solidFill>
                <a:latin typeface="Aptos"/>
              </a:rPr>
              <a:t>HYPOTHESIS</a:t>
            </a:r>
          </a:p>
        </p:txBody>
      </p:sp>
      <p:sp>
        <p:nvSpPr>
          <p:cNvPr id="20" name="Rectangle 19"/>
          <p:cNvSpPr/>
          <p:nvPr/>
        </p:nvSpPr>
        <p:spPr>
          <a:xfrm>
            <a:off x="4645152" y="3547872"/>
            <a:ext cx="3054096" cy="7498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400" b="1" i="0">
                <a:solidFill>
                  <a:srgbClr val="202A35"/>
                </a:solidFill>
                <a:latin typeface="Aptos"/>
              </a:rPr>
              <a:t>Dressed all in white, the woman practices tennis.</a:t>
            </a:r>
          </a:p>
        </p:txBody>
      </p:sp>
      <p:sp>
        <p:nvSpPr>
          <p:cNvPr id="21" name="Rounded Rectangle 20"/>
          <p:cNvSpPr/>
          <p:nvPr/>
        </p:nvSpPr>
        <p:spPr>
          <a:xfrm>
            <a:off x="4645152" y="4517136"/>
            <a:ext cx="1143000" cy="292608"/>
          </a:xfrm>
          <a:prstGeom prst="roundRect">
            <a:avLst/>
          </a:prstGeom>
          <a:solidFill>
            <a:srgbClr val="FFFFFF"/>
          </a:solidFill>
          <a:ln>
            <a:solidFill>
              <a:srgbClr val="B47A2A"/>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B47A2A"/>
                </a:solidFill>
                <a:latin typeface="Aptos"/>
              </a:rPr>
              <a:t>CONTRADICTION</a:t>
            </a:r>
          </a:p>
        </p:txBody>
      </p:sp>
      <p:sp>
        <p:nvSpPr>
          <p:cNvPr id="22" name="Rectangle 21"/>
          <p:cNvSpPr/>
          <p:nvPr/>
        </p:nvSpPr>
        <p:spPr>
          <a:xfrm>
            <a:off x="4645152" y="5065776"/>
            <a:ext cx="3054096"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150" b="1" i="0">
                <a:solidFill>
                  <a:srgbClr val="B47A2A"/>
                </a:solidFill>
                <a:latin typeface="Aptos"/>
              </a:rPr>
              <a:t>confidence .406  ·  variability .482</a:t>
            </a:r>
          </a:p>
        </p:txBody>
      </p:sp>
      <p:sp>
        <p:nvSpPr>
          <p:cNvPr id="23" name="Rectangle 22"/>
          <p:cNvSpPr/>
          <p:nvPr/>
        </p:nvSpPr>
        <p:spPr>
          <a:xfrm>
            <a:off x="8266176" y="1298448"/>
            <a:ext cx="3520440" cy="4526280"/>
          </a:xfrm>
          <a:prstGeom prst="rect">
            <a:avLst/>
          </a:prstGeom>
          <a:solidFill>
            <a:srgbClr val="FFFFFF"/>
          </a:solidFill>
          <a:ln w="10160">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485632" y="1554480"/>
            <a:ext cx="1627632" cy="292608"/>
          </a:xfrm>
          <a:prstGeom prst="roundRect">
            <a:avLst/>
          </a:prstGeom>
          <a:solidFill>
            <a:srgbClr val="FFFFFF"/>
          </a:solidFill>
          <a:ln>
            <a:solidFill>
              <a:srgbClr val="A94B46"/>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A94B46"/>
                </a:solidFill>
                <a:latin typeface="Aptos"/>
              </a:rPr>
              <a:t>HARD-TO-LEARN</a:t>
            </a:r>
          </a:p>
        </p:txBody>
      </p:sp>
      <p:sp>
        <p:nvSpPr>
          <p:cNvPr id="25" name="Rectangle 24"/>
          <p:cNvSpPr/>
          <p:nvPr/>
        </p:nvSpPr>
        <p:spPr>
          <a:xfrm>
            <a:off x="8485632" y="2066543"/>
            <a:ext cx="306324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a:solidFill>
                  <a:srgbClr val="5F6B75"/>
                </a:solidFill>
                <a:latin typeface="Aptos"/>
              </a:rPr>
              <a:t>PREMISE</a:t>
            </a:r>
          </a:p>
        </p:txBody>
      </p:sp>
      <p:sp>
        <p:nvSpPr>
          <p:cNvPr id="26" name="Rectangle 25"/>
          <p:cNvSpPr/>
          <p:nvPr/>
        </p:nvSpPr>
        <p:spPr>
          <a:xfrm>
            <a:off x="8485632" y="2340864"/>
            <a:ext cx="3054096" cy="7680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400" b="1" i="0">
                <a:solidFill>
                  <a:srgbClr val="202A35"/>
                </a:solidFill>
                <a:latin typeface="Aptos"/>
              </a:rPr>
              <a:t>Photographers photograph a girl sitting in a street.</a:t>
            </a:r>
          </a:p>
        </p:txBody>
      </p:sp>
      <p:sp>
        <p:nvSpPr>
          <p:cNvPr id="27" name="Rectangle 26"/>
          <p:cNvSpPr/>
          <p:nvPr/>
        </p:nvSpPr>
        <p:spPr>
          <a:xfrm>
            <a:off x="8485632" y="3273552"/>
            <a:ext cx="306324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a:solidFill>
                  <a:srgbClr val="5F6B75"/>
                </a:solidFill>
                <a:latin typeface="Aptos"/>
              </a:rPr>
              <a:t>HYPOTHESIS</a:t>
            </a:r>
          </a:p>
        </p:txBody>
      </p:sp>
      <p:sp>
        <p:nvSpPr>
          <p:cNvPr id="28" name="Rectangle 27"/>
          <p:cNvSpPr/>
          <p:nvPr/>
        </p:nvSpPr>
        <p:spPr>
          <a:xfrm>
            <a:off x="8485632" y="3547872"/>
            <a:ext cx="3054096" cy="7498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400" b="1" i="0">
                <a:solidFill>
                  <a:srgbClr val="202A35"/>
                </a:solidFill>
                <a:latin typeface="Aptos"/>
              </a:rPr>
              <a:t>The photographer is taking a picture of a boy.</a:t>
            </a:r>
          </a:p>
        </p:txBody>
      </p:sp>
      <p:sp>
        <p:nvSpPr>
          <p:cNvPr id="29" name="Rounded Rectangle 28"/>
          <p:cNvSpPr/>
          <p:nvPr/>
        </p:nvSpPr>
        <p:spPr>
          <a:xfrm>
            <a:off x="8485632" y="4517136"/>
            <a:ext cx="1143000" cy="292608"/>
          </a:xfrm>
          <a:prstGeom prst="roundRect">
            <a:avLst/>
          </a:prstGeom>
          <a:solidFill>
            <a:srgbClr val="FFFFFF"/>
          </a:solidFill>
          <a:ln>
            <a:solidFill>
              <a:srgbClr val="A94B46"/>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A94B46"/>
                </a:solidFill>
                <a:latin typeface="Aptos"/>
              </a:rPr>
              <a:t>ENTAILMENT</a:t>
            </a:r>
          </a:p>
        </p:txBody>
      </p:sp>
      <p:sp>
        <p:nvSpPr>
          <p:cNvPr id="30" name="Rectangle 29"/>
          <p:cNvSpPr/>
          <p:nvPr/>
        </p:nvSpPr>
        <p:spPr>
          <a:xfrm>
            <a:off x="8485632" y="5065776"/>
            <a:ext cx="3054096"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150" b="1" i="0">
                <a:solidFill>
                  <a:srgbClr val="A94B46"/>
                </a:solidFill>
                <a:latin typeface="Aptos"/>
              </a:rPr>
              <a:t>confidence &lt; .001  ·  variability &lt; .001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The paper tested whether map regions predict useful behavior</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10</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720" b="0" i="0">
                <a:solidFill>
                  <a:srgbClr val="5F6B75"/>
                </a:solidFill>
                <a:latin typeface="Aptos"/>
              </a:rPr>
              <a:t>Swayamdipta et al. (2020), §§3–6.</a:t>
            </a:r>
          </a:p>
        </p:txBody>
      </p:sp>
      <p:sp>
        <p:nvSpPr>
          <p:cNvPr id="7" name="Rectangle 6"/>
          <p:cNvSpPr/>
          <p:nvPr/>
        </p:nvSpPr>
        <p:spPr>
          <a:xfrm>
            <a:off x="685800" y="1469424"/>
            <a:ext cx="242316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800" b="1" i="0">
                <a:solidFill>
                  <a:srgbClr val="697386"/>
                </a:solidFill>
                <a:latin typeface="Aptos"/>
              </a:rPr>
              <a:t>SNLI</a:t>
            </a:r>
          </a:p>
        </p:txBody>
      </p:sp>
      <p:sp>
        <p:nvSpPr>
          <p:cNvPr id="8" name="Rectangle 7"/>
          <p:cNvSpPr/>
          <p:nvPr/>
        </p:nvSpPr>
        <p:spPr>
          <a:xfrm>
            <a:off x="685800" y="1899192"/>
            <a:ext cx="2423160" cy="5943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600" b="0" i="0" dirty="0">
                <a:solidFill>
                  <a:srgbClr val="5F6B75"/>
                </a:solidFill>
                <a:latin typeface="Aptos"/>
              </a:rPr>
              <a:t>natural-language inference</a:t>
            </a:r>
          </a:p>
        </p:txBody>
      </p:sp>
      <p:sp>
        <p:nvSpPr>
          <p:cNvPr id="9" name="Rectangle 8"/>
          <p:cNvSpPr/>
          <p:nvPr/>
        </p:nvSpPr>
        <p:spPr>
          <a:xfrm>
            <a:off x="3447288" y="1469424"/>
            <a:ext cx="242316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800" b="1" i="0">
                <a:solidFill>
                  <a:srgbClr val="697386"/>
                </a:solidFill>
                <a:latin typeface="Aptos"/>
              </a:rPr>
              <a:t>MultiNLI</a:t>
            </a:r>
          </a:p>
        </p:txBody>
      </p:sp>
      <p:sp>
        <p:nvSpPr>
          <p:cNvPr id="10" name="Rectangle 9"/>
          <p:cNvSpPr/>
          <p:nvPr/>
        </p:nvSpPr>
        <p:spPr>
          <a:xfrm>
            <a:off x="3447288" y="1899192"/>
            <a:ext cx="2423160" cy="5943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600" b="0" i="0" dirty="0">
                <a:solidFill>
                  <a:srgbClr val="5F6B75"/>
                </a:solidFill>
                <a:latin typeface="Aptos"/>
              </a:rPr>
              <a:t>multi-genre inference</a:t>
            </a:r>
          </a:p>
        </p:txBody>
      </p:sp>
      <p:sp>
        <p:nvSpPr>
          <p:cNvPr id="11" name="Rectangle 10"/>
          <p:cNvSpPr/>
          <p:nvPr/>
        </p:nvSpPr>
        <p:spPr>
          <a:xfrm>
            <a:off x="6208776" y="1469424"/>
            <a:ext cx="242316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800" b="1" i="0">
                <a:solidFill>
                  <a:srgbClr val="697386"/>
                </a:solidFill>
                <a:latin typeface="Aptos"/>
              </a:rPr>
              <a:t>WinoGrande</a:t>
            </a:r>
          </a:p>
        </p:txBody>
      </p:sp>
      <p:sp>
        <p:nvSpPr>
          <p:cNvPr id="12" name="Rectangle 11"/>
          <p:cNvSpPr/>
          <p:nvPr/>
        </p:nvSpPr>
        <p:spPr>
          <a:xfrm>
            <a:off x="6208776" y="1899192"/>
            <a:ext cx="2423160" cy="5943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600" b="0" i="0" dirty="0">
                <a:solidFill>
                  <a:srgbClr val="5F6B75"/>
                </a:solidFill>
                <a:latin typeface="Aptos"/>
              </a:rPr>
              <a:t>commonsense reasoning</a:t>
            </a:r>
          </a:p>
        </p:txBody>
      </p:sp>
      <p:sp>
        <p:nvSpPr>
          <p:cNvPr id="13" name="Rectangle 12"/>
          <p:cNvSpPr/>
          <p:nvPr/>
        </p:nvSpPr>
        <p:spPr>
          <a:xfrm>
            <a:off x="8970264" y="1469424"/>
            <a:ext cx="242316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800" b="1" i="0">
                <a:solidFill>
                  <a:srgbClr val="697386"/>
                </a:solidFill>
                <a:latin typeface="Aptos"/>
              </a:rPr>
              <a:t>QNLI</a:t>
            </a:r>
          </a:p>
        </p:txBody>
      </p:sp>
      <p:sp>
        <p:nvSpPr>
          <p:cNvPr id="14" name="Rectangle 13"/>
          <p:cNvSpPr/>
          <p:nvPr/>
        </p:nvSpPr>
        <p:spPr>
          <a:xfrm>
            <a:off x="8970264" y="1899192"/>
            <a:ext cx="2423160" cy="5943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600" b="0" i="0" dirty="0">
                <a:solidFill>
                  <a:srgbClr val="5F6B75"/>
                </a:solidFill>
                <a:latin typeface="Aptos"/>
              </a:rPr>
              <a:t>question answering reformulated as NLI</a:t>
            </a:r>
          </a:p>
        </p:txBody>
      </p:sp>
      <p:sp>
        <p:nvSpPr>
          <p:cNvPr id="16" name="Rectangle 15"/>
          <p:cNvSpPr/>
          <p:nvPr/>
        </p:nvSpPr>
        <p:spPr>
          <a:xfrm>
            <a:off x="822960" y="3249744"/>
            <a:ext cx="219456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000" b="1" i="0">
                <a:solidFill>
                  <a:srgbClr val="2B6F6D"/>
                </a:solidFill>
                <a:latin typeface="Aptos"/>
              </a:rPr>
              <a:t>DATA USEFULNESS</a:t>
            </a:r>
          </a:p>
        </p:txBody>
      </p:sp>
      <p:sp>
        <p:nvSpPr>
          <p:cNvPr id="17" name="Rectangle 16"/>
          <p:cNvSpPr/>
          <p:nvPr/>
        </p:nvSpPr>
        <p:spPr>
          <a:xfrm>
            <a:off x="2971800" y="3213168"/>
            <a:ext cx="786384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700" b="0" i="0">
                <a:solidFill>
                  <a:srgbClr val="202A35"/>
                </a:solidFill>
                <a:latin typeface="Aptos"/>
              </a:rPr>
              <a:t>Which regions support ID and OOD generalization?</a:t>
            </a:r>
          </a:p>
        </p:txBody>
      </p:sp>
      <p:sp>
        <p:nvSpPr>
          <p:cNvPr id="18" name="Rectangle 17"/>
          <p:cNvSpPr/>
          <p:nvPr/>
        </p:nvSpPr>
        <p:spPr>
          <a:xfrm>
            <a:off x="822960" y="3999552"/>
            <a:ext cx="219456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000" b="1" i="0">
                <a:solidFill>
                  <a:srgbClr val="B47A2A"/>
                </a:solidFill>
                <a:latin typeface="Aptos"/>
              </a:rPr>
              <a:t>OPTIMIZATION</a:t>
            </a:r>
          </a:p>
        </p:txBody>
      </p:sp>
      <p:sp>
        <p:nvSpPr>
          <p:cNvPr id="19" name="Rectangle 18"/>
          <p:cNvSpPr/>
          <p:nvPr/>
        </p:nvSpPr>
        <p:spPr>
          <a:xfrm>
            <a:off x="2971800" y="3962976"/>
            <a:ext cx="786384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700" b="0" i="0">
                <a:solidFill>
                  <a:srgbClr val="202A35"/>
                </a:solidFill>
                <a:latin typeface="Aptos"/>
              </a:rPr>
              <a:t>Can a model learn from only ambiguous examples?</a:t>
            </a:r>
          </a:p>
        </p:txBody>
      </p:sp>
      <p:sp>
        <p:nvSpPr>
          <p:cNvPr id="20" name="Rectangle 19"/>
          <p:cNvSpPr/>
          <p:nvPr/>
        </p:nvSpPr>
        <p:spPr>
          <a:xfrm>
            <a:off x="822960" y="4749360"/>
            <a:ext cx="219456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000" b="1" i="0">
                <a:solidFill>
                  <a:srgbClr val="A94B46"/>
                </a:solidFill>
                <a:latin typeface="Aptos"/>
              </a:rPr>
              <a:t>ANNOTATION QUALITY</a:t>
            </a:r>
          </a:p>
        </p:txBody>
      </p:sp>
      <p:sp>
        <p:nvSpPr>
          <p:cNvPr id="21" name="Rectangle 20"/>
          <p:cNvSpPr/>
          <p:nvPr/>
        </p:nvSpPr>
        <p:spPr>
          <a:xfrm>
            <a:off x="2971800" y="4712783"/>
            <a:ext cx="786384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700" b="0" i="0">
                <a:solidFill>
                  <a:srgbClr val="202A35"/>
                </a:solidFill>
                <a:latin typeface="Aptos"/>
              </a:rPr>
              <a:t>Are low-confidence regions enriched for problems?</a:t>
            </a:r>
          </a:p>
        </p:txBody>
      </p:sp>
      <p:sp>
        <p:nvSpPr>
          <p:cNvPr id="22" name="Rectangle 21"/>
          <p:cNvSpPr/>
          <p:nvPr/>
        </p:nvSpPr>
        <p:spPr>
          <a:xfrm>
            <a:off x="822960" y="5499168"/>
            <a:ext cx="2194560"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000" b="1" i="0">
                <a:solidFill>
                  <a:srgbClr val="697386"/>
                </a:solidFill>
                <a:latin typeface="Aptos"/>
              </a:rPr>
              <a:t>UNCERTAINTY</a:t>
            </a:r>
          </a:p>
        </p:txBody>
      </p:sp>
      <p:sp>
        <p:nvSpPr>
          <p:cNvPr id="23" name="Rectangle 22"/>
          <p:cNvSpPr/>
          <p:nvPr/>
        </p:nvSpPr>
        <p:spPr>
          <a:xfrm>
            <a:off x="2971800" y="5462592"/>
            <a:ext cx="786384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700" b="0" i="0">
                <a:solidFill>
                  <a:srgbClr val="202A35"/>
                </a:solidFill>
                <a:latin typeface="Aptos"/>
              </a:rPr>
              <a:t>How do dynamics relate to human agreement?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Ambiguous subsets often supported stronger generalization</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11</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720" b="0" i="0">
                <a:solidFill>
                  <a:srgbClr val="5F6B75"/>
                </a:solidFill>
                <a:latin typeface="Aptos"/>
              </a:rPr>
              <a:t>Published values: Swayamdipta et al. (2020), Tables 2 and 3; best of 3 seeds for SNLI.</a:t>
            </a:r>
          </a:p>
        </p:txBody>
      </p:sp>
      <p:sp>
        <p:nvSpPr>
          <p:cNvPr id="7" name="Rectangle 6"/>
          <p:cNvSpPr/>
          <p:nvPr/>
        </p:nvSpPr>
        <p:spPr>
          <a:xfrm>
            <a:off x="658368" y="1252728"/>
            <a:ext cx="521208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800" b="1" i="0">
                <a:solidFill>
                  <a:srgbClr val="202A35"/>
                </a:solidFill>
                <a:latin typeface="Aptos"/>
              </a:rPr>
              <a:t>WinoGrande — 33% subsets</a:t>
            </a:r>
          </a:p>
        </p:txBody>
      </p:sp>
      <p:graphicFrame>
        <p:nvGraphicFramePr>
          <p:cNvPr id="8" name="Table 7"/>
          <p:cNvGraphicFramePr>
            <a:graphicFrameLocks noGrp="1"/>
          </p:cNvGraphicFramePr>
          <p:nvPr>
            <p:extLst>
              <p:ext uri="{D42A27DB-BD31-4B8C-83A1-F6EECF244321}">
                <p14:modId xmlns:p14="http://schemas.microsoft.com/office/powerpoint/2010/main" val="1532003352"/>
              </p:ext>
            </p:extLst>
          </p:nvPr>
        </p:nvGraphicFramePr>
        <p:xfrm>
          <a:off x="658368" y="1719072"/>
          <a:ext cx="5120640" cy="300533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601066">
                <a:tc>
                  <a:txBody>
                    <a:bodyPr/>
                    <a:lstStyle/>
                    <a:p>
                      <a:pPr algn="l"/>
                      <a:r>
                        <a:rPr sz="1200" b="1" i="0">
                          <a:solidFill>
                            <a:srgbClr val="202A35"/>
                          </a:solidFill>
                          <a:latin typeface="Aptos"/>
                        </a:rPr>
                        <a:t>Training data</a:t>
                      </a:r>
                    </a:p>
                  </a:txBody>
                  <a:tcPr marL="54864" marR="54864">
                    <a:solidFill>
                      <a:srgbClr val="ECE9E2"/>
                    </a:solidFill>
                  </a:tcPr>
                </a:tc>
                <a:tc>
                  <a:txBody>
                    <a:bodyPr/>
                    <a:lstStyle/>
                    <a:p>
                      <a:pPr algn="ctr"/>
                      <a:r>
                        <a:rPr sz="1200" b="1" i="0">
                          <a:solidFill>
                            <a:srgbClr val="202A35"/>
                          </a:solidFill>
                          <a:latin typeface="Aptos"/>
                        </a:rPr>
                        <a:t>ID</a:t>
                      </a:r>
                    </a:p>
                  </a:txBody>
                  <a:tcPr marL="54864" marR="54864">
                    <a:solidFill>
                      <a:srgbClr val="ECE9E2"/>
                    </a:solidFill>
                  </a:tcPr>
                </a:tc>
                <a:tc>
                  <a:txBody>
                    <a:bodyPr/>
                    <a:lstStyle/>
                    <a:p>
                      <a:pPr algn="ctr"/>
                      <a:r>
                        <a:rPr sz="1200" b="1" i="0">
                          <a:solidFill>
                            <a:srgbClr val="202A35"/>
                          </a:solidFill>
                          <a:latin typeface="Aptos"/>
                        </a:rPr>
                        <a:t>OOD</a:t>
                      </a:r>
                    </a:p>
                  </a:txBody>
                  <a:tcPr marL="54864" marR="54864">
                    <a:solidFill>
                      <a:srgbClr val="ECE9E2"/>
                    </a:solidFill>
                  </a:tcPr>
                </a:tc>
                <a:extLst>
                  <a:ext uri="{0D108BD9-81ED-4DB2-BD59-A6C34878D82A}">
                    <a16:rowId xmlns:a16="http://schemas.microsoft.com/office/drawing/2014/main" val="10000"/>
                  </a:ext>
                </a:extLst>
              </a:tr>
              <a:tr h="601066">
                <a:tc>
                  <a:txBody>
                    <a:bodyPr/>
                    <a:lstStyle/>
                    <a:p>
                      <a:pPr algn="l"/>
                      <a:r>
                        <a:rPr sz="1300" b="0" i="0">
                          <a:solidFill>
                            <a:srgbClr val="202A35"/>
                          </a:solidFill>
                          <a:latin typeface="Aptos"/>
                        </a:rPr>
                        <a:t>Full 100%</a:t>
                      </a:r>
                    </a:p>
                  </a:txBody>
                  <a:tcPr marL="54864" marR="54864" anchor="ctr">
                    <a:solidFill>
                      <a:srgbClr val="FFFFFF"/>
                    </a:solidFill>
                  </a:tcPr>
                </a:tc>
                <a:tc>
                  <a:txBody>
                    <a:bodyPr/>
                    <a:lstStyle/>
                    <a:p>
                      <a:pPr algn="ctr"/>
                      <a:r>
                        <a:rPr sz="1300" b="0" i="0">
                          <a:solidFill>
                            <a:srgbClr val="697386"/>
                          </a:solidFill>
                          <a:latin typeface="Aptos"/>
                        </a:rPr>
                        <a:t>79.7</a:t>
                      </a:r>
                    </a:p>
                  </a:txBody>
                  <a:tcPr marL="54864" marR="54864" anchor="ctr">
                    <a:solidFill>
                      <a:srgbClr val="FFFFFF"/>
                    </a:solidFill>
                  </a:tcPr>
                </a:tc>
                <a:tc>
                  <a:txBody>
                    <a:bodyPr/>
                    <a:lstStyle/>
                    <a:p>
                      <a:pPr algn="ctr"/>
                      <a:r>
                        <a:rPr sz="1300" b="0" i="0">
                          <a:solidFill>
                            <a:srgbClr val="697386"/>
                          </a:solidFill>
                          <a:latin typeface="Aptos"/>
                        </a:rPr>
                        <a:t>86.0</a:t>
                      </a:r>
                    </a:p>
                  </a:txBody>
                  <a:tcPr marL="54864" marR="54864" anchor="ctr">
                    <a:solidFill>
                      <a:srgbClr val="FFFFFF"/>
                    </a:solidFill>
                  </a:tcPr>
                </a:tc>
                <a:extLst>
                  <a:ext uri="{0D108BD9-81ED-4DB2-BD59-A6C34878D82A}">
                    <a16:rowId xmlns:a16="http://schemas.microsoft.com/office/drawing/2014/main" val="10001"/>
                  </a:ext>
                </a:extLst>
              </a:tr>
              <a:tr h="601066">
                <a:tc>
                  <a:txBody>
                    <a:bodyPr/>
                    <a:lstStyle/>
                    <a:p>
                      <a:pPr algn="l"/>
                      <a:r>
                        <a:rPr sz="1300" b="0" i="0">
                          <a:solidFill>
                            <a:srgbClr val="202A35"/>
                          </a:solidFill>
                          <a:latin typeface="Aptos"/>
                        </a:rPr>
                        <a:t>Random</a:t>
                      </a:r>
                    </a:p>
                  </a:txBody>
                  <a:tcPr marL="54864" marR="54864" anchor="ctr">
                    <a:solidFill>
                      <a:srgbClr val="F2F0EA"/>
                    </a:solidFill>
                  </a:tcPr>
                </a:tc>
                <a:tc>
                  <a:txBody>
                    <a:bodyPr/>
                    <a:lstStyle/>
                    <a:p>
                      <a:pPr algn="ctr"/>
                      <a:r>
                        <a:rPr sz="1300" b="0" i="0">
                          <a:solidFill>
                            <a:srgbClr val="697386"/>
                          </a:solidFill>
                          <a:latin typeface="Aptos"/>
                        </a:rPr>
                        <a:t>73.3</a:t>
                      </a:r>
                    </a:p>
                  </a:txBody>
                  <a:tcPr marL="54864" marR="54864" anchor="ctr">
                    <a:solidFill>
                      <a:srgbClr val="F2F0EA"/>
                    </a:solidFill>
                  </a:tcPr>
                </a:tc>
                <a:tc>
                  <a:txBody>
                    <a:bodyPr/>
                    <a:lstStyle/>
                    <a:p>
                      <a:pPr algn="ctr"/>
                      <a:r>
                        <a:rPr sz="1300" b="0" i="0">
                          <a:solidFill>
                            <a:srgbClr val="697386"/>
                          </a:solidFill>
                          <a:latin typeface="Aptos"/>
                        </a:rPr>
                        <a:t>85.6</a:t>
                      </a:r>
                    </a:p>
                  </a:txBody>
                  <a:tcPr marL="54864" marR="54864" anchor="ctr">
                    <a:solidFill>
                      <a:srgbClr val="F2F0EA"/>
                    </a:solidFill>
                  </a:tcPr>
                </a:tc>
                <a:extLst>
                  <a:ext uri="{0D108BD9-81ED-4DB2-BD59-A6C34878D82A}">
                    <a16:rowId xmlns:a16="http://schemas.microsoft.com/office/drawing/2014/main" val="10002"/>
                  </a:ext>
                </a:extLst>
              </a:tr>
              <a:tr h="601066">
                <a:tc>
                  <a:txBody>
                    <a:bodyPr/>
                    <a:lstStyle/>
                    <a:p>
                      <a:pPr algn="l"/>
                      <a:r>
                        <a:rPr sz="1300" b="0" i="0">
                          <a:solidFill>
                            <a:srgbClr val="202A35"/>
                          </a:solidFill>
                          <a:latin typeface="Aptos"/>
                        </a:rPr>
                        <a:t>Hard-to-learn</a:t>
                      </a:r>
                    </a:p>
                  </a:txBody>
                  <a:tcPr marL="54864" marR="54864" anchor="ctr">
                    <a:solidFill>
                      <a:srgbClr val="FFFFFF"/>
                    </a:solidFill>
                  </a:tcPr>
                </a:tc>
                <a:tc>
                  <a:txBody>
                    <a:bodyPr/>
                    <a:lstStyle/>
                    <a:p>
                      <a:pPr algn="ctr"/>
                      <a:r>
                        <a:rPr sz="1300" b="0" i="0">
                          <a:solidFill>
                            <a:srgbClr val="697386"/>
                          </a:solidFill>
                          <a:latin typeface="Aptos"/>
                        </a:rPr>
                        <a:t>77.9</a:t>
                      </a:r>
                    </a:p>
                  </a:txBody>
                  <a:tcPr marL="54864" marR="54864" anchor="ctr">
                    <a:solidFill>
                      <a:srgbClr val="FFFFFF"/>
                    </a:solidFill>
                  </a:tcPr>
                </a:tc>
                <a:tc>
                  <a:txBody>
                    <a:bodyPr/>
                    <a:lstStyle/>
                    <a:p>
                      <a:pPr algn="ctr"/>
                      <a:r>
                        <a:rPr sz="1300" b="0" i="0">
                          <a:solidFill>
                            <a:srgbClr val="697386"/>
                          </a:solidFill>
                          <a:latin typeface="Aptos"/>
                        </a:rPr>
                        <a:t>87.2</a:t>
                      </a:r>
                    </a:p>
                  </a:txBody>
                  <a:tcPr marL="54864" marR="54864" anchor="ctr">
                    <a:solidFill>
                      <a:srgbClr val="FFFFFF"/>
                    </a:solidFill>
                  </a:tcPr>
                </a:tc>
                <a:extLst>
                  <a:ext uri="{0D108BD9-81ED-4DB2-BD59-A6C34878D82A}">
                    <a16:rowId xmlns:a16="http://schemas.microsoft.com/office/drawing/2014/main" val="10003"/>
                  </a:ext>
                </a:extLst>
              </a:tr>
              <a:tr h="601066">
                <a:tc>
                  <a:txBody>
                    <a:bodyPr/>
                    <a:lstStyle/>
                    <a:p>
                      <a:pPr algn="l"/>
                      <a:r>
                        <a:rPr sz="1300" b="0" i="0" dirty="0">
                          <a:solidFill>
                            <a:srgbClr val="202A35"/>
                          </a:solidFill>
                          <a:latin typeface="Aptos"/>
                        </a:rPr>
                        <a:t>Ambiguous</a:t>
                      </a:r>
                    </a:p>
                  </a:txBody>
                  <a:tcPr marL="54864" marR="54864" anchor="ctr">
                    <a:solidFill>
                      <a:srgbClr val="F2F0EA"/>
                    </a:solidFill>
                  </a:tcPr>
                </a:tc>
                <a:tc>
                  <a:txBody>
                    <a:bodyPr/>
                    <a:lstStyle/>
                    <a:p>
                      <a:pPr algn="ctr"/>
                      <a:r>
                        <a:rPr sz="1300" b="0" i="0">
                          <a:solidFill>
                            <a:srgbClr val="697386"/>
                          </a:solidFill>
                          <a:latin typeface="Aptos"/>
                        </a:rPr>
                        <a:t>78.7</a:t>
                      </a:r>
                    </a:p>
                  </a:txBody>
                  <a:tcPr marL="54864" marR="54864" anchor="ctr">
                    <a:solidFill>
                      <a:srgbClr val="F2F0EA"/>
                    </a:solidFill>
                  </a:tcPr>
                </a:tc>
                <a:tc>
                  <a:txBody>
                    <a:bodyPr/>
                    <a:lstStyle/>
                    <a:p>
                      <a:pPr algn="ctr"/>
                      <a:r>
                        <a:rPr sz="1300" b="0" i="0" dirty="0">
                          <a:solidFill>
                            <a:srgbClr val="697386"/>
                          </a:solidFill>
                          <a:latin typeface="Aptos"/>
                        </a:rPr>
                        <a:t>87.6</a:t>
                      </a:r>
                    </a:p>
                  </a:txBody>
                  <a:tcPr marL="54864" marR="54864" anchor="ctr">
                    <a:solidFill>
                      <a:srgbClr val="F2F0EA"/>
                    </a:solidFill>
                  </a:tcPr>
                </a:tc>
                <a:extLst>
                  <a:ext uri="{0D108BD9-81ED-4DB2-BD59-A6C34878D82A}">
                    <a16:rowId xmlns:a16="http://schemas.microsoft.com/office/drawing/2014/main" val="10004"/>
                  </a:ext>
                </a:extLst>
              </a:tr>
            </a:tbl>
          </a:graphicData>
        </a:graphic>
      </p:graphicFrame>
      <p:sp>
        <p:nvSpPr>
          <p:cNvPr id="9" name="Rectangle 8"/>
          <p:cNvSpPr/>
          <p:nvPr/>
        </p:nvSpPr>
        <p:spPr>
          <a:xfrm>
            <a:off x="6291072" y="1252728"/>
            <a:ext cx="521208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800" b="1" i="0">
                <a:solidFill>
                  <a:srgbClr val="202A35"/>
                </a:solidFill>
                <a:latin typeface="Aptos"/>
              </a:rPr>
              <a:t>SNLI — 33% ambiguous</a:t>
            </a:r>
          </a:p>
        </p:txBody>
      </p:sp>
      <p:sp>
        <p:nvSpPr>
          <p:cNvPr id="10" name="Rectangle 9"/>
          <p:cNvSpPr/>
          <p:nvPr/>
        </p:nvSpPr>
        <p:spPr>
          <a:xfrm>
            <a:off x="6291072" y="1719071"/>
            <a:ext cx="5212080" cy="3005329"/>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629400" y="1922780"/>
            <a:ext cx="45262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000" b="1" i="0">
                <a:solidFill>
                  <a:srgbClr val="697386"/>
                </a:solidFill>
                <a:latin typeface="Aptos"/>
              </a:rPr>
              <a:t>IN-DISTRIBUTION</a:t>
            </a:r>
          </a:p>
        </p:txBody>
      </p:sp>
      <p:sp>
        <p:nvSpPr>
          <p:cNvPr id="12" name="Rectangle 11"/>
          <p:cNvSpPr/>
          <p:nvPr/>
        </p:nvSpPr>
        <p:spPr>
          <a:xfrm>
            <a:off x="6629400" y="2268728"/>
            <a:ext cx="4526280" cy="502920"/>
          </a:xfrm>
          <a:prstGeom prst="rect">
            <a:avLst/>
          </a:prstGeom>
          <a:solidFill>
            <a:srgbClr val="FFFFFF"/>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73152" tIns="73152" rIns="73152" bIns="73152" rtlCol="0" anchor="t"/>
          <a:lstStyle/>
          <a:p>
            <a:pPr algn="ctr"/>
            <a:r>
              <a:rPr sz="2800" b="1" i="0">
                <a:solidFill>
                  <a:srgbClr val="697386"/>
                </a:solidFill>
                <a:latin typeface="Aptos"/>
              </a:rPr>
              <a:t>92.2%</a:t>
            </a:r>
          </a:p>
        </p:txBody>
      </p:sp>
      <p:sp>
        <p:nvSpPr>
          <p:cNvPr id="13" name="Rectangle 12"/>
          <p:cNvSpPr/>
          <p:nvPr/>
        </p:nvSpPr>
        <p:spPr>
          <a:xfrm>
            <a:off x="6629400" y="2841244"/>
            <a:ext cx="45262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300" b="0" i="0">
                <a:solidFill>
                  <a:srgbClr val="5F6B75"/>
                </a:solidFill>
                <a:latin typeface="Aptos"/>
              </a:rPr>
              <a:t>within 0.2 pp of full data</a:t>
            </a:r>
          </a:p>
        </p:txBody>
      </p:sp>
      <p:sp>
        <p:nvSpPr>
          <p:cNvPr id="14" name="Rectangle 13"/>
          <p:cNvSpPr/>
          <p:nvPr/>
        </p:nvSpPr>
        <p:spPr>
          <a:xfrm>
            <a:off x="6629400" y="3340608"/>
            <a:ext cx="45262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000" b="1" i="0">
                <a:solidFill>
                  <a:srgbClr val="697386"/>
                </a:solidFill>
                <a:latin typeface="Aptos"/>
              </a:rPr>
              <a:t>NLI DIAGNOSTICS</a:t>
            </a:r>
          </a:p>
        </p:txBody>
      </p:sp>
      <p:sp>
        <p:nvSpPr>
          <p:cNvPr id="15" name="Rectangle 14"/>
          <p:cNvSpPr/>
          <p:nvPr/>
        </p:nvSpPr>
        <p:spPr>
          <a:xfrm>
            <a:off x="6629400" y="3686048"/>
            <a:ext cx="4526280" cy="502920"/>
          </a:xfrm>
          <a:prstGeom prst="rect">
            <a:avLst/>
          </a:prstGeom>
          <a:solidFill>
            <a:srgbClr val="FFFFFF"/>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73152" tIns="73152" rIns="73152" bIns="73152" rtlCol="0" anchor="t"/>
          <a:lstStyle/>
          <a:p>
            <a:pPr algn="ctr"/>
            <a:r>
              <a:rPr sz="2800" b="1" i="0" dirty="0">
                <a:solidFill>
                  <a:srgbClr val="697386"/>
                </a:solidFill>
                <a:latin typeface="Aptos"/>
              </a:rPr>
              <a:t>63.5%</a:t>
            </a:r>
          </a:p>
        </p:txBody>
      </p:sp>
      <p:sp>
        <p:nvSpPr>
          <p:cNvPr id="16" name="Rectangle 15"/>
          <p:cNvSpPr/>
          <p:nvPr/>
        </p:nvSpPr>
        <p:spPr>
          <a:xfrm>
            <a:off x="749808" y="5040121"/>
            <a:ext cx="10652760" cy="932689"/>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000" b="1" i="0" dirty="0">
                <a:solidFill>
                  <a:srgbClr val="202A35"/>
                </a:solidFill>
                <a:latin typeface="Aptos"/>
              </a:rPr>
              <a:t>Across these experiments, challenging and variable examples could preserve ID accuracy while improving independently collected OOD performance.</a:t>
            </a:r>
          </a:p>
        </p:txBody>
      </p:sp>
      <p:sp>
        <p:nvSpPr>
          <p:cNvPr id="18" name="Rectangle 12">
            <a:extLst>
              <a:ext uri="{FF2B5EF4-FFF2-40B4-BE49-F238E27FC236}">
                <a16:creationId xmlns:a16="http://schemas.microsoft.com/office/drawing/2014/main" id="{D8DAA810-FD03-5E31-CAD6-F166EBF8114D}"/>
              </a:ext>
            </a:extLst>
          </p:cNvPr>
          <p:cNvSpPr/>
          <p:nvPr/>
        </p:nvSpPr>
        <p:spPr>
          <a:xfrm>
            <a:off x="6629400" y="4245954"/>
            <a:ext cx="452628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lang="en-US" sz="1300" dirty="0">
                <a:solidFill>
                  <a:srgbClr val="5F6B75"/>
                </a:solidFill>
                <a:latin typeface="Aptos"/>
              </a:rPr>
              <a:t>1.7</a:t>
            </a:r>
            <a:r>
              <a:rPr sz="1300" b="0" i="0" dirty="0">
                <a:solidFill>
                  <a:srgbClr val="5F6B75"/>
                </a:solidFill>
                <a:latin typeface="Aptos"/>
              </a:rPr>
              <a:t> pp </a:t>
            </a:r>
            <a:r>
              <a:rPr lang="en-US" sz="1300" b="0" i="0" dirty="0">
                <a:solidFill>
                  <a:srgbClr val="5F6B75"/>
                </a:solidFill>
                <a:latin typeface="Aptos"/>
              </a:rPr>
              <a:t>higher than</a:t>
            </a:r>
            <a:r>
              <a:rPr sz="1300" b="0" i="0" dirty="0">
                <a:solidFill>
                  <a:srgbClr val="5F6B75"/>
                </a:solidFill>
                <a:latin typeface="Aptos"/>
              </a:rPr>
              <a:t> full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Easy examples can be necessary for optimization</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12</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720" b="0" i="0">
                <a:solidFill>
                  <a:srgbClr val="5F6B75"/>
                </a:solidFill>
                <a:latin typeface="Aptos"/>
              </a:rPr>
              <a:t>Swayamdipta et al. (2020), §4 and Figure 3.</a:t>
            </a:r>
          </a:p>
        </p:txBody>
      </p:sp>
      <p:sp>
        <p:nvSpPr>
          <p:cNvPr id="7" name="Rectangle 6"/>
          <p:cNvSpPr/>
          <p:nvPr/>
        </p:nvSpPr>
        <p:spPr>
          <a:xfrm>
            <a:off x="713232" y="1298448"/>
            <a:ext cx="5074920" cy="4526280"/>
          </a:xfrm>
          <a:prstGeom prst="rect">
            <a:avLst/>
          </a:prstGeom>
          <a:solidFill>
            <a:srgbClr val="FFFFFF"/>
          </a:solidFill>
          <a:ln w="10160">
            <a:solidFill>
              <a:srgbClr val="D8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87552" y="1572768"/>
            <a:ext cx="4526280" cy="3657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700" b="1" i="0">
                <a:solidFill>
                  <a:srgbClr val="202A35"/>
                </a:solidFill>
                <a:latin typeface="Aptos"/>
              </a:rPr>
              <a:t>WinoGrande: only the most ambiguous data</a:t>
            </a:r>
          </a:p>
        </p:txBody>
      </p:sp>
      <p:sp>
        <p:nvSpPr>
          <p:cNvPr id="9" name="Rectangle 8"/>
          <p:cNvSpPr/>
          <p:nvPr/>
        </p:nvSpPr>
        <p:spPr>
          <a:xfrm>
            <a:off x="1143000" y="2240280"/>
            <a:ext cx="132588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200" b="1" i="0">
                <a:solidFill>
                  <a:srgbClr val="4F7661"/>
                </a:solidFill>
                <a:latin typeface="Aptos"/>
              </a:rPr>
              <a:t>25–50%</a:t>
            </a:r>
          </a:p>
        </p:txBody>
      </p:sp>
      <p:cxnSp>
        <p:nvCxnSpPr>
          <p:cNvPr id="10" name="Connector 9"/>
          <p:cNvCxnSpPr/>
          <p:nvPr/>
        </p:nvCxnSpPr>
        <p:spPr>
          <a:xfrm>
            <a:off x="2606040" y="2423160"/>
            <a:ext cx="731520" cy="0"/>
          </a:xfrm>
          <a:prstGeom prst="line">
            <a:avLst/>
          </a:prstGeom>
          <a:ln w="25400">
            <a:solidFill>
              <a:srgbClr val="D8D4CC"/>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520440" y="2240280"/>
            <a:ext cx="155448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800" b="1" i="0">
                <a:solidFill>
                  <a:srgbClr val="4F7661"/>
                </a:solidFill>
                <a:latin typeface="Aptos"/>
              </a:rPr>
              <a:t>learns</a:t>
            </a:r>
          </a:p>
        </p:txBody>
      </p:sp>
      <p:sp>
        <p:nvSpPr>
          <p:cNvPr id="12" name="Rectangle 11"/>
          <p:cNvSpPr/>
          <p:nvPr/>
        </p:nvSpPr>
        <p:spPr>
          <a:xfrm>
            <a:off x="1143000" y="3264408"/>
            <a:ext cx="132588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200" b="1" i="0">
                <a:solidFill>
                  <a:srgbClr val="A94B46"/>
                </a:solidFill>
                <a:latin typeface="Aptos"/>
              </a:rPr>
              <a:t>≤17%</a:t>
            </a:r>
          </a:p>
        </p:txBody>
      </p:sp>
      <p:cxnSp>
        <p:nvCxnSpPr>
          <p:cNvPr id="13" name="Connector 12"/>
          <p:cNvCxnSpPr/>
          <p:nvPr/>
        </p:nvCxnSpPr>
        <p:spPr>
          <a:xfrm>
            <a:off x="2606040" y="3447288"/>
            <a:ext cx="731520" cy="0"/>
          </a:xfrm>
          <a:prstGeom prst="line">
            <a:avLst/>
          </a:prstGeom>
          <a:ln w="25400">
            <a:solidFill>
              <a:srgbClr val="D8D4CC"/>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520440" y="3264408"/>
            <a:ext cx="155448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800" b="1" i="0">
                <a:solidFill>
                  <a:srgbClr val="A94B46"/>
                </a:solidFill>
                <a:latin typeface="Aptos"/>
              </a:rPr>
              <a:t>chance-level</a:t>
            </a:r>
          </a:p>
        </p:txBody>
      </p:sp>
      <p:sp>
        <p:nvSpPr>
          <p:cNvPr id="15" name="Rectangle 14"/>
          <p:cNvSpPr/>
          <p:nvPr/>
        </p:nvSpPr>
        <p:spPr>
          <a:xfrm>
            <a:off x="1051560" y="4425696"/>
            <a:ext cx="4389120" cy="8046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600" b="0" i="0">
                <a:solidFill>
                  <a:srgbClr val="202A35"/>
                </a:solidFill>
                <a:latin typeface="Aptos"/>
              </a:rPr>
              <a:t>With 17% ambiguous data, replacing only one tenth with easy examples restored learning and beat the random baseline on ID accuracy.</a:t>
            </a:r>
          </a:p>
        </p:txBody>
      </p:sp>
      <p:sp>
        <p:nvSpPr>
          <p:cNvPr id="16" name="Rectangle 15"/>
          <p:cNvSpPr/>
          <p:nvPr/>
        </p:nvSpPr>
        <p:spPr>
          <a:xfrm>
            <a:off x="6309360" y="1481328"/>
            <a:ext cx="5330952"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000" b="1" i="0" dirty="0">
                <a:solidFill>
                  <a:srgbClr val="B65C3A"/>
                </a:solidFill>
                <a:latin typeface="Aptos"/>
              </a:rPr>
              <a:t>Different regions can serve different roles</a:t>
            </a:r>
          </a:p>
        </p:txBody>
      </p:sp>
      <p:sp>
        <p:nvSpPr>
          <p:cNvPr id="17" name="Rounded Rectangle 16"/>
          <p:cNvSpPr/>
          <p:nvPr/>
        </p:nvSpPr>
        <p:spPr>
          <a:xfrm>
            <a:off x="6400800" y="2267712"/>
            <a:ext cx="1325880" cy="292608"/>
          </a:xfrm>
          <a:prstGeom prst="roundRect">
            <a:avLst/>
          </a:prstGeom>
          <a:solidFill>
            <a:srgbClr val="F7F5F0"/>
          </a:solidFill>
          <a:ln>
            <a:solidFill>
              <a:srgbClr val="B47A2A"/>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B47A2A"/>
                </a:solidFill>
                <a:latin typeface="Aptos"/>
              </a:rPr>
              <a:t>AMBIGUOUS</a:t>
            </a:r>
          </a:p>
        </p:txBody>
      </p:sp>
      <p:sp>
        <p:nvSpPr>
          <p:cNvPr id="18" name="Rectangle 17"/>
          <p:cNvSpPr/>
          <p:nvPr/>
        </p:nvSpPr>
        <p:spPr>
          <a:xfrm>
            <a:off x="8046720" y="2286000"/>
            <a:ext cx="2834640" cy="51035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600" b="0" i="0">
                <a:solidFill>
                  <a:srgbClr val="202A35"/>
                </a:solidFill>
                <a:latin typeface="Aptos"/>
              </a:rPr>
              <a:t>informative decision boundaries</a:t>
            </a:r>
          </a:p>
        </p:txBody>
      </p:sp>
      <p:sp>
        <p:nvSpPr>
          <p:cNvPr id="19" name="Rounded Rectangle 18"/>
          <p:cNvSpPr/>
          <p:nvPr/>
        </p:nvSpPr>
        <p:spPr>
          <a:xfrm>
            <a:off x="6400800" y="3255264"/>
            <a:ext cx="1325880" cy="292608"/>
          </a:xfrm>
          <a:prstGeom prst="roundRect">
            <a:avLst/>
          </a:prstGeom>
          <a:solidFill>
            <a:srgbClr val="F7F5F0"/>
          </a:solidFill>
          <a:ln>
            <a:solidFill>
              <a:srgbClr val="4F7661"/>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4F7661"/>
                </a:solidFill>
                <a:latin typeface="Aptos"/>
              </a:rPr>
              <a:t>EASY</a:t>
            </a:r>
          </a:p>
        </p:txBody>
      </p:sp>
      <p:sp>
        <p:nvSpPr>
          <p:cNvPr id="20" name="Rectangle 19"/>
          <p:cNvSpPr/>
          <p:nvPr/>
        </p:nvSpPr>
        <p:spPr>
          <a:xfrm>
            <a:off x="8046720" y="3273552"/>
            <a:ext cx="2834640" cy="32918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600" b="0" i="0">
                <a:solidFill>
                  <a:srgbClr val="202A35"/>
                </a:solidFill>
                <a:latin typeface="Aptos"/>
              </a:rPr>
              <a:t>stable optimization signal</a:t>
            </a:r>
          </a:p>
        </p:txBody>
      </p:sp>
      <p:sp>
        <p:nvSpPr>
          <p:cNvPr id="21" name="Rounded Rectangle 20"/>
          <p:cNvSpPr/>
          <p:nvPr/>
        </p:nvSpPr>
        <p:spPr>
          <a:xfrm>
            <a:off x="6400800" y="4242816"/>
            <a:ext cx="1325880" cy="292608"/>
          </a:xfrm>
          <a:prstGeom prst="roundRect">
            <a:avLst/>
          </a:prstGeom>
          <a:solidFill>
            <a:srgbClr val="F7F5F0"/>
          </a:solidFill>
          <a:ln>
            <a:solidFill>
              <a:srgbClr val="697386"/>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697386"/>
                </a:solidFill>
                <a:latin typeface="Aptos"/>
              </a:rPr>
              <a:t>TOO MUCH EASY</a:t>
            </a:r>
          </a:p>
        </p:txBody>
      </p:sp>
      <p:sp>
        <p:nvSpPr>
          <p:cNvPr id="22" name="Rectangle 21"/>
          <p:cNvSpPr/>
          <p:nvPr/>
        </p:nvSpPr>
        <p:spPr>
          <a:xfrm>
            <a:off x="8046720" y="4261104"/>
            <a:ext cx="2834640" cy="32918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600" b="0" i="0">
                <a:solidFill>
                  <a:srgbClr val="202A35"/>
                </a:solidFill>
                <a:latin typeface="Aptos"/>
              </a:rPr>
              <a:t>weaker OOD performance</a:t>
            </a:r>
          </a:p>
        </p:txBody>
      </p:sp>
      <p:sp>
        <p:nvSpPr>
          <p:cNvPr id="23" name="Rectangle 22"/>
          <p:cNvSpPr/>
          <p:nvPr/>
        </p:nvSpPr>
        <p:spPr>
          <a:xfrm>
            <a:off x="6355080" y="5248656"/>
            <a:ext cx="4617720" cy="76638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800" b="1" i="0">
                <a:solidFill>
                  <a:srgbClr val="A94B46"/>
                </a:solidFill>
                <a:latin typeface="Aptos"/>
              </a:rPr>
              <a:t>“Ambiguous good, easy bad” would misstate the paper.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Hard-to-learn regions are enriched for annotation problems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13</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720" b="0" i="0">
                <a:solidFill>
                  <a:srgbClr val="5F6B75"/>
                </a:solidFill>
                <a:latin typeface="Aptos"/>
              </a:rPr>
              <a:t>Swayamdipta et al. (2020), §5 and Figure 4.</a:t>
            </a:r>
          </a:p>
        </p:txBody>
      </p:sp>
      <p:sp>
        <p:nvSpPr>
          <p:cNvPr id="7" name="Oval 6"/>
          <p:cNvSpPr/>
          <p:nvPr/>
        </p:nvSpPr>
        <p:spPr>
          <a:xfrm>
            <a:off x="658368" y="1576974"/>
            <a:ext cx="502920" cy="502920"/>
          </a:xfrm>
          <a:prstGeom prst="ellipse">
            <a:avLst/>
          </a:prstGeom>
          <a:solidFill>
            <a:srgbClr val="697386"/>
          </a:solidFill>
          <a:ln>
            <a:solidFill>
              <a:srgbClr val="6973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1640982"/>
            <a:ext cx="502920" cy="228600"/>
          </a:xfrm>
          <a:prstGeom prst="rect">
            <a:avLst/>
          </a:prstGeom>
          <a:solidFill>
            <a:srgbClr val="697386"/>
          </a:solidFill>
          <a:ln>
            <a:solidFill>
              <a:srgbClr val="697386"/>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300" b="1" i="0">
                <a:solidFill>
                  <a:srgbClr val="FFFFFF"/>
                </a:solidFill>
                <a:latin typeface="Aptos"/>
              </a:rPr>
              <a:t>1</a:t>
            </a:r>
          </a:p>
        </p:txBody>
      </p:sp>
      <p:sp>
        <p:nvSpPr>
          <p:cNvPr id="9" name="Rectangle 8"/>
          <p:cNvSpPr/>
          <p:nvPr/>
        </p:nvSpPr>
        <p:spPr>
          <a:xfrm>
            <a:off x="1298448" y="1512966"/>
            <a:ext cx="2880360" cy="56692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500" b="1" i="0">
                <a:solidFill>
                  <a:srgbClr val="202A35"/>
                </a:solidFill>
                <a:latin typeface="Aptos"/>
              </a:rPr>
              <a:t>Flip labels for 1% of easy WinoGrande examples</a:t>
            </a:r>
          </a:p>
        </p:txBody>
      </p:sp>
      <p:sp>
        <p:nvSpPr>
          <p:cNvPr id="10" name="Rectangle 9"/>
          <p:cNvSpPr/>
          <p:nvPr/>
        </p:nvSpPr>
        <p:spPr>
          <a:xfrm>
            <a:off x="4005072" y="1640982"/>
            <a:ext cx="384048"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100" b="1" i="0">
                <a:solidFill>
                  <a:srgbClr val="5F6B75"/>
                </a:solidFill>
                <a:latin typeface="Aptos"/>
              </a:rPr>
              <a:t>→</a:t>
            </a:r>
          </a:p>
        </p:txBody>
      </p:sp>
      <p:sp>
        <p:nvSpPr>
          <p:cNvPr id="11" name="Oval 10"/>
          <p:cNvSpPr/>
          <p:nvPr/>
        </p:nvSpPr>
        <p:spPr>
          <a:xfrm>
            <a:off x="4480559" y="1576974"/>
            <a:ext cx="502920" cy="502920"/>
          </a:xfrm>
          <a:prstGeom prst="ellipse">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80559" y="1640982"/>
            <a:ext cx="502920" cy="228600"/>
          </a:xfrm>
          <a:prstGeom prst="rect">
            <a:avLst/>
          </a:prstGeom>
          <a:solidFill>
            <a:srgbClr val="2B6F6D"/>
          </a:solidFill>
          <a:ln>
            <a:solidFill>
              <a:srgbClr val="2B6F6D"/>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300" b="1" i="0">
                <a:solidFill>
                  <a:srgbClr val="FFFFFF"/>
                </a:solidFill>
                <a:latin typeface="Aptos"/>
              </a:rPr>
              <a:t>2</a:t>
            </a:r>
          </a:p>
        </p:txBody>
      </p:sp>
      <p:sp>
        <p:nvSpPr>
          <p:cNvPr id="13" name="Rectangle 12"/>
          <p:cNvSpPr/>
          <p:nvPr/>
        </p:nvSpPr>
        <p:spPr>
          <a:xfrm>
            <a:off x="5120640" y="1512966"/>
            <a:ext cx="2880360" cy="566927"/>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500" b="1" i="0" dirty="0">
                <a:solidFill>
                  <a:srgbClr val="202A35"/>
                </a:solidFill>
                <a:latin typeface="Aptos"/>
              </a:rPr>
              <a:t>Retrain and recompute training dynamics</a:t>
            </a:r>
          </a:p>
        </p:txBody>
      </p:sp>
      <p:sp>
        <p:nvSpPr>
          <p:cNvPr id="14" name="Rectangle 13"/>
          <p:cNvSpPr/>
          <p:nvPr/>
        </p:nvSpPr>
        <p:spPr>
          <a:xfrm>
            <a:off x="7827263" y="1640982"/>
            <a:ext cx="384048"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100" b="1" i="0">
                <a:solidFill>
                  <a:srgbClr val="5F6B75"/>
                </a:solidFill>
                <a:latin typeface="Aptos"/>
              </a:rPr>
              <a:t>→</a:t>
            </a:r>
          </a:p>
        </p:txBody>
      </p:sp>
      <p:sp>
        <p:nvSpPr>
          <p:cNvPr id="15" name="Oval 14"/>
          <p:cNvSpPr/>
          <p:nvPr/>
        </p:nvSpPr>
        <p:spPr>
          <a:xfrm>
            <a:off x="8302752" y="1576974"/>
            <a:ext cx="502920" cy="502920"/>
          </a:xfrm>
          <a:prstGeom prst="ellipse">
            <a:avLst/>
          </a:prstGeom>
          <a:solidFill>
            <a:srgbClr val="A94B46"/>
          </a:solidFill>
          <a:ln>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302752" y="1640982"/>
            <a:ext cx="502920" cy="228600"/>
          </a:xfrm>
          <a:prstGeom prst="rect">
            <a:avLst/>
          </a:prstGeom>
          <a:solidFill>
            <a:srgbClr val="A94B46"/>
          </a:solidFill>
          <a:ln>
            <a:solidFill>
              <a:srgbClr val="A94B46"/>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300" b="1" i="0">
                <a:solidFill>
                  <a:srgbClr val="FFFFFF"/>
                </a:solidFill>
                <a:latin typeface="Aptos"/>
              </a:rPr>
              <a:t>3</a:t>
            </a:r>
          </a:p>
        </p:txBody>
      </p:sp>
      <p:sp>
        <p:nvSpPr>
          <p:cNvPr id="17" name="Rectangle 16"/>
          <p:cNvSpPr/>
          <p:nvPr/>
        </p:nvSpPr>
        <p:spPr>
          <a:xfrm>
            <a:off x="8942832" y="1512966"/>
            <a:ext cx="2880360" cy="56692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500" b="1" i="0">
                <a:solidFill>
                  <a:srgbClr val="202A35"/>
                </a:solidFill>
                <a:latin typeface="Aptos"/>
              </a:rPr>
              <a:t>Flipped examples move toward lower confidence</a:t>
            </a:r>
          </a:p>
        </p:txBody>
      </p:sp>
      <p:sp>
        <p:nvSpPr>
          <p:cNvPr id="19" name="Rectangle 18"/>
          <p:cNvSpPr/>
          <p:nvPr/>
        </p:nvSpPr>
        <p:spPr>
          <a:xfrm>
            <a:off x="822960" y="2816352"/>
            <a:ext cx="4846320" cy="3108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800" b="1" i="0">
                <a:solidFill>
                  <a:srgbClr val="202A35"/>
                </a:solidFill>
                <a:latin typeface="Aptos"/>
              </a:rPr>
              <a:t>Human reannotation of predicted groups</a:t>
            </a:r>
          </a:p>
        </p:txBody>
      </p:sp>
      <p:graphicFrame>
        <p:nvGraphicFramePr>
          <p:cNvPr id="20" name="Table 19"/>
          <p:cNvGraphicFramePr>
            <a:graphicFrameLocks noGrp="1"/>
          </p:cNvGraphicFramePr>
          <p:nvPr/>
        </p:nvGraphicFramePr>
        <p:xfrm>
          <a:off x="822960" y="3246120"/>
          <a:ext cx="4754880" cy="205740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685800">
                <a:tc>
                  <a:txBody>
                    <a:bodyPr/>
                    <a:lstStyle/>
                    <a:p>
                      <a:pPr algn="l"/>
                      <a:r>
                        <a:rPr sz="1200" b="1" i="0">
                          <a:solidFill>
                            <a:srgbClr val="202A35"/>
                          </a:solidFill>
                          <a:latin typeface="Aptos"/>
                        </a:rPr>
                        <a:t>Dataset</a:t>
                      </a:r>
                    </a:p>
                  </a:txBody>
                  <a:tcPr marL="54864" marR="54864">
                    <a:solidFill>
                      <a:srgbClr val="ECE9E2"/>
                    </a:solidFill>
                  </a:tcPr>
                </a:tc>
                <a:tc>
                  <a:txBody>
                    <a:bodyPr/>
                    <a:lstStyle/>
                    <a:p>
                      <a:pPr algn="ctr"/>
                      <a:r>
                        <a:rPr sz="1200" b="1" i="0">
                          <a:solidFill>
                            <a:srgbClr val="202A35"/>
                          </a:solidFill>
                          <a:latin typeface="Aptos"/>
                        </a:rPr>
                        <a:t>Predicted noisy</a:t>
                      </a:r>
                    </a:p>
                  </a:txBody>
                  <a:tcPr marL="54864" marR="54864">
                    <a:solidFill>
                      <a:srgbClr val="ECE9E2"/>
                    </a:solidFill>
                  </a:tcPr>
                </a:tc>
                <a:tc>
                  <a:txBody>
                    <a:bodyPr/>
                    <a:lstStyle/>
                    <a:p>
                      <a:pPr algn="ctr"/>
                      <a:r>
                        <a:rPr sz="1200" b="1" i="0">
                          <a:solidFill>
                            <a:srgbClr val="202A35"/>
                          </a:solidFill>
                          <a:latin typeface="Aptos"/>
                        </a:rPr>
                        <a:t>Predicted clean</a:t>
                      </a:r>
                    </a:p>
                  </a:txBody>
                  <a:tcPr marL="54864" marR="54864">
                    <a:solidFill>
                      <a:srgbClr val="ECE9E2"/>
                    </a:solidFill>
                  </a:tcPr>
                </a:tc>
                <a:extLst>
                  <a:ext uri="{0D108BD9-81ED-4DB2-BD59-A6C34878D82A}">
                    <a16:rowId xmlns:a16="http://schemas.microsoft.com/office/drawing/2014/main" val="10000"/>
                  </a:ext>
                </a:extLst>
              </a:tr>
              <a:tr h="685800">
                <a:tc>
                  <a:txBody>
                    <a:bodyPr/>
                    <a:lstStyle/>
                    <a:p>
                      <a:pPr algn="l"/>
                      <a:r>
                        <a:rPr sz="1300" b="0" i="0">
                          <a:solidFill>
                            <a:srgbClr val="202A35"/>
                          </a:solidFill>
                          <a:latin typeface="Aptos"/>
                        </a:rPr>
                        <a:t>WinoGrande</a:t>
                      </a:r>
                    </a:p>
                  </a:txBody>
                  <a:tcPr marL="54864" marR="54864" anchor="ctr">
                    <a:solidFill>
                      <a:srgbClr val="FFFFFF"/>
                    </a:solidFill>
                  </a:tcPr>
                </a:tc>
                <a:tc>
                  <a:txBody>
                    <a:bodyPr/>
                    <a:lstStyle/>
                    <a:p>
                      <a:pPr algn="ctr"/>
                      <a:r>
                        <a:rPr sz="1300" b="0" i="0">
                          <a:solidFill>
                            <a:srgbClr val="697386"/>
                          </a:solidFill>
                          <a:latin typeface="Aptos"/>
                        </a:rPr>
                        <a:t>67%</a:t>
                      </a:r>
                    </a:p>
                  </a:txBody>
                  <a:tcPr marL="54864" marR="54864" anchor="ctr">
                    <a:solidFill>
                      <a:srgbClr val="FFFFFF"/>
                    </a:solidFill>
                  </a:tcPr>
                </a:tc>
                <a:tc>
                  <a:txBody>
                    <a:bodyPr/>
                    <a:lstStyle/>
                    <a:p>
                      <a:pPr algn="ctr"/>
                      <a:r>
                        <a:rPr sz="1300" b="0" i="0">
                          <a:solidFill>
                            <a:srgbClr val="697386"/>
                          </a:solidFill>
                          <a:latin typeface="Aptos"/>
                        </a:rPr>
                        <a:t>13%</a:t>
                      </a:r>
                    </a:p>
                  </a:txBody>
                  <a:tcPr marL="54864" marR="54864" anchor="ctr">
                    <a:solidFill>
                      <a:srgbClr val="FFFFFF"/>
                    </a:solidFill>
                  </a:tcPr>
                </a:tc>
                <a:extLst>
                  <a:ext uri="{0D108BD9-81ED-4DB2-BD59-A6C34878D82A}">
                    <a16:rowId xmlns:a16="http://schemas.microsoft.com/office/drawing/2014/main" val="10001"/>
                  </a:ext>
                </a:extLst>
              </a:tr>
              <a:tr h="685800">
                <a:tc>
                  <a:txBody>
                    <a:bodyPr/>
                    <a:lstStyle/>
                    <a:p>
                      <a:pPr algn="l"/>
                      <a:r>
                        <a:rPr sz="1300" b="0" i="0">
                          <a:solidFill>
                            <a:srgbClr val="202A35"/>
                          </a:solidFill>
                          <a:latin typeface="Aptos"/>
                        </a:rPr>
                        <a:t>SNLI</a:t>
                      </a:r>
                    </a:p>
                  </a:txBody>
                  <a:tcPr marL="54864" marR="54864" anchor="ctr">
                    <a:solidFill>
                      <a:srgbClr val="F2F0EA"/>
                    </a:solidFill>
                  </a:tcPr>
                </a:tc>
                <a:tc>
                  <a:txBody>
                    <a:bodyPr/>
                    <a:lstStyle/>
                    <a:p>
                      <a:pPr algn="ctr"/>
                      <a:r>
                        <a:rPr sz="1300" b="0" i="0">
                          <a:solidFill>
                            <a:srgbClr val="697386"/>
                          </a:solidFill>
                          <a:latin typeface="Aptos"/>
                        </a:rPr>
                        <a:t>76%</a:t>
                      </a:r>
                    </a:p>
                  </a:txBody>
                  <a:tcPr marL="54864" marR="54864" anchor="ctr">
                    <a:solidFill>
                      <a:srgbClr val="F2F0EA"/>
                    </a:solidFill>
                  </a:tcPr>
                </a:tc>
                <a:tc>
                  <a:txBody>
                    <a:bodyPr/>
                    <a:lstStyle/>
                    <a:p>
                      <a:pPr algn="ctr"/>
                      <a:r>
                        <a:rPr sz="1300" b="0" i="0">
                          <a:solidFill>
                            <a:srgbClr val="697386"/>
                          </a:solidFill>
                          <a:latin typeface="Aptos"/>
                        </a:rPr>
                        <a:t>4%</a:t>
                      </a:r>
                    </a:p>
                  </a:txBody>
                  <a:tcPr marL="54864" marR="54864" anchor="ctr">
                    <a:solidFill>
                      <a:srgbClr val="F2F0EA"/>
                    </a:solidFill>
                  </a:tcPr>
                </a:tc>
                <a:extLst>
                  <a:ext uri="{0D108BD9-81ED-4DB2-BD59-A6C34878D82A}">
                    <a16:rowId xmlns:a16="http://schemas.microsoft.com/office/drawing/2014/main" val="10002"/>
                  </a:ext>
                </a:extLst>
              </a:tr>
            </a:tbl>
          </a:graphicData>
        </a:graphic>
      </p:graphicFrame>
      <p:sp>
        <p:nvSpPr>
          <p:cNvPr id="21" name="Rectangle 20"/>
          <p:cNvSpPr/>
          <p:nvPr/>
        </p:nvSpPr>
        <p:spPr>
          <a:xfrm>
            <a:off x="6199632" y="2816352"/>
            <a:ext cx="4572000" cy="3108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800" b="1" i="0">
                <a:solidFill>
                  <a:srgbClr val="B65C3A"/>
                </a:solidFill>
                <a:latin typeface="Aptos"/>
              </a:rPr>
              <a:t>Responsible interpretation</a:t>
            </a:r>
          </a:p>
        </p:txBody>
      </p:sp>
      <p:sp>
        <p:nvSpPr>
          <p:cNvPr id="22" name="Rectangle 21"/>
          <p:cNvSpPr/>
          <p:nvPr/>
        </p:nvSpPr>
        <p:spPr>
          <a:xfrm>
            <a:off x="6199632" y="3310128"/>
            <a:ext cx="4617720" cy="19659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spcAft>
                <a:spcPts val="1200"/>
              </a:spcAft>
            </a:pPr>
            <a:r>
              <a:rPr sz="869" b="1" i="0" dirty="0">
                <a:solidFill>
                  <a:srgbClr val="B65C3A"/>
                </a:solidFill>
                <a:latin typeface="Aptos"/>
              </a:rPr>
              <a:t>●  </a:t>
            </a:r>
            <a:r>
              <a:rPr sz="1500" b="0" i="0" dirty="0">
                <a:solidFill>
                  <a:srgbClr val="202A35"/>
                </a:solidFill>
                <a:latin typeface="Aptos"/>
              </a:rPr>
              <a:t>Low confidence is a useful review signal.</a:t>
            </a:r>
          </a:p>
          <a:p>
            <a:pPr algn="ctr">
              <a:spcAft>
                <a:spcPts val="1200"/>
              </a:spcAft>
            </a:pPr>
            <a:r>
              <a:rPr sz="869" b="1" i="0" dirty="0">
                <a:solidFill>
                  <a:srgbClr val="B65C3A"/>
                </a:solidFill>
                <a:latin typeface="Aptos"/>
              </a:rPr>
              <a:t>●  </a:t>
            </a:r>
            <a:r>
              <a:rPr sz="1500" b="0" i="0" dirty="0">
                <a:solidFill>
                  <a:srgbClr val="202A35"/>
                </a:solidFill>
                <a:latin typeface="Aptos"/>
              </a:rPr>
              <a:t>The region also contains legitimate difficult cases.</a:t>
            </a:r>
          </a:p>
          <a:p>
            <a:pPr algn="ctr">
              <a:spcAft>
                <a:spcPts val="1200"/>
              </a:spcAft>
            </a:pPr>
            <a:r>
              <a:rPr sz="869" b="1" i="0" dirty="0">
                <a:solidFill>
                  <a:srgbClr val="B65C3A"/>
                </a:solidFill>
                <a:latin typeface="Aptos"/>
              </a:rPr>
              <a:t>●  </a:t>
            </a:r>
            <a:r>
              <a:rPr sz="1500" b="0" i="0" dirty="0">
                <a:solidFill>
                  <a:srgbClr val="202A35"/>
                </a:solidFill>
                <a:latin typeface="Aptos"/>
              </a:rPr>
              <a:t>Hard-to-learn does not mean mislabeled.</a:t>
            </a:r>
          </a:p>
        </p:txBody>
      </p:sp>
      <p:sp>
        <p:nvSpPr>
          <p:cNvPr id="23" name="Rectangle 22"/>
          <p:cNvSpPr/>
          <p:nvPr/>
        </p:nvSpPr>
        <p:spPr>
          <a:xfrm>
            <a:off x="914400" y="5742432"/>
            <a:ext cx="1028700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800" b="1" i="0">
                <a:solidFill>
                  <a:srgbClr val="202A35"/>
                </a:solidFill>
                <a:latin typeface="Aptos"/>
              </a:rPr>
              <a:t>Data maps prioritize inspection; they do not replace annotation review.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697386"/>
                </a:solidFill>
                <a:latin typeface="Aptos"/>
              </a:rPr>
              <a:t>PAPER</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The selected SNLI experiment tests data efficiency and generalization</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14</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720" b="0" i="0">
                <a:solidFill>
                  <a:srgbClr val="5F6B75"/>
                </a:solidFill>
                <a:latin typeface="Aptos"/>
              </a:rPr>
              <a:t>Published values: Swayamdipta et al. (2020), Table 3; best of 3 random seeds.</a:t>
            </a:r>
          </a:p>
        </p:txBody>
      </p:sp>
      <p:sp>
        <p:nvSpPr>
          <p:cNvPr id="7" name="Rectangle 6"/>
          <p:cNvSpPr/>
          <p:nvPr/>
        </p:nvSpPr>
        <p:spPr>
          <a:xfrm>
            <a:off x="713232" y="1298448"/>
            <a:ext cx="516636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100" b="1" i="0">
                <a:solidFill>
                  <a:srgbClr val="697386"/>
                </a:solidFill>
                <a:latin typeface="Aptos"/>
              </a:rPr>
              <a:t>IN-DISTRIBUTION (ID)</a:t>
            </a:r>
          </a:p>
        </p:txBody>
      </p:sp>
      <p:sp>
        <p:nvSpPr>
          <p:cNvPr id="8" name="Rectangle 7"/>
          <p:cNvSpPr/>
          <p:nvPr/>
        </p:nvSpPr>
        <p:spPr>
          <a:xfrm>
            <a:off x="713232" y="1682496"/>
            <a:ext cx="5166360" cy="5486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500" b="1" i="0">
                <a:solidFill>
                  <a:srgbClr val="202A35"/>
                </a:solidFill>
                <a:latin typeface="Aptos"/>
              </a:rPr>
              <a:t>SNLI test set</a:t>
            </a:r>
          </a:p>
        </p:txBody>
      </p:sp>
      <p:sp>
        <p:nvSpPr>
          <p:cNvPr id="9" name="Rectangle 8"/>
          <p:cNvSpPr/>
          <p:nvPr/>
        </p:nvSpPr>
        <p:spPr>
          <a:xfrm>
            <a:off x="713232" y="2331720"/>
            <a:ext cx="5166360" cy="8229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700" b="0" i="0" dirty="0">
                <a:solidFill>
                  <a:srgbClr val="5F6B75"/>
                </a:solidFill>
                <a:latin typeface="Aptos"/>
              </a:rPr>
              <a:t>Same collection process and task distribution as training.</a:t>
            </a:r>
          </a:p>
        </p:txBody>
      </p:sp>
      <p:cxnSp>
        <p:nvCxnSpPr>
          <p:cNvPr id="10" name="Connector 9"/>
          <p:cNvCxnSpPr/>
          <p:nvPr/>
        </p:nvCxnSpPr>
        <p:spPr>
          <a:xfrm>
            <a:off x="6016752" y="1261872"/>
            <a:ext cx="0" cy="1892808"/>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382512" y="1298448"/>
            <a:ext cx="493776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100" b="1" i="0">
                <a:solidFill>
                  <a:srgbClr val="697386"/>
                </a:solidFill>
                <a:latin typeface="Aptos"/>
              </a:rPr>
              <a:t>OUT-OF-DISTRIBUTION (OOD)</a:t>
            </a:r>
          </a:p>
        </p:txBody>
      </p:sp>
      <p:sp>
        <p:nvSpPr>
          <p:cNvPr id="12" name="Rectangle 11"/>
          <p:cNvSpPr/>
          <p:nvPr/>
        </p:nvSpPr>
        <p:spPr>
          <a:xfrm>
            <a:off x="6382512" y="1682496"/>
            <a:ext cx="4937760" cy="5486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500" b="1" i="0">
                <a:solidFill>
                  <a:srgbClr val="202A35"/>
                </a:solidFill>
                <a:latin typeface="Aptos"/>
              </a:rPr>
              <a:t>NLI Diagnostics</a:t>
            </a:r>
          </a:p>
        </p:txBody>
      </p:sp>
      <p:sp>
        <p:nvSpPr>
          <p:cNvPr id="13" name="Rectangle 12"/>
          <p:cNvSpPr/>
          <p:nvPr/>
        </p:nvSpPr>
        <p:spPr>
          <a:xfrm>
            <a:off x="6382512" y="2331720"/>
            <a:ext cx="4937760" cy="82296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600" b="0" i="0" dirty="0">
                <a:solidFill>
                  <a:srgbClr val="5F6B75"/>
                </a:solidFill>
                <a:latin typeface="Aptos"/>
              </a:rPr>
              <a:t>1,104 hand-crafted examples probing lexical semantics, logic, predicate–argument structure, and knowledge.</a:t>
            </a:r>
          </a:p>
        </p:txBody>
      </p:sp>
      <p:graphicFrame>
        <p:nvGraphicFramePr>
          <p:cNvPr id="14" name="Table 13"/>
          <p:cNvGraphicFramePr>
            <a:graphicFrameLocks noGrp="1"/>
          </p:cNvGraphicFramePr>
          <p:nvPr/>
        </p:nvGraphicFramePr>
        <p:xfrm>
          <a:off x="1216152" y="3429000"/>
          <a:ext cx="9692640" cy="2084831"/>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416966">
                <a:tc>
                  <a:txBody>
                    <a:bodyPr/>
                    <a:lstStyle/>
                    <a:p>
                      <a:pPr algn="l"/>
                      <a:r>
                        <a:rPr sz="1200" b="1" i="0">
                          <a:solidFill>
                            <a:srgbClr val="202A35"/>
                          </a:solidFill>
                          <a:latin typeface="Aptos"/>
                        </a:rPr>
                        <a:t>Training data</a:t>
                      </a:r>
                    </a:p>
                  </a:txBody>
                  <a:tcPr marL="54864" marR="54864">
                    <a:solidFill>
                      <a:srgbClr val="ECE9E2"/>
                    </a:solidFill>
                  </a:tcPr>
                </a:tc>
                <a:tc>
                  <a:txBody>
                    <a:bodyPr/>
                    <a:lstStyle/>
                    <a:p>
                      <a:pPr algn="ctr"/>
                      <a:r>
                        <a:rPr sz="1200" b="1" i="0">
                          <a:solidFill>
                            <a:srgbClr val="202A35"/>
                          </a:solidFill>
                          <a:latin typeface="Aptos"/>
                        </a:rPr>
                        <a:t>Examples used</a:t>
                      </a:r>
                    </a:p>
                  </a:txBody>
                  <a:tcPr marL="54864" marR="54864">
                    <a:solidFill>
                      <a:srgbClr val="ECE9E2"/>
                    </a:solidFill>
                  </a:tcPr>
                </a:tc>
                <a:tc>
                  <a:txBody>
                    <a:bodyPr/>
                    <a:lstStyle/>
                    <a:p>
                      <a:pPr algn="ctr"/>
                      <a:r>
                        <a:rPr sz="1200" b="1" i="0">
                          <a:solidFill>
                            <a:srgbClr val="202A35"/>
                          </a:solidFill>
                          <a:latin typeface="Aptos"/>
                        </a:rPr>
                        <a:t>SNLI test</a:t>
                      </a:r>
                    </a:p>
                  </a:txBody>
                  <a:tcPr marL="54864" marR="54864">
                    <a:solidFill>
                      <a:srgbClr val="ECE9E2"/>
                    </a:solidFill>
                  </a:tcPr>
                </a:tc>
                <a:tc>
                  <a:txBody>
                    <a:bodyPr/>
                    <a:lstStyle/>
                    <a:p>
                      <a:pPr algn="ctr"/>
                      <a:r>
                        <a:rPr sz="1200" b="1" i="0">
                          <a:solidFill>
                            <a:srgbClr val="202A35"/>
                          </a:solidFill>
                          <a:latin typeface="Aptos"/>
                        </a:rPr>
                        <a:t>Diagnostics</a:t>
                      </a:r>
                    </a:p>
                  </a:txBody>
                  <a:tcPr marL="54864" marR="54864">
                    <a:solidFill>
                      <a:srgbClr val="ECE9E2"/>
                    </a:solidFill>
                  </a:tcPr>
                </a:tc>
                <a:extLst>
                  <a:ext uri="{0D108BD9-81ED-4DB2-BD59-A6C34878D82A}">
                    <a16:rowId xmlns:a16="http://schemas.microsoft.com/office/drawing/2014/main" val="10000"/>
                  </a:ext>
                </a:extLst>
              </a:tr>
              <a:tr h="416966">
                <a:tc>
                  <a:txBody>
                    <a:bodyPr/>
                    <a:lstStyle/>
                    <a:p>
                      <a:pPr algn="l"/>
                      <a:r>
                        <a:rPr sz="1300" b="0" i="0">
                          <a:solidFill>
                            <a:srgbClr val="202A35"/>
                          </a:solidFill>
                          <a:latin typeface="Aptos"/>
                        </a:rPr>
                        <a:t>Full</a:t>
                      </a:r>
                    </a:p>
                  </a:txBody>
                  <a:tcPr marL="54864" marR="54864" anchor="ctr">
                    <a:solidFill>
                      <a:srgbClr val="FFFFFF"/>
                    </a:solidFill>
                  </a:tcPr>
                </a:tc>
                <a:tc>
                  <a:txBody>
                    <a:bodyPr/>
                    <a:lstStyle/>
                    <a:p>
                      <a:pPr algn="ctr"/>
                      <a:r>
                        <a:rPr sz="1300" b="0" i="0">
                          <a:solidFill>
                            <a:srgbClr val="202A35"/>
                          </a:solidFill>
                          <a:latin typeface="Aptos"/>
                        </a:rPr>
                        <a:t>100%</a:t>
                      </a:r>
                    </a:p>
                  </a:txBody>
                  <a:tcPr marL="54864" marR="54864" anchor="ctr">
                    <a:solidFill>
                      <a:srgbClr val="FFFFFF"/>
                    </a:solidFill>
                  </a:tcPr>
                </a:tc>
                <a:tc>
                  <a:txBody>
                    <a:bodyPr/>
                    <a:lstStyle/>
                    <a:p>
                      <a:pPr algn="ctr"/>
                      <a:r>
                        <a:rPr sz="1300" b="0" i="0">
                          <a:solidFill>
                            <a:srgbClr val="697386"/>
                          </a:solidFill>
                          <a:latin typeface="Aptos"/>
                        </a:rPr>
                        <a:t>92.0</a:t>
                      </a:r>
                    </a:p>
                  </a:txBody>
                  <a:tcPr marL="54864" marR="54864" anchor="ctr">
                    <a:solidFill>
                      <a:srgbClr val="FFFFFF"/>
                    </a:solidFill>
                  </a:tcPr>
                </a:tc>
                <a:tc>
                  <a:txBody>
                    <a:bodyPr/>
                    <a:lstStyle/>
                    <a:p>
                      <a:pPr algn="ctr"/>
                      <a:r>
                        <a:rPr sz="1300" b="0" i="0">
                          <a:solidFill>
                            <a:srgbClr val="697386"/>
                          </a:solidFill>
                          <a:latin typeface="Aptos"/>
                        </a:rPr>
                        <a:t>61.8</a:t>
                      </a:r>
                    </a:p>
                  </a:txBody>
                  <a:tcPr marL="54864" marR="54864" anchor="ctr">
                    <a:solidFill>
                      <a:srgbClr val="FFFFFF"/>
                    </a:solidFill>
                  </a:tcPr>
                </a:tc>
                <a:extLst>
                  <a:ext uri="{0D108BD9-81ED-4DB2-BD59-A6C34878D82A}">
                    <a16:rowId xmlns:a16="http://schemas.microsoft.com/office/drawing/2014/main" val="10001"/>
                  </a:ext>
                </a:extLst>
              </a:tr>
              <a:tr h="416966">
                <a:tc>
                  <a:txBody>
                    <a:bodyPr/>
                    <a:lstStyle/>
                    <a:p>
                      <a:pPr algn="l"/>
                      <a:r>
                        <a:rPr sz="1300" b="0" i="0">
                          <a:solidFill>
                            <a:srgbClr val="202A35"/>
                          </a:solidFill>
                          <a:latin typeface="Aptos"/>
                        </a:rPr>
                        <a:t>Random</a:t>
                      </a:r>
                    </a:p>
                  </a:txBody>
                  <a:tcPr marL="54864" marR="54864" anchor="ctr">
                    <a:solidFill>
                      <a:srgbClr val="F2F0EA"/>
                    </a:solidFill>
                  </a:tcPr>
                </a:tc>
                <a:tc>
                  <a:txBody>
                    <a:bodyPr/>
                    <a:lstStyle/>
                    <a:p>
                      <a:pPr algn="ctr"/>
                      <a:r>
                        <a:rPr sz="1300" b="0" i="0">
                          <a:solidFill>
                            <a:srgbClr val="202A35"/>
                          </a:solidFill>
                          <a:latin typeface="Aptos"/>
                        </a:rPr>
                        <a:t>33%</a:t>
                      </a:r>
                    </a:p>
                  </a:txBody>
                  <a:tcPr marL="54864" marR="54864" anchor="ctr">
                    <a:solidFill>
                      <a:srgbClr val="F2F0EA"/>
                    </a:solidFill>
                  </a:tcPr>
                </a:tc>
                <a:tc>
                  <a:txBody>
                    <a:bodyPr/>
                    <a:lstStyle/>
                    <a:p>
                      <a:pPr algn="ctr"/>
                      <a:r>
                        <a:rPr sz="1300" b="0" i="0">
                          <a:solidFill>
                            <a:srgbClr val="697386"/>
                          </a:solidFill>
                          <a:latin typeface="Aptos"/>
                        </a:rPr>
                        <a:t>91.3</a:t>
                      </a:r>
                    </a:p>
                  </a:txBody>
                  <a:tcPr marL="54864" marR="54864" anchor="ctr">
                    <a:solidFill>
                      <a:srgbClr val="F2F0EA"/>
                    </a:solidFill>
                  </a:tcPr>
                </a:tc>
                <a:tc>
                  <a:txBody>
                    <a:bodyPr/>
                    <a:lstStyle/>
                    <a:p>
                      <a:pPr algn="ctr"/>
                      <a:r>
                        <a:rPr sz="1300" b="0" i="0">
                          <a:solidFill>
                            <a:srgbClr val="697386"/>
                          </a:solidFill>
                          <a:latin typeface="Aptos"/>
                        </a:rPr>
                        <a:t>60.4</a:t>
                      </a:r>
                    </a:p>
                  </a:txBody>
                  <a:tcPr marL="54864" marR="54864" anchor="ctr">
                    <a:solidFill>
                      <a:srgbClr val="F2F0EA"/>
                    </a:solidFill>
                  </a:tcPr>
                </a:tc>
                <a:extLst>
                  <a:ext uri="{0D108BD9-81ED-4DB2-BD59-A6C34878D82A}">
                    <a16:rowId xmlns:a16="http://schemas.microsoft.com/office/drawing/2014/main" val="10002"/>
                  </a:ext>
                </a:extLst>
              </a:tr>
              <a:tr h="416966">
                <a:tc>
                  <a:txBody>
                    <a:bodyPr/>
                    <a:lstStyle/>
                    <a:p>
                      <a:pPr algn="l"/>
                      <a:r>
                        <a:rPr sz="1300" b="0" i="0">
                          <a:solidFill>
                            <a:srgbClr val="202A35"/>
                          </a:solidFill>
                          <a:latin typeface="Aptos"/>
                        </a:rPr>
                        <a:t>Hard-to-learn</a:t>
                      </a:r>
                    </a:p>
                  </a:txBody>
                  <a:tcPr marL="54864" marR="54864" anchor="ctr">
                    <a:solidFill>
                      <a:srgbClr val="FFFFFF"/>
                    </a:solidFill>
                  </a:tcPr>
                </a:tc>
                <a:tc>
                  <a:txBody>
                    <a:bodyPr/>
                    <a:lstStyle/>
                    <a:p>
                      <a:pPr algn="ctr"/>
                      <a:r>
                        <a:rPr sz="1300" b="0" i="0">
                          <a:solidFill>
                            <a:srgbClr val="202A35"/>
                          </a:solidFill>
                          <a:latin typeface="Aptos"/>
                        </a:rPr>
                        <a:t>33%</a:t>
                      </a:r>
                    </a:p>
                  </a:txBody>
                  <a:tcPr marL="54864" marR="54864" anchor="ctr">
                    <a:solidFill>
                      <a:srgbClr val="FFFFFF"/>
                    </a:solidFill>
                  </a:tcPr>
                </a:tc>
                <a:tc>
                  <a:txBody>
                    <a:bodyPr/>
                    <a:lstStyle/>
                    <a:p>
                      <a:pPr algn="ctr"/>
                      <a:r>
                        <a:rPr sz="1300" b="0" i="0">
                          <a:solidFill>
                            <a:srgbClr val="697386"/>
                          </a:solidFill>
                          <a:latin typeface="Aptos"/>
                        </a:rPr>
                        <a:t>91.8</a:t>
                      </a:r>
                    </a:p>
                  </a:txBody>
                  <a:tcPr marL="54864" marR="54864" anchor="ctr">
                    <a:solidFill>
                      <a:srgbClr val="FFFFFF"/>
                    </a:solidFill>
                  </a:tcPr>
                </a:tc>
                <a:tc>
                  <a:txBody>
                    <a:bodyPr/>
                    <a:lstStyle/>
                    <a:p>
                      <a:pPr algn="ctr"/>
                      <a:r>
                        <a:rPr sz="1300" b="0" i="0">
                          <a:solidFill>
                            <a:srgbClr val="697386"/>
                          </a:solidFill>
                          <a:latin typeface="Aptos"/>
                        </a:rPr>
                        <a:t>62.0</a:t>
                      </a:r>
                    </a:p>
                  </a:txBody>
                  <a:tcPr marL="54864" marR="54864" anchor="ctr">
                    <a:solidFill>
                      <a:srgbClr val="FFFFFF"/>
                    </a:solidFill>
                  </a:tcPr>
                </a:tc>
                <a:extLst>
                  <a:ext uri="{0D108BD9-81ED-4DB2-BD59-A6C34878D82A}">
                    <a16:rowId xmlns:a16="http://schemas.microsoft.com/office/drawing/2014/main" val="10003"/>
                  </a:ext>
                </a:extLst>
              </a:tr>
              <a:tr h="416967">
                <a:tc>
                  <a:txBody>
                    <a:bodyPr/>
                    <a:lstStyle/>
                    <a:p>
                      <a:pPr algn="l"/>
                      <a:r>
                        <a:rPr sz="1300" b="0" i="0">
                          <a:solidFill>
                            <a:srgbClr val="202A35"/>
                          </a:solidFill>
                          <a:latin typeface="Aptos"/>
                        </a:rPr>
                        <a:t>Ambiguous</a:t>
                      </a:r>
                    </a:p>
                  </a:txBody>
                  <a:tcPr marL="54864" marR="54864" anchor="ctr">
                    <a:solidFill>
                      <a:srgbClr val="F2F0EA"/>
                    </a:solidFill>
                  </a:tcPr>
                </a:tc>
                <a:tc>
                  <a:txBody>
                    <a:bodyPr/>
                    <a:lstStyle/>
                    <a:p>
                      <a:pPr algn="ctr"/>
                      <a:r>
                        <a:rPr sz="1300" b="0" i="0">
                          <a:solidFill>
                            <a:srgbClr val="202A35"/>
                          </a:solidFill>
                          <a:latin typeface="Aptos"/>
                        </a:rPr>
                        <a:t>33%</a:t>
                      </a:r>
                    </a:p>
                  </a:txBody>
                  <a:tcPr marL="54864" marR="54864" anchor="ctr">
                    <a:solidFill>
                      <a:srgbClr val="F2F0EA"/>
                    </a:solidFill>
                  </a:tcPr>
                </a:tc>
                <a:tc>
                  <a:txBody>
                    <a:bodyPr/>
                    <a:lstStyle/>
                    <a:p>
                      <a:pPr algn="ctr"/>
                      <a:r>
                        <a:rPr sz="1300" b="0" i="0">
                          <a:solidFill>
                            <a:srgbClr val="697386"/>
                          </a:solidFill>
                          <a:latin typeface="Aptos"/>
                        </a:rPr>
                        <a:t>92.2</a:t>
                      </a:r>
                    </a:p>
                  </a:txBody>
                  <a:tcPr marL="54864" marR="54864" anchor="ctr">
                    <a:solidFill>
                      <a:srgbClr val="F2F0EA"/>
                    </a:solidFill>
                  </a:tcPr>
                </a:tc>
                <a:tc>
                  <a:txBody>
                    <a:bodyPr/>
                    <a:lstStyle/>
                    <a:p>
                      <a:pPr algn="ctr"/>
                      <a:r>
                        <a:rPr sz="1300" b="0" i="0">
                          <a:solidFill>
                            <a:srgbClr val="697386"/>
                          </a:solidFill>
                          <a:latin typeface="Aptos"/>
                        </a:rPr>
                        <a:t>63.5</a:t>
                      </a:r>
                    </a:p>
                  </a:txBody>
                  <a:tcPr marL="54864" marR="54864" anchor="ctr">
                    <a:solidFill>
                      <a:srgbClr val="F2F0EA"/>
                    </a:solidFill>
                  </a:tcPr>
                </a:tc>
                <a:extLst>
                  <a:ext uri="{0D108BD9-81ED-4DB2-BD59-A6C34878D82A}">
                    <a16:rowId xmlns:a16="http://schemas.microsoft.com/office/drawing/2014/main" val="10004"/>
                  </a:ext>
                </a:extLst>
              </a:tr>
            </a:tbl>
          </a:graphicData>
        </a:graphic>
      </p:graphicFrame>
      <p:sp>
        <p:nvSpPr>
          <p:cNvPr id="15" name="Rectangle 14"/>
          <p:cNvSpPr/>
          <p:nvPr/>
        </p:nvSpPr>
        <p:spPr>
          <a:xfrm>
            <a:off x="1051560" y="5696712"/>
            <a:ext cx="10104120" cy="47548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1550" b="1" i="0">
                <a:solidFill>
                  <a:srgbClr val="B65C3A"/>
                </a:solidFill>
                <a:latin typeface="Aptos"/>
              </a:rPr>
              <a:t>Question: can one third of SNLI retain ID performance and improve diagnostic generalization?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B65C3A"/>
                </a:solidFill>
                <a:latin typeface="Aptos"/>
              </a:rPr>
              <a:t>OUR REPRODUCTION</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Reproduction protocol follows the published SNLI selection</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15</a:t>
            </a:r>
          </a:p>
        </p:txBody>
      </p:sp>
      <p:sp>
        <p:nvSpPr>
          <p:cNvPr id="6" name="Rectangle 5"/>
          <p:cNvSpPr/>
          <p:nvPr/>
        </p:nvSpPr>
        <p:spPr>
          <a:xfrm>
            <a:off x="475488" y="1481328"/>
            <a:ext cx="1965960" cy="1298448"/>
          </a:xfrm>
          <a:prstGeom prst="rect">
            <a:avLst/>
          </a:prstGeom>
          <a:solidFill>
            <a:srgbClr val="FFFFFF"/>
          </a:solidFill>
          <a:ln w="10160">
            <a:solidFill>
              <a:srgbClr val="6973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12648" y="1709928"/>
            <a:ext cx="169164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500" b="1" i="0">
                <a:solidFill>
                  <a:srgbClr val="202A35"/>
                </a:solidFill>
                <a:latin typeface="Aptos"/>
              </a:rPr>
              <a:t>SNLI 1.0</a:t>
            </a:r>
          </a:p>
        </p:txBody>
      </p:sp>
      <p:sp>
        <p:nvSpPr>
          <p:cNvPr id="8" name="Rectangle 7"/>
          <p:cNvSpPr/>
          <p:nvPr/>
        </p:nvSpPr>
        <p:spPr>
          <a:xfrm>
            <a:off x="612648" y="2093976"/>
            <a:ext cx="1691640" cy="42062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100" b="0" i="0">
                <a:solidFill>
                  <a:srgbClr val="5F6B75"/>
                </a:solidFill>
                <a:latin typeface="Aptos"/>
              </a:rPr>
              <a:t>549,367 valid train pairs</a:t>
            </a:r>
          </a:p>
        </p:txBody>
      </p:sp>
      <p:sp>
        <p:nvSpPr>
          <p:cNvPr id="9" name="Rectangle 8"/>
          <p:cNvSpPr/>
          <p:nvPr/>
        </p:nvSpPr>
        <p:spPr>
          <a:xfrm>
            <a:off x="2450592" y="1874519"/>
            <a:ext cx="347472"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000" b="1" i="0">
                <a:solidFill>
                  <a:srgbClr val="5F6B75"/>
                </a:solidFill>
                <a:latin typeface="Aptos"/>
              </a:rPr>
              <a:t>→</a:t>
            </a:r>
          </a:p>
        </p:txBody>
      </p:sp>
      <p:sp>
        <p:nvSpPr>
          <p:cNvPr id="10" name="Rectangle 9"/>
          <p:cNvSpPr/>
          <p:nvPr/>
        </p:nvSpPr>
        <p:spPr>
          <a:xfrm>
            <a:off x="2825496" y="1481328"/>
            <a:ext cx="1965960" cy="1298448"/>
          </a:xfrm>
          <a:prstGeom prst="rect">
            <a:avLst/>
          </a:prstGeom>
          <a:solidFill>
            <a:srgbClr val="FFFFFF"/>
          </a:solidFill>
          <a:ln w="10160">
            <a:solidFill>
              <a:srgbClr val="6973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962656" y="1709928"/>
            <a:ext cx="169164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500" b="1" i="0">
                <a:solidFill>
                  <a:srgbClr val="202A35"/>
                </a:solidFill>
                <a:latin typeface="Aptos"/>
              </a:rPr>
              <a:t>Paper coordinates</a:t>
            </a:r>
          </a:p>
        </p:txBody>
      </p:sp>
      <p:sp>
        <p:nvSpPr>
          <p:cNvPr id="12" name="Rectangle 11"/>
          <p:cNvSpPr/>
          <p:nvPr/>
        </p:nvSpPr>
        <p:spPr>
          <a:xfrm>
            <a:off x="2962656" y="2093976"/>
            <a:ext cx="1691640" cy="42062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100" b="0" i="0">
                <a:solidFill>
                  <a:srgbClr val="5F6B75"/>
                </a:solidFill>
                <a:latin typeface="Aptos"/>
              </a:rPr>
              <a:t>confidence + variability</a:t>
            </a:r>
          </a:p>
        </p:txBody>
      </p:sp>
      <p:sp>
        <p:nvSpPr>
          <p:cNvPr id="13" name="Rectangle 12"/>
          <p:cNvSpPr/>
          <p:nvPr/>
        </p:nvSpPr>
        <p:spPr>
          <a:xfrm>
            <a:off x="4800600" y="1874519"/>
            <a:ext cx="347472"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000" b="1" i="0">
                <a:solidFill>
                  <a:srgbClr val="5F6B75"/>
                </a:solidFill>
                <a:latin typeface="Aptos"/>
              </a:rPr>
              <a:t>→</a:t>
            </a:r>
          </a:p>
        </p:txBody>
      </p:sp>
      <p:sp>
        <p:nvSpPr>
          <p:cNvPr id="14" name="Rectangle 13"/>
          <p:cNvSpPr/>
          <p:nvPr/>
        </p:nvSpPr>
        <p:spPr>
          <a:xfrm>
            <a:off x="5175504" y="1481328"/>
            <a:ext cx="1965960" cy="1298448"/>
          </a:xfrm>
          <a:prstGeom prst="rect">
            <a:avLst/>
          </a:prstGeom>
          <a:solidFill>
            <a:srgbClr val="FFFFFF"/>
          </a:solidFill>
          <a:ln w="10160">
            <a:solidFill>
              <a:srgbClr val="6973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312664" y="1709928"/>
            <a:ext cx="169164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500" b="1" i="0">
                <a:solidFill>
                  <a:srgbClr val="202A35"/>
                </a:solidFill>
                <a:latin typeface="Aptos"/>
              </a:rPr>
              <a:t>Four conditions</a:t>
            </a:r>
          </a:p>
        </p:txBody>
      </p:sp>
      <p:sp>
        <p:nvSpPr>
          <p:cNvPr id="16" name="Rectangle 15"/>
          <p:cNvSpPr/>
          <p:nvPr/>
        </p:nvSpPr>
        <p:spPr>
          <a:xfrm>
            <a:off x="5312664" y="2093976"/>
            <a:ext cx="1691640" cy="42062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100" b="0" i="0">
                <a:solidFill>
                  <a:srgbClr val="5F6B75"/>
                </a:solidFill>
                <a:latin typeface="Aptos"/>
              </a:rPr>
              <a:t>full · random · ambiguous · hard</a:t>
            </a:r>
          </a:p>
        </p:txBody>
      </p:sp>
      <p:sp>
        <p:nvSpPr>
          <p:cNvPr id="17" name="Rectangle 16"/>
          <p:cNvSpPr/>
          <p:nvPr/>
        </p:nvSpPr>
        <p:spPr>
          <a:xfrm>
            <a:off x="7150608" y="1874519"/>
            <a:ext cx="347472"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000" b="1" i="0">
                <a:solidFill>
                  <a:srgbClr val="5F6B75"/>
                </a:solidFill>
                <a:latin typeface="Aptos"/>
              </a:rPr>
              <a:t>→</a:t>
            </a:r>
          </a:p>
        </p:txBody>
      </p:sp>
      <p:sp>
        <p:nvSpPr>
          <p:cNvPr id="18" name="Rectangle 17"/>
          <p:cNvSpPr/>
          <p:nvPr/>
        </p:nvSpPr>
        <p:spPr>
          <a:xfrm>
            <a:off x="7525511" y="1481328"/>
            <a:ext cx="1965960" cy="1298448"/>
          </a:xfrm>
          <a:prstGeom prst="rect">
            <a:avLst/>
          </a:prstGeom>
          <a:solidFill>
            <a:srgbClr val="FFFFFF"/>
          </a:solidFill>
          <a:ln w="10160">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662671" y="1709928"/>
            <a:ext cx="169164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500" b="1" i="0">
                <a:solidFill>
                  <a:srgbClr val="202A35"/>
                </a:solidFill>
                <a:latin typeface="Aptos"/>
              </a:rPr>
              <a:t>RoBERTa-large</a:t>
            </a:r>
          </a:p>
        </p:txBody>
      </p:sp>
      <p:sp>
        <p:nvSpPr>
          <p:cNvPr id="20" name="Rectangle 19"/>
          <p:cNvSpPr/>
          <p:nvPr/>
        </p:nvSpPr>
        <p:spPr>
          <a:xfrm>
            <a:off x="7662671" y="2093976"/>
            <a:ext cx="1691640" cy="42062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100" b="0" i="0">
                <a:solidFill>
                  <a:srgbClr val="5F6B75"/>
                </a:solidFill>
                <a:latin typeface="Aptos"/>
              </a:rPr>
              <a:t>one seed per condition</a:t>
            </a:r>
          </a:p>
        </p:txBody>
      </p:sp>
      <p:sp>
        <p:nvSpPr>
          <p:cNvPr id="21" name="Rectangle 20"/>
          <p:cNvSpPr/>
          <p:nvPr/>
        </p:nvSpPr>
        <p:spPr>
          <a:xfrm>
            <a:off x="9500615" y="1874519"/>
            <a:ext cx="347472" cy="32004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000" b="1" i="0">
                <a:solidFill>
                  <a:srgbClr val="5F6B75"/>
                </a:solidFill>
                <a:latin typeface="Aptos"/>
              </a:rPr>
              <a:t>→</a:t>
            </a:r>
          </a:p>
        </p:txBody>
      </p:sp>
      <p:sp>
        <p:nvSpPr>
          <p:cNvPr id="22" name="Rectangle 21"/>
          <p:cNvSpPr/>
          <p:nvPr/>
        </p:nvSpPr>
        <p:spPr>
          <a:xfrm>
            <a:off x="9875519" y="1481328"/>
            <a:ext cx="1965960" cy="1298448"/>
          </a:xfrm>
          <a:prstGeom prst="rect">
            <a:avLst/>
          </a:prstGeom>
          <a:solidFill>
            <a:srgbClr val="FFFFFF"/>
          </a:solidFill>
          <a:ln w="10160">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0012680" y="1709928"/>
            <a:ext cx="169164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500" b="1" i="0">
                <a:solidFill>
                  <a:srgbClr val="202A35"/>
                </a:solidFill>
                <a:latin typeface="Aptos"/>
              </a:rPr>
              <a:t>Two evaluations</a:t>
            </a:r>
          </a:p>
        </p:txBody>
      </p:sp>
      <p:sp>
        <p:nvSpPr>
          <p:cNvPr id="24" name="Rectangle 23"/>
          <p:cNvSpPr/>
          <p:nvPr/>
        </p:nvSpPr>
        <p:spPr>
          <a:xfrm>
            <a:off x="10012680" y="2093976"/>
            <a:ext cx="1691640" cy="42062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100" b="0" i="0">
                <a:solidFill>
                  <a:srgbClr val="5F6B75"/>
                </a:solidFill>
                <a:latin typeface="Aptos"/>
              </a:rPr>
              <a:t>SNLI test · Diagnostics</a:t>
            </a:r>
          </a:p>
        </p:txBody>
      </p:sp>
      <p:sp>
        <p:nvSpPr>
          <p:cNvPr id="25" name="Rectangle 24"/>
          <p:cNvSpPr/>
          <p:nvPr/>
        </p:nvSpPr>
        <p:spPr>
          <a:xfrm>
            <a:off x="676656" y="3264408"/>
            <a:ext cx="5349240" cy="3108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800" b="1" i="0">
                <a:solidFill>
                  <a:srgbClr val="202A35"/>
                </a:solidFill>
                <a:latin typeface="Aptos"/>
              </a:rPr>
              <a:t>Selection definitions</a:t>
            </a:r>
          </a:p>
        </p:txBody>
      </p:sp>
      <p:sp>
        <p:nvSpPr>
          <p:cNvPr id="26" name="Rectangle 25"/>
          <p:cNvSpPr/>
          <p:nvPr/>
        </p:nvSpPr>
        <p:spPr>
          <a:xfrm>
            <a:off x="676656" y="3694176"/>
            <a:ext cx="5212080" cy="17556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spcAft>
                <a:spcPts val="1100"/>
              </a:spcAft>
            </a:pPr>
            <a:r>
              <a:rPr sz="869" b="1" i="0" dirty="0">
                <a:solidFill>
                  <a:srgbClr val="697386"/>
                </a:solidFill>
                <a:latin typeface="Aptos"/>
              </a:rPr>
              <a:t>●  </a:t>
            </a:r>
            <a:r>
              <a:rPr sz="1500" b="0" i="0" dirty="0">
                <a:solidFill>
                  <a:srgbClr val="202A35"/>
                </a:solidFill>
                <a:latin typeface="Aptos"/>
              </a:rPr>
              <a:t>Random: published 33% sampling procedure</a:t>
            </a:r>
          </a:p>
          <a:p>
            <a:pPr algn="ctr">
              <a:spcAft>
                <a:spcPts val="1100"/>
              </a:spcAft>
            </a:pPr>
            <a:r>
              <a:rPr sz="869" b="1" i="0" dirty="0">
                <a:solidFill>
                  <a:srgbClr val="697386"/>
                </a:solidFill>
                <a:latin typeface="Aptos"/>
              </a:rPr>
              <a:t>●  </a:t>
            </a:r>
            <a:r>
              <a:rPr sz="1500" b="0" i="0" dirty="0">
                <a:solidFill>
                  <a:srgbClr val="202A35"/>
                </a:solidFill>
                <a:latin typeface="Aptos"/>
              </a:rPr>
              <a:t>Ambiguous: highest variability</a:t>
            </a:r>
          </a:p>
          <a:p>
            <a:pPr algn="ctr">
              <a:spcAft>
                <a:spcPts val="1100"/>
              </a:spcAft>
            </a:pPr>
            <a:r>
              <a:rPr sz="869" b="1" i="0" dirty="0">
                <a:solidFill>
                  <a:srgbClr val="697386"/>
                </a:solidFill>
                <a:latin typeface="Aptos"/>
              </a:rPr>
              <a:t>●  </a:t>
            </a:r>
            <a:r>
              <a:rPr sz="1500" b="0" i="0" dirty="0">
                <a:solidFill>
                  <a:srgbClr val="202A35"/>
                </a:solidFill>
                <a:latin typeface="Aptos"/>
              </a:rPr>
              <a:t>Hard-to-learn: lowest confidence</a:t>
            </a:r>
          </a:p>
        </p:txBody>
      </p:sp>
      <p:sp>
        <p:nvSpPr>
          <p:cNvPr id="27" name="Rectangle 26"/>
          <p:cNvSpPr/>
          <p:nvPr/>
        </p:nvSpPr>
        <p:spPr>
          <a:xfrm>
            <a:off x="6291072" y="3264408"/>
            <a:ext cx="5212080" cy="310896"/>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800" b="1" i="0">
                <a:solidFill>
                  <a:srgbClr val="202A35"/>
                </a:solidFill>
                <a:latin typeface="Aptos"/>
              </a:rPr>
              <a:t>Training settings</a:t>
            </a:r>
          </a:p>
        </p:txBody>
      </p:sp>
      <p:sp>
        <p:nvSpPr>
          <p:cNvPr id="28" name="Rectangle 27"/>
          <p:cNvSpPr/>
          <p:nvPr/>
        </p:nvSpPr>
        <p:spPr>
          <a:xfrm>
            <a:off x="6291072" y="3694176"/>
            <a:ext cx="5074920" cy="17556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spcAft>
                <a:spcPts val="1100"/>
              </a:spcAft>
            </a:pPr>
            <a:r>
              <a:rPr sz="869" b="1" i="0" dirty="0">
                <a:solidFill>
                  <a:srgbClr val="B65C3A"/>
                </a:solidFill>
                <a:latin typeface="Aptos"/>
              </a:rPr>
              <a:t>●  </a:t>
            </a:r>
            <a:r>
              <a:rPr sz="1500" b="0" i="0" dirty="0">
                <a:solidFill>
                  <a:srgbClr val="202A35"/>
                </a:solidFill>
                <a:latin typeface="Aptos"/>
              </a:rPr>
              <a:t>learning rate 1.07086 × 10⁻⁵</a:t>
            </a:r>
          </a:p>
          <a:p>
            <a:pPr algn="ctr">
              <a:spcAft>
                <a:spcPts val="1100"/>
              </a:spcAft>
            </a:pPr>
            <a:r>
              <a:rPr sz="869" b="1" i="0" dirty="0">
                <a:solidFill>
                  <a:srgbClr val="B65C3A"/>
                </a:solidFill>
                <a:latin typeface="Aptos"/>
              </a:rPr>
              <a:t>●  </a:t>
            </a:r>
            <a:r>
              <a:rPr sz="1500" b="0" i="0" dirty="0">
                <a:solidFill>
                  <a:srgbClr val="202A35"/>
                </a:solidFill>
                <a:latin typeface="Aptos"/>
              </a:rPr>
              <a:t>effective batch 96 · maximum length 128</a:t>
            </a:r>
          </a:p>
          <a:p>
            <a:pPr algn="ctr">
              <a:spcAft>
                <a:spcPts val="1100"/>
              </a:spcAft>
            </a:pPr>
            <a:r>
              <a:rPr sz="869" b="1" i="0" dirty="0">
                <a:solidFill>
                  <a:srgbClr val="B65C3A"/>
                </a:solidFill>
                <a:latin typeface="Aptos"/>
              </a:rPr>
              <a:t>●  </a:t>
            </a:r>
            <a:r>
              <a:rPr sz="1500" b="0" i="0" dirty="0">
                <a:solidFill>
                  <a:srgbClr val="202A35"/>
                </a:solidFill>
                <a:latin typeface="Aptos"/>
              </a:rPr>
              <a:t>up to 6 epochs · best validation checkpoint</a:t>
            </a:r>
          </a:p>
        </p:txBody>
      </p:sp>
      <p:sp>
        <p:nvSpPr>
          <p:cNvPr id="29" name="Rectangle 28"/>
          <p:cNvSpPr/>
          <p:nvPr/>
        </p:nvSpPr>
        <p:spPr>
          <a:xfrm>
            <a:off x="914400" y="5870448"/>
            <a:ext cx="10332720" cy="39319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500" b="1" i="0">
                <a:solidFill>
                  <a:srgbClr val="B65C3A"/>
                </a:solidFill>
                <a:latin typeface="Aptos"/>
              </a:rPr>
              <a:t>Published coordinates isolate the data-selection claim from map reconstruction differences.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B65C3A"/>
                </a:solidFill>
                <a:latin typeface="Aptos"/>
              </a:rPr>
              <a:t>OUR REPRODUCTION</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Hardware constraints changed implementation details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16</a:t>
            </a:r>
          </a:p>
        </p:txBody>
      </p:sp>
      <p:sp>
        <p:nvSpPr>
          <p:cNvPr id="6" name="Rectangle 5"/>
          <p:cNvSpPr/>
          <p:nvPr/>
        </p:nvSpPr>
        <p:spPr>
          <a:xfrm>
            <a:off x="502920" y="6492240"/>
            <a:ext cx="1024128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720" b="0" i="0">
                <a:solidFill>
                  <a:srgbClr val="5F6B75"/>
                </a:solidFill>
                <a:latin typeface="Aptos"/>
              </a:rPr>
              <a:t>Exact settings and evidence are documented in docs/original_experiment.md and results/run_metrics/.</a:t>
            </a:r>
          </a:p>
        </p:txBody>
      </p:sp>
      <p:graphicFrame>
        <p:nvGraphicFramePr>
          <p:cNvPr id="7" name="Table 6"/>
          <p:cNvGraphicFramePr>
            <a:graphicFrameLocks noGrp="1"/>
          </p:cNvGraphicFramePr>
          <p:nvPr/>
        </p:nvGraphicFramePr>
        <p:xfrm>
          <a:off x="658368" y="1280160"/>
          <a:ext cx="10789920" cy="416052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594360">
                <a:tc>
                  <a:txBody>
                    <a:bodyPr/>
                    <a:lstStyle/>
                    <a:p>
                      <a:pPr algn="l"/>
                      <a:r>
                        <a:rPr sz="1150" b="1" i="0">
                          <a:solidFill>
                            <a:srgbClr val="202A35"/>
                          </a:solidFill>
                          <a:latin typeface="Aptos"/>
                        </a:rPr>
                        <a:t>Aspect</a:t>
                      </a:r>
                    </a:p>
                  </a:txBody>
                  <a:tcPr marL="54864" marR="54864">
                    <a:solidFill>
                      <a:srgbClr val="ECE9E2"/>
                    </a:solidFill>
                  </a:tcPr>
                </a:tc>
                <a:tc>
                  <a:txBody>
                    <a:bodyPr/>
                    <a:lstStyle/>
                    <a:p>
                      <a:pPr algn="ctr"/>
                      <a:r>
                        <a:rPr sz="1150" b="1" i="0">
                          <a:solidFill>
                            <a:srgbClr val="202A35"/>
                          </a:solidFill>
                          <a:latin typeface="Aptos"/>
                        </a:rPr>
                        <a:t>Original paper</a:t>
                      </a:r>
                    </a:p>
                  </a:txBody>
                  <a:tcPr marL="54864" marR="54864">
                    <a:solidFill>
                      <a:srgbClr val="ECE9E2"/>
                    </a:solidFill>
                  </a:tcPr>
                </a:tc>
                <a:tc>
                  <a:txBody>
                    <a:bodyPr/>
                    <a:lstStyle/>
                    <a:p>
                      <a:pPr algn="ctr"/>
                      <a:r>
                        <a:rPr sz="1150" b="1" i="0">
                          <a:solidFill>
                            <a:srgbClr val="202A35"/>
                          </a:solidFill>
                          <a:latin typeface="Aptos"/>
                        </a:rPr>
                        <a:t>Our reproduction</a:t>
                      </a:r>
                    </a:p>
                  </a:txBody>
                  <a:tcPr marL="54864" marR="54864">
                    <a:solidFill>
                      <a:srgbClr val="ECE9E2"/>
                    </a:solidFill>
                  </a:tcPr>
                </a:tc>
                <a:extLst>
                  <a:ext uri="{0D108BD9-81ED-4DB2-BD59-A6C34878D82A}">
                    <a16:rowId xmlns:a16="http://schemas.microsoft.com/office/drawing/2014/main" val="10000"/>
                  </a:ext>
                </a:extLst>
              </a:tr>
              <a:tr h="594360">
                <a:tc>
                  <a:txBody>
                    <a:bodyPr/>
                    <a:lstStyle/>
                    <a:p>
                      <a:pPr algn="l"/>
                      <a:r>
                        <a:rPr sz="1250" b="0" i="0">
                          <a:solidFill>
                            <a:srgbClr val="202A35"/>
                          </a:solidFill>
                          <a:latin typeface="Aptos"/>
                        </a:rPr>
                        <a:t>GPU</a:t>
                      </a:r>
                    </a:p>
                  </a:txBody>
                  <a:tcPr marL="54864" marR="54864" anchor="ctr">
                    <a:solidFill>
                      <a:srgbClr val="FFFFFF"/>
                    </a:solidFill>
                  </a:tcPr>
                </a:tc>
                <a:tc>
                  <a:txBody>
                    <a:bodyPr/>
                    <a:lstStyle/>
                    <a:p>
                      <a:pPr algn="ctr"/>
                      <a:r>
                        <a:rPr sz="1250" b="0" i="0">
                          <a:solidFill>
                            <a:srgbClr val="697386"/>
                          </a:solidFill>
                          <a:latin typeface="Aptos"/>
                        </a:rPr>
                        <a:t>Quadro RTX 8000</a:t>
                      </a:r>
                    </a:p>
                  </a:txBody>
                  <a:tcPr marL="54864" marR="54864" anchor="ctr">
                    <a:solidFill>
                      <a:srgbClr val="FFFFFF"/>
                    </a:solidFill>
                  </a:tcPr>
                </a:tc>
                <a:tc>
                  <a:txBody>
                    <a:bodyPr/>
                    <a:lstStyle/>
                    <a:p>
                      <a:pPr algn="ctr"/>
                      <a:r>
                        <a:rPr sz="1250" b="1" i="0">
                          <a:solidFill>
                            <a:srgbClr val="B65C3A"/>
                          </a:solidFill>
                          <a:latin typeface="Aptos"/>
                        </a:rPr>
                        <a:t>RTX 4070 Ti SUPER · 16 GB</a:t>
                      </a:r>
                    </a:p>
                  </a:txBody>
                  <a:tcPr marL="54864" marR="54864" anchor="ctr">
                    <a:solidFill>
                      <a:srgbClr val="FFFFFF"/>
                    </a:solidFill>
                  </a:tcPr>
                </a:tc>
                <a:extLst>
                  <a:ext uri="{0D108BD9-81ED-4DB2-BD59-A6C34878D82A}">
                    <a16:rowId xmlns:a16="http://schemas.microsoft.com/office/drawing/2014/main" val="10001"/>
                  </a:ext>
                </a:extLst>
              </a:tr>
              <a:tr h="594360">
                <a:tc>
                  <a:txBody>
                    <a:bodyPr/>
                    <a:lstStyle/>
                    <a:p>
                      <a:pPr algn="l"/>
                      <a:r>
                        <a:rPr sz="1250" b="0" i="0">
                          <a:solidFill>
                            <a:srgbClr val="202A35"/>
                          </a:solidFill>
                          <a:latin typeface="Aptos"/>
                        </a:rPr>
                        <a:t>Batch</a:t>
                      </a:r>
                    </a:p>
                  </a:txBody>
                  <a:tcPr marL="54864" marR="54864" anchor="ctr">
                    <a:solidFill>
                      <a:srgbClr val="F2F0EA"/>
                    </a:solidFill>
                  </a:tcPr>
                </a:tc>
                <a:tc>
                  <a:txBody>
                    <a:bodyPr/>
                    <a:lstStyle/>
                    <a:p>
                      <a:pPr algn="ctr"/>
                      <a:r>
                        <a:rPr sz="1250" b="0" i="0">
                          <a:solidFill>
                            <a:srgbClr val="697386"/>
                          </a:solidFill>
                          <a:latin typeface="Aptos"/>
                        </a:rPr>
                        <a:t>physical batch 96</a:t>
                      </a:r>
                    </a:p>
                  </a:txBody>
                  <a:tcPr marL="54864" marR="54864" anchor="ctr">
                    <a:solidFill>
                      <a:srgbClr val="F2F0EA"/>
                    </a:solidFill>
                  </a:tcPr>
                </a:tc>
                <a:tc>
                  <a:txBody>
                    <a:bodyPr/>
                    <a:lstStyle/>
                    <a:p>
                      <a:pPr algn="ctr"/>
                      <a:r>
                        <a:rPr sz="1250" b="1" i="0">
                          <a:solidFill>
                            <a:srgbClr val="B65C3A"/>
                          </a:solidFill>
                          <a:latin typeface="Aptos"/>
                        </a:rPr>
                        <a:t>32 × 3 gradient accumulation = 96</a:t>
                      </a:r>
                    </a:p>
                  </a:txBody>
                  <a:tcPr marL="54864" marR="54864" anchor="ctr">
                    <a:solidFill>
                      <a:srgbClr val="F2F0EA"/>
                    </a:solidFill>
                  </a:tcPr>
                </a:tc>
                <a:extLst>
                  <a:ext uri="{0D108BD9-81ED-4DB2-BD59-A6C34878D82A}">
                    <a16:rowId xmlns:a16="http://schemas.microsoft.com/office/drawing/2014/main" val="10002"/>
                  </a:ext>
                </a:extLst>
              </a:tr>
              <a:tr h="594360">
                <a:tc>
                  <a:txBody>
                    <a:bodyPr/>
                    <a:lstStyle/>
                    <a:p>
                      <a:pPr algn="l"/>
                      <a:r>
                        <a:rPr sz="1250" b="0" i="0">
                          <a:solidFill>
                            <a:srgbClr val="202A35"/>
                          </a:solidFill>
                          <a:latin typeface="Aptos"/>
                        </a:rPr>
                        <a:t>Precision</a:t>
                      </a:r>
                    </a:p>
                  </a:txBody>
                  <a:tcPr marL="54864" marR="54864" anchor="ctr">
                    <a:solidFill>
                      <a:srgbClr val="FFFFFF"/>
                    </a:solidFill>
                  </a:tcPr>
                </a:tc>
                <a:tc>
                  <a:txBody>
                    <a:bodyPr/>
                    <a:lstStyle/>
                    <a:p>
                      <a:pPr algn="ctr"/>
                      <a:r>
                        <a:rPr sz="1250" b="0" i="0">
                          <a:solidFill>
                            <a:srgbClr val="697386"/>
                          </a:solidFill>
                          <a:latin typeface="Aptos"/>
                        </a:rPr>
                        <a:t>2020 training stack</a:t>
                      </a:r>
                    </a:p>
                  </a:txBody>
                  <a:tcPr marL="54864" marR="54864" anchor="ctr">
                    <a:solidFill>
                      <a:srgbClr val="FFFFFF"/>
                    </a:solidFill>
                  </a:tcPr>
                </a:tc>
                <a:tc>
                  <a:txBody>
                    <a:bodyPr/>
                    <a:lstStyle/>
                    <a:p>
                      <a:pPr algn="ctr"/>
                      <a:r>
                        <a:rPr sz="1250" b="1" i="0">
                          <a:solidFill>
                            <a:srgbClr val="B65C3A"/>
                          </a:solidFill>
                          <a:latin typeface="Aptos"/>
                        </a:rPr>
                        <a:t>BF16 · modern PyTorch/Transformers</a:t>
                      </a:r>
                    </a:p>
                  </a:txBody>
                  <a:tcPr marL="54864" marR="54864" anchor="ctr">
                    <a:solidFill>
                      <a:srgbClr val="FFFFFF"/>
                    </a:solidFill>
                  </a:tcPr>
                </a:tc>
                <a:extLst>
                  <a:ext uri="{0D108BD9-81ED-4DB2-BD59-A6C34878D82A}">
                    <a16:rowId xmlns:a16="http://schemas.microsoft.com/office/drawing/2014/main" val="10003"/>
                  </a:ext>
                </a:extLst>
              </a:tr>
              <a:tr h="594360">
                <a:tc>
                  <a:txBody>
                    <a:bodyPr/>
                    <a:lstStyle/>
                    <a:p>
                      <a:pPr algn="l"/>
                      <a:r>
                        <a:rPr sz="1250" b="0" i="0">
                          <a:solidFill>
                            <a:srgbClr val="202A35"/>
                          </a:solidFill>
                          <a:latin typeface="Aptos"/>
                        </a:rPr>
                        <a:t>Padding</a:t>
                      </a:r>
                    </a:p>
                  </a:txBody>
                  <a:tcPr marL="54864" marR="54864" anchor="ctr">
                    <a:solidFill>
                      <a:srgbClr val="F2F0EA"/>
                    </a:solidFill>
                  </a:tcPr>
                </a:tc>
                <a:tc>
                  <a:txBody>
                    <a:bodyPr/>
                    <a:lstStyle/>
                    <a:p>
                      <a:pPr algn="ctr"/>
                      <a:r>
                        <a:rPr sz="1250" b="0" i="0">
                          <a:solidFill>
                            <a:srgbClr val="697386"/>
                          </a:solidFill>
                          <a:latin typeface="Aptos"/>
                        </a:rPr>
                        <a:t>length 128</a:t>
                      </a:r>
                    </a:p>
                  </a:txBody>
                  <a:tcPr marL="54864" marR="54864" anchor="ctr">
                    <a:solidFill>
                      <a:srgbClr val="F2F0EA"/>
                    </a:solidFill>
                  </a:tcPr>
                </a:tc>
                <a:tc>
                  <a:txBody>
                    <a:bodyPr/>
                    <a:lstStyle/>
                    <a:p>
                      <a:pPr algn="ctr"/>
                      <a:r>
                        <a:rPr sz="1250" b="1" i="0">
                          <a:solidFill>
                            <a:srgbClr val="B65C3A"/>
                          </a:solidFill>
                          <a:latin typeface="Aptos"/>
                        </a:rPr>
                        <a:t>dynamic padding · max length 128</a:t>
                      </a:r>
                    </a:p>
                  </a:txBody>
                  <a:tcPr marL="54864" marR="54864" anchor="ctr">
                    <a:solidFill>
                      <a:srgbClr val="F2F0EA"/>
                    </a:solidFill>
                  </a:tcPr>
                </a:tc>
                <a:extLst>
                  <a:ext uri="{0D108BD9-81ED-4DB2-BD59-A6C34878D82A}">
                    <a16:rowId xmlns:a16="http://schemas.microsoft.com/office/drawing/2014/main" val="10004"/>
                  </a:ext>
                </a:extLst>
              </a:tr>
              <a:tr h="594360">
                <a:tc>
                  <a:txBody>
                    <a:bodyPr/>
                    <a:lstStyle/>
                    <a:p>
                      <a:pPr algn="l"/>
                      <a:r>
                        <a:rPr sz="1250" b="0" i="0">
                          <a:solidFill>
                            <a:srgbClr val="202A35"/>
                          </a:solidFill>
                          <a:latin typeface="Aptos"/>
                        </a:rPr>
                        <a:t>Reporting</a:t>
                      </a:r>
                    </a:p>
                  </a:txBody>
                  <a:tcPr marL="54864" marR="54864" anchor="ctr">
                    <a:solidFill>
                      <a:srgbClr val="FFFFFF"/>
                    </a:solidFill>
                  </a:tcPr>
                </a:tc>
                <a:tc>
                  <a:txBody>
                    <a:bodyPr/>
                    <a:lstStyle/>
                    <a:p>
                      <a:pPr algn="ctr"/>
                      <a:r>
                        <a:rPr sz="1250" b="0" i="0">
                          <a:solidFill>
                            <a:srgbClr val="697386"/>
                          </a:solidFill>
                          <a:latin typeface="Aptos"/>
                        </a:rPr>
                        <a:t>best of 3 seeds</a:t>
                      </a:r>
                    </a:p>
                  </a:txBody>
                  <a:tcPr marL="54864" marR="54864" anchor="ctr">
                    <a:solidFill>
                      <a:srgbClr val="FFFFFF"/>
                    </a:solidFill>
                  </a:tcPr>
                </a:tc>
                <a:tc>
                  <a:txBody>
                    <a:bodyPr/>
                    <a:lstStyle/>
                    <a:p>
                      <a:pPr algn="ctr"/>
                      <a:r>
                        <a:rPr sz="1250" b="1" i="0">
                          <a:solidFill>
                            <a:srgbClr val="B65C3A"/>
                          </a:solidFill>
                          <a:latin typeface="Aptos"/>
                        </a:rPr>
                        <a:t>one available seed: 93078</a:t>
                      </a:r>
                    </a:p>
                  </a:txBody>
                  <a:tcPr marL="54864" marR="54864" anchor="ctr">
                    <a:solidFill>
                      <a:srgbClr val="FFFFFF"/>
                    </a:solidFill>
                  </a:tcPr>
                </a:tc>
                <a:extLst>
                  <a:ext uri="{0D108BD9-81ED-4DB2-BD59-A6C34878D82A}">
                    <a16:rowId xmlns:a16="http://schemas.microsoft.com/office/drawing/2014/main" val="10005"/>
                  </a:ext>
                </a:extLst>
              </a:tr>
              <a:tr h="594360">
                <a:tc>
                  <a:txBody>
                    <a:bodyPr/>
                    <a:lstStyle/>
                    <a:p>
                      <a:pPr algn="l"/>
                      <a:r>
                        <a:rPr sz="1250" b="0" i="0">
                          <a:solidFill>
                            <a:srgbClr val="202A35"/>
                          </a:solidFill>
                          <a:latin typeface="Aptos"/>
                        </a:rPr>
                        <a:t>Epochs</a:t>
                      </a:r>
                    </a:p>
                  </a:txBody>
                  <a:tcPr marL="54864" marR="54864" anchor="ctr">
                    <a:solidFill>
                      <a:srgbClr val="F2F0EA"/>
                    </a:solidFill>
                  </a:tcPr>
                </a:tc>
                <a:tc>
                  <a:txBody>
                    <a:bodyPr/>
                    <a:lstStyle/>
                    <a:p>
                      <a:pPr algn="ctr"/>
                      <a:r>
                        <a:rPr sz="1250" b="0" i="0">
                          <a:solidFill>
                            <a:srgbClr val="697386"/>
                          </a:solidFill>
                          <a:latin typeface="Aptos"/>
                        </a:rPr>
                        <a:t>paper says 6; config early stopping</a:t>
                      </a:r>
                    </a:p>
                  </a:txBody>
                  <a:tcPr marL="54864" marR="54864" anchor="ctr">
                    <a:solidFill>
                      <a:srgbClr val="F2F0EA"/>
                    </a:solidFill>
                  </a:tcPr>
                </a:tc>
                <a:tc>
                  <a:txBody>
                    <a:bodyPr/>
                    <a:lstStyle/>
                    <a:p>
                      <a:pPr algn="ctr"/>
                      <a:r>
                        <a:rPr sz="1250" b="1" i="0">
                          <a:solidFill>
                            <a:srgbClr val="B65C3A"/>
                          </a:solidFill>
                          <a:latin typeface="Aptos"/>
                        </a:rPr>
                        <a:t>best checkpoints; 4–6 epochs</a:t>
                      </a:r>
                    </a:p>
                  </a:txBody>
                  <a:tcPr marL="54864" marR="54864" anchor="ctr">
                    <a:solidFill>
                      <a:srgbClr val="F2F0EA"/>
                    </a:solidFill>
                  </a:tcPr>
                </a:tc>
                <a:extLst>
                  <a:ext uri="{0D108BD9-81ED-4DB2-BD59-A6C34878D82A}">
                    <a16:rowId xmlns:a16="http://schemas.microsoft.com/office/drawing/2014/main" val="10006"/>
                  </a:ext>
                </a:extLst>
              </a:tr>
            </a:tbl>
          </a:graphicData>
        </a:graphic>
      </p:graphicFrame>
      <p:sp>
        <p:nvSpPr>
          <p:cNvPr id="8" name="Rectangle 7"/>
          <p:cNvSpPr/>
          <p:nvPr/>
        </p:nvSpPr>
        <p:spPr>
          <a:xfrm>
            <a:off x="804672" y="5623560"/>
            <a:ext cx="10561320" cy="56692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1550" b="1" i="0">
                <a:solidFill>
                  <a:srgbClr val="202A35"/>
                </a:solidFill>
                <a:latin typeface="Aptos"/>
              </a:rPr>
              <a:t>These facts make exact equality unlikely while leaving the subset comparison scientifically interpretable.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B65C3A"/>
                </a:solidFill>
                <a:latin typeface="Aptos"/>
              </a:rPr>
              <a:t>OUR REPRODUCTION</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In-distribution accuracy closely matches the paper</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17</a:t>
            </a:r>
          </a:p>
        </p:txBody>
      </p:sp>
      <p:pic>
        <p:nvPicPr>
          <p:cNvPr id="6" name="Picture 5" descr="id_paired_dots.png"/>
          <p:cNvPicPr>
            <a:picLocks noChangeAspect="1"/>
          </p:cNvPicPr>
          <p:nvPr/>
        </p:nvPicPr>
        <p:blipFill>
          <a:blip r:embed="rId3"/>
          <a:stretch>
            <a:fillRect/>
          </a:stretch>
        </p:blipFill>
        <p:spPr>
          <a:xfrm>
            <a:off x="530352" y="1597831"/>
            <a:ext cx="7315200" cy="4018953"/>
          </a:xfrm>
          <a:prstGeom prst="rect">
            <a:avLst/>
          </a:prstGeom>
        </p:spPr>
      </p:pic>
      <p:graphicFrame>
        <p:nvGraphicFramePr>
          <p:cNvPr id="7" name="Table 6"/>
          <p:cNvGraphicFramePr>
            <a:graphicFrameLocks noGrp="1"/>
          </p:cNvGraphicFramePr>
          <p:nvPr/>
        </p:nvGraphicFramePr>
        <p:xfrm>
          <a:off x="7863840" y="1389888"/>
          <a:ext cx="3520440" cy="3182112"/>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636422">
                <a:tc>
                  <a:txBody>
                    <a:bodyPr/>
                    <a:lstStyle/>
                    <a:p>
                      <a:pPr algn="l"/>
                      <a:r>
                        <a:rPr sz="1050" b="1" i="0">
                          <a:solidFill>
                            <a:srgbClr val="202A35"/>
                          </a:solidFill>
                          <a:latin typeface="Aptos"/>
                        </a:rPr>
                        <a:t>Subset</a:t>
                      </a:r>
                    </a:p>
                  </a:txBody>
                  <a:tcPr marL="54864" marR="54864">
                    <a:solidFill>
                      <a:srgbClr val="ECE9E2"/>
                    </a:solidFill>
                  </a:tcPr>
                </a:tc>
                <a:tc>
                  <a:txBody>
                    <a:bodyPr/>
                    <a:lstStyle/>
                    <a:p>
                      <a:pPr algn="ctr"/>
                      <a:r>
                        <a:rPr sz="1050" b="1" i="0">
                          <a:solidFill>
                            <a:srgbClr val="202A35"/>
                          </a:solidFill>
                          <a:latin typeface="Aptos"/>
                        </a:rPr>
                        <a:t>Paper</a:t>
                      </a:r>
                    </a:p>
                  </a:txBody>
                  <a:tcPr marL="54864" marR="54864">
                    <a:solidFill>
                      <a:srgbClr val="ECE9E2"/>
                    </a:solidFill>
                  </a:tcPr>
                </a:tc>
                <a:tc>
                  <a:txBody>
                    <a:bodyPr/>
                    <a:lstStyle/>
                    <a:p>
                      <a:pPr algn="ctr"/>
                      <a:r>
                        <a:rPr sz="1050" b="1" i="0">
                          <a:solidFill>
                            <a:srgbClr val="202A35"/>
                          </a:solidFill>
                          <a:latin typeface="Aptos"/>
                        </a:rPr>
                        <a:t>Ours</a:t>
                      </a:r>
                    </a:p>
                  </a:txBody>
                  <a:tcPr marL="54864" marR="54864">
                    <a:solidFill>
                      <a:srgbClr val="ECE9E2"/>
                    </a:solidFill>
                  </a:tcPr>
                </a:tc>
                <a:tc>
                  <a:txBody>
                    <a:bodyPr/>
                    <a:lstStyle/>
                    <a:p>
                      <a:pPr algn="ctr"/>
                      <a:r>
                        <a:rPr sz="1050" b="1" i="0">
                          <a:solidFill>
                            <a:srgbClr val="202A35"/>
                          </a:solidFill>
                          <a:latin typeface="Aptos"/>
                        </a:rPr>
                        <a:t>Δ</a:t>
                      </a:r>
                    </a:p>
                  </a:txBody>
                  <a:tcPr marL="54864" marR="54864">
                    <a:solidFill>
                      <a:srgbClr val="ECE9E2"/>
                    </a:solidFill>
                  </a:tcPr>
                </a:tc>
                <a:extLst>
                  <a:ext uri="{0D108BD9-81ED-4DB2-BD59-A6C34878D82A}">
                    <a16:rowId xmlns:a16="http://schemas.microsoft.com/office/drawing/2014/main" val="10000"/>
                  </a:ext>
                </a:extLst>
              </a:tr>
              <a:tr h="636422">
                <a:tc>
                  <a:txBody>
                    <a:bodyPr/>
                    <a:lstStyle/>
                    <a:p>
                      <a:pPr algn="l"/>
                      <a:r>
                        <a:rPr sz="1150" b="0" i="0">
                          <a:solidFill>
                            <a:srgbClr val="202A35"/>
                          </a:solidFill>
                          <a:latin typeface="Aptos"/>
                        </a:rPr>
                        <a:t>Full</a:t>
                      </a:r>
                    </a:p>
                  </a:txBody>
                  <a:tcPr marL="54864" marR="54864" anchor="ctr">
                    <a:solidFill>
                      <a:srgbClr val="FFFFFF"/>
                    </a:solidFill>
                  </a:tcPr>
                </a:tc>
                <a:tc>
                  <a:txBody>
                    <a:bodyPr/>
                    <a:lstStyle/>
                    <a:p>
                      <a:pPr algn="ctr"/>
                      <a:r>
                        <a:rPr sz="1150" b="0" i="0">
                          <a:solidFill>
                            <a:srgbClr val="697386"/>
                          </a:solidFill>
                          <a:latin typeface="Aptos"/>
                        </a:rPr>
                        <a:t>92.0</a:t>
                      </a:r>
                    </a:p>
                  </a:txBody>
                  <a:tcPr marL="54864" marR="54864" anchor="ctr">
                    <a:solidFill>
                      <a:srgbClr val="FFFFFF"/>
                    </a:solidFill>
                  </a:tcPr>
                </a:tc>
                <a:tc>
                  <a:txBody>
                    <a:bodyPr/>
                    <a:lstStyle/>
                    <a:p>
                      <a:pPr algn="ctr"/>
                      <a:r>
                        <a:rPr sz="1150" b="1" i="0">
                          <a:solidFill>
                            <a:srgbClr val="B65C3A"/>
                          </a:solidFill>
                          <a:latin typeface="Aptos"/>
                        </a:rPr>
                        <a:t>92.53</a:t>
                      </a:r>
                    </a:p>
                  </a:txBody>
                  <a:tcPr marL="54864" marR="54864" anchor="ctr">
                    <a:solidFill>
                      <a:srgbClr val="FFFFFF"/>
                    </a:solidFill>
                  </a:tcPr>
                </a:tc>
                <a:tc>
                  <a:txBody>
                    <a:bodyPr/>
                    <a:lstStyle/>
                    <a:p>
                      <a:pPr algn="ctr"/>
                      <a:r>
                        <a:rPr sz="1150" b="0" i="0">
                          <a:solidFill>
                            <a:srgbClr val="202A35"/>
                          </a:solidFill>
                          <a:latin typeface="Aptos"/>
                        </a:rPr>
                        <a:t>+0.53</a:t>
                      </a:r>
                    </a:p>
                  </a:txBody>
                  <a:tcPr marL="54864" marR="54864" anchor="ctr">
                    <a:solidFill>
                      <a:srgbClr val="FFFFFF"/>
                    </a:solidFill>
                  </a:tcPr>
                </a:tc>
                <a:extLst>
                  <a:ext uri="{0D108BD9-81ED-4DB2-BD59-A6C34878D82A}">
                    <a16:rowId xmlns:a16="http://schemas.microsoft.com/office/drawing/2014/main" val="10001"/>
                  </a:ext>
                </a:extLst>
              </a:tr>
              <a:tr h="636422">
                <a:tc>
                  <a:txBody>
                    <a:bodyPr/>
                    <a:lstStyle/>
                    <a:p>
                      <a:pPr algn="l"/>
                      <a:r>
                        <a:rPr sz="1150" b="0" i="0">
                          <a:solidFill>
                            <a:srgbClr val="202A35"/>
                          </a:solidFill>
                          <a:latin typeface="Aptos"/>
                        </a:rPr>
                        <a:t>Random</a:t>
                      </a:r>
                    </a:p>
                  </a:txBody>
                  <a:tcPr marL="54864" marR="54864" anchor="ctr">
                    <a:solidFill>
                      <a:srgbClr val="F2F0EA"/>
                    </a:solidFill>
                  </a:tcPr>
                </a:tc>
                <a:tc>
                  <a:txBody>
                    <a:bodyPr/>
                    <a:lstStyle/>
                    <a:p>
                      <a:pPr algn="ctr"/>
                      <a:r>
                        <a:rPr sz="1150" b="0" i="0">
                          <a:solidFill>
                            <a:srgbClr val="697386"/>
                          </a:solidFill>
                          <a:latin typeface="Aptos"/>
                        </a:rPr>
                        <a:t>91.3</a:t>
                      </a:r>
                    </a:p>
                  </a:txBody>
                  <a:tcPr marL="54864" marR="54864" anchor="ctr">
                    <a:solidFill>
                      <a:srgbClr val="F2F0EA"/>
                    </a:solidFill>
                  </a:tcPr>
                </a:tc>
                <a:tc>
                  <a:txBody>
                    <a:bodyPr/>
                    <a:lstStyle/>
                    <a:p>
                      <a:pPr algn="ctr"/>
                      <a:r>
                        <a:rPr sz="1150" b="1" i="0">
                          <a:solidFill>
                            <a:srgbClr val="B65C3A"/>
                          </a:solidFill>
                          <a:latin typeface="Aptos"/>
                        </a:rPr>
                        <a:t>91.82</a:t>
                      </a:r>
                    </a:p>
                  </a:txBody>
                  <a:tcPr marL="54864" marR="54864" anchor="ctr">
                    <a:solidFill>
                      <a:srgbClr val="F2F0EA"/>
                    </a:solidFill>
                  </a:tcPr>
                </a:tc>
                <a:tc>
                  <a:txBody>
                    <a:bodyPr/>
                    <a:lstStyle/>
                    <a:p>
                      <a:pPr algn="ctr"/>
                      <a:r>
                        <a:rPr sz="1150" b="0" i="0">
                          <a:solidFill>
                            <a:srgbClr val="202A35"/>
                          </a:solidFill>
                          <a:latin typeface="Aptos"/>
                        </a:rPr>
                        <a:t>+0.52</a:t>
                      </a:r>
                    </a:p>
                  </a:txBody>
                  <a:tcPr marL="54864" marR="54864" anchor="ctr">
                    <a:solidFill>
                      <a:srgbClr val="F2F0EA"/>
                    </a:solidFill>
                  </a:tcPr>
                </a:tc>
                <a:extLst>
                  <a:ext uri="{0D108BD9-81ED-4DB2-BD59-A6C34878D82A}">
                    <a16:rowId xmlns:a16="http://schemas.microsoft.com/office/drawing/2014/main" val="10002"/>
                  </a:ext>
                </a:extLst>
              </a:tr>
              <a:tr h="636422">
                <a:tc>
                  <a:txBody>
                    <a:bodyPr/>
                    <a:lstStyle/>
                    <a:p>
                      <a:pPr algn="l"/>
                      <a:r>
                        <a:rPr sz="1150" b="0" i="0">
                          <a:solidFill>
                            <a:srgbClr val="202A35"/>
                          </a:solidFill>
                          <a:latin typeface="Aptos"/>
                        </a:rPr>
                        <a:t>Hard</a:t>
                      </a:r>
                    </a:p>
                  </a:txBody>
                  <a:tcPr marL="54864" marR="54864" anchor="ctr">
                    <a:solidFill>
                      <a:srgbClr val="FFFFFF"/>
                    </a:solidFill>
                  </a:tcPr>
                </a:tc>
                <a:tc>
                  <a:txBody>
                    <a:bodyPr/>
                    <a:lstStyle/>
                    <a:p>
                      <a:pPr algn="ctr"/>
                      <a:r>
                        <a:rPr sz="1150" b="0" i="0">
                          <a:solidFill>
                            <a:srgbClr val="697386"/>
                          </a:solidFill>
                          <a:latin typeface="Aptos"/>
                        </a:rPr>
                        <a:t>91.8</a:t>
                      </a:r>
                    </a:p>
                  </a:txBody>
                  <a:tcPr marL="54864" marR="54864" anchor="ctr">
                    <a:solidFill>
                      <a:srgbClr val="FFFFFF"/>
                    </a:solidFill>
                  </a:tcPr>
                </a:tc>
                <a:tc>
                  <a:txBody>
                    <a:bodyPr/>
                    <a:lstStyle/>
                    <a:p>
                      <a:pPr algn="ctr"/>
                      <a:r>
                        <a:rPr sz="1150" b="1" i="0">
                          <a:solidFill>
                            <a:srgbClr val="B65C3A"/>
                          </a:solidFill>
                          <a:latin typeface="Aptos"/>
                        </a:rPr>
                        <a:t>90.42</a:t>
                      </a:r>
                    </a:p>
                  </a:txBody>
                  <a:tcPr marL="54864" marR="54864" anchor="ctr">
                    <a:solidFill>
                      <a:srgbClr val="FFFFFF"/>
                    </a:solidFill>
                  </a:tcPr>
                </a:tc>
                <a:tc>
                  <a:txBody>
                    <a:bodyPr/>
                    <a:lstStyle/>
                    <a:p>
                      <a:pPr algn="ctr"/>
                      <a:r>
                        <a:rPr sz="1150" b="0" i="0">
                          <a:solidFill>
                            <a:srgbClr val="202A35"/>
                          </a:solidFill>
                          <a:latin typeface="Aptos"/>
                        </a:rPr>
                        <a:t>-1.38</a:t>
                      </a:r>
                    </a:p>
                  </a:txBody>
                  <a:tcPr marL="54864" marR="54864" anchor="ctr">
                    <a:solidFill>
                      <a:srgbClr val="FFFFFF"/>
                    </a:solidFill>
                  </a:tcPr>
                </a:tc>
                <a:extLst>
                  <a:ext uri="{0D108BD9-81ED-4DB2-BD59-A6C34878D82A}">
                    <a16:rowId xmlns:a16="http://schemas.microsoft.com/office/drawing/2014/main" val="10003"/>
                  </a:ext>
                </a:extLst>
              </a:tr>
              <a:tr h="636424">
                <a:tc>
                  <a:txBody>
                    <a:bodyPr/>
                    <a:lstStyle/>
                    <a:p>
                      <a:pPr algn="l"/>
                      <a:r>
                        <a:rPr sz="1150" b="0" i="0">
                          <a:solidFill>
                            <a:srgbClr val="202A35"/>
                          </a:solidFill>
                          <a:latin typeface="Aptos"/>
                        </a:rPr>
                        <a:t>Ambiguous</a:t>
                      </a:r>
                    </a:p>
                  </a:txBody>
                  <a:tcPr marL="54864" marR="54864" anchor="ctr">
                    <a:solidFill>
                      <a:srgbClr val="F2F0EA"/>
                    </a:solidFill>
                  </a:tcPr>
                </a:tc>
                <a:tc>
                  <a:txBody>
                    <a:bodyPr/>
                    <a:lstStyle/>
                    <a:p>
                      <a:pPr algn="ctr"/>
                      <a:r>
                        <a:rPr sz="1150" b="0" i="0">
                          <a:solidFill>
                            <a:srgbClr val="697386"/>
                          </a:solidFill>
                          <a:latin typeface="Aptos"/>
                        </a:rPr>
                        <a:t>92.2</a:t>
                      </a:r>
                    </a:p>
                  </a:txBody>
                  <a:tcPr marL="54864" marR="54864" anchor="ctr">
                    <a:solidFill>
                      <a:srgbClr val="F2F0EA"/>
                    </a:solidFill>
                  </a:tcPr>
                </a:tc>
                <a:tc>
                  <a:txBody>
                    <a:bodyPr/>
                    <a:lstStyle/>
                    <a:p>
                      <a:pPr algn="ctr"/>
                      <a:r>
                        <a:rPr sz="1150" b="1" i="0">
                          <a:solidFill>
                            <a:srgbClr val="B65C3A"/>
                          </a:solidFill>
                          <a:latin typeface="Aptos"/>
                        </a:rPr>
                        <a:t>92.19</a:t>
                      </a:r>
                    </a:p>
                  </a:txBody>
                  <a:tcPr marL="54864" marR="54864" anchor="ctr">
                    <a:solidFill>
                      <a:srgbClr val="F2F0EA"/>
                    </a:solidFill>
                  </a:tcPr>
                </a:tc>
                <a:tc>
                  <a:txBody>
                    <a:bodyPr/>
                    <a:lstStyle/>
                    <a:p>
                      <a:pPr algn="ctr"/>
                      <a:r>
                        <a:rPr sz="1150" b="0" i="0">
                          <a:solidFill>
                            <a:srgbClr val="202A35"/>
                          </a:solidFill>
                          <a:latin typeface="Aptos"/>
                        </a:rPr>
                        <a:t>-0.01</a:t>
                      </a:r>
                    </a:p>
                  </a:txBody>
                  <a:tcPr marL="54864" marR="54864" anchor="ctr">
                    <a:solidFill>
                      <a:srgbClr val="F2F0EA"/>
                    </a:solidFill>
                  </a:tcPr>
                </a:tc>
                <a:extLst>
                  <a:ext uri="{0D108BD9-81ED-4DB2-BD59-A6C34878D82A}">
                    <a16:rowId xmlns:a16="http://schemas.microsoft.com/office/drawing/2014/main" val="10004"/>
                  </a:ext>
                </a:extLst>
              </a:tr>
            </a:tbl>
          </a:graphicData>
        </a:graphic>
      </p:graphicFrame>
      <p:sp>
        <p:nvSpPr>
          <p:cNvPr id="8" name="Rectangle 7"/>
          <p:cNvSpPr/>
          <p:nvPr/>
        </p:nvSpPr>
        <p:spPr>
          <a:xfrm>
            <a:off x="8001000" y="4892040"/>
            <a:ext cx="3337560" cy="1161288"/>
          </a:xfrm>
          <a:prstGeom prst="rect">
            <a:avLst/>
          </a:prstGeom>
          <a:solidFill>
            <a:srgbClr val="F1E8E2"/>
          </a:solidFill>
          <a:ln w="10160">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11312" y="5074920"/>
            <a:ext cx="2907792"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000" b="1" i="0">
                <a:solidFill>
                  <a:srgbClr val="B65C3A"/>
                </a:solidFill>
                <a:latin typeface="Aptos"/>
              </a:rPr>
              <a:t>Central reproduction result</a:t>
            </a:r>
          </a:p>
        </p:txBody>
      </p:sp>
      <p:sp>
        <p:nvSpPr>
          <p:cNvPr id="10" name="Rectangle 9"/>
          <p:cNvSpPr/>
          <p:nvPr/>
        </p:nvSpPr>
        <p:spPr>
          <a:xfrm>
            <a:off x="8211312" y="5394960"/>
            <a:ext cx="2907792"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600" b="1" i="0">
                <a:solidFill>
                  <a:srgbClr val="202A35"/>
                </a:solidFill>
                <a:latin typeface="Aptos"/>
              </a:rPr>
              <a:t>Ambiguous: 92.19 vs 92.2</a:t>
            </a:r>
          </a:p>
        </p:txBody>
      </p:sp>
      <p:sp>
        <p:nvSpPr>
          <p:cNvPr id="11" name="Rectangle 10"/>
          <p:cNvSpPr/>
          <p:nvPr/>
        </p:nvSpPr>
        <p:spPr>
          <a:xfrm>
            <a:off x="822960" y="6053328"/>
            <a:ext cx="68580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000" b="0" i="0">
                <a:solidFill>
                  <a:srgbClr val="5F6B75"/>
                </a:solidFill>
                <a:latin typeface="Aptos"/>
              </a:rPr>
              <a:t>Axis is deliberately labeled as zoomed; direct values and differences are shown.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B65C3A"/>
                </a:solidFill>
                <a:latin typeface="Aptos"/>
              </a:rPr>
              <a:t>OUR REPRODUCTION</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The ambiguous subset also leads on NLI Diagnostics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18</a:t>
            </a:r>
          </a:p>
        </p:txBody>
      </p:sp>
      <p:pic>
        <p:nvPicPr>
          <p:cNvPr id="6" name="Picture 5" descr="ood_paired_dots.png"/>
          <p:cNvPicPr>
            <a:picLocks noChangeAspect="1"/>
          </p:cNvPicPr>
          <p:nvPr/>
        </p:nvPicPr>
        <p:blipFill>
          <a:blip r:embed="rId3"/>
          <a:stretch>
            <a:fillRect/>
          </a:stretch>
        </p:blipFill>
        <p:spPr>
          <a:xfrm>
            <a:off x="530352" y="1579507"/>
            <a:ext cx="7315200" cy="4055600"/>
          </a:xfrm>
          <a:prstGeom prst="rect">
            <a:avLst/>
          </a:prstGeom>
        </p:spPr>
      </p:pic>
      <p:graphicFrame>
        <p:nvGraphicFramePr>
          <p:cNvPr id="7" name="Table 6"/>
          <p:cNvGraphicFramePr>
            <a:graphicFrameLocks noGrp="1"/>
          </p:cNvGraphicFramePr>
          <p:nvPr/>
        </p:nvGraphicFramePr>
        <p:xfrm>
          <a:off x="7863840" y="1389888"/>
          <a:ext cx="3520440" cy="3182112"/>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636422">
                <a:tc>
                  <a:txBody>
                    <a:bodyPr/>
                    <a:lstStyle/>
                    <a:p>
                      <a:pPr algn="l"/>
                      <a:r>
                        <a:rPr sz="1050" b="1" i="0">
                          <a:solidFill>
                            <a:srgbClr val="202A35"/>
                          </a:solidFill>
                          <a:latin typeface="Aptos"/>
                        </a:rPr>
                        <a:t>Subset</a:t>
                      </a:r>
                    </a:p>
                  </a:txBody>
                  <a:tcPr marL="54864" marR="54864">
                    <a:solidFill>
                      <a:srgbClr val="ECE9E2"/>
                    </a:solidFill>
                  </a:tcPr>
                </a:tc>
                <a:tc>
                  <a:txBody>
                    <a:bodyPr/>
                    <a:lstStyle/>
                    <a:p>
                      <a:pPr algn="ctr"/>
                      <a:r>
                        <a:rPr sz="1050" b="1" i="0">
                          <a:solidFill>
                            <a:srgbClr val="202A35"/>
                          </a:solidFill>
                          <a:latin typeface="Aptos"/>
                        </a:rPr>
                        <a:t>Paper</a:t>
                      </a:r>
                    </a:p>
                  </a:txBody>
                  <a:tcPr marL="54864" marR="54864">
                    <a:solidFill>
                      <a:srgbClr val="ECE9E2"/>
                    </a:solidFill>
                  </a:tcPr>
                </a:tc>
                <a:tc>
                  <a:txBody>
                    <a:bodyPr/>
                    <a:lstStyle/>
                    <a:p>
                      <a:pPr algn="ctr"/>
                      <a:r>
                        <a:rPr sz="1050" b="1" i="0">
                          <a:solidFill>
                            <a:srgbClr val="202A35"/>
                          </a:solidFill>
                          <a:latin typeface="Aptos"/>
                        </a:rPr>
                        <a:t>Ours</a:t>
                      </a:r>
                    </a:p>
                  </a:txBody>
                  <a:tcPr marL="54864" marR="54864">
                    <a:solidFill>
                      <a:srgbClr val="ECE9E2"/>
                    </a:solidFill>
                  </a:tcPr>
                </a:tc>
                <a:tc>
                  <a:txBody>
                    <a:bodyPr/>
                    <a:lstStyle/>
                    <a:p>
                      <a:pPr algn="ctr"/>
                      <a:r>
                        <a:rPr sz="1050" b="1" i="0">
                          <a:solidFill>
                            <a:srgbClr val="202A35"/>
                          </a:solidFill>
                          <a:latin typeface="Aptos"/>
                        </a:rPr>
                        <a:t>Δ</a:t>
                      </a:r>
                    </a:p>
                  </a:txBody>
                  <a:tcPr marL="54864" marR="54864">
                    <a:solidFill>
                      <a:srgbClr val="ECE9E2"/>
                    </a:solidFill>
                  </a:tcPr>
                </a:tc>
                <a:extLst>
                  <a:ext uri="{0D108BD9-81ED-4DB2-BD59-A6C34878D82A}">
                    <a16:rowId xmlns:a16="http://schemas.microsoft.com/office/drawing/2014/main" val="10000"/>
                  </a:ext>
                </a:extLst>
              </a:tr>
              <a:tr h="636422">
                <a:tc>
                  <a:txBody>
                    <a:bodyPr/>
                    <a:lstStyle/>
                    <a:p>
                      <a:pPr algn="l"/>
                      <a:r>
                        <a:rPr sz="1150" b="0" i="0">
                          <a:solidFill>
                            <a:srgbClr val="202A35"/>
                          </a:solidFill>
                          <a:latin typeface="Aptos"/>
                        </a:rPr>
                        <a:t>Full</a:t>
                      </a:r>
                    </a:p>
                  </a:txBody>
                  <a:tcPr marL="54864" marR="54864" anchor="ctr">
                    <a:solidFill>
                      <a:srgbClr val="FFFFFF"/>
                    </a:solidFill>
                  </a:tcPr>
                </a:tc>
                <a:tc>
                  <a:txBody>
                    <a:bodyPr/>
                    <a:lstStyle/>
                    <a:p>
                      <a:pPr algn="ctr"/>
                      <a:r>
                        <a:rPr sz="1150" b="0" i="0">
                          <a:solidFill>
                            <a:srgbClr val="697386"/>
                          </a:solidFill>
                          <a:latin typeface="Aptos"/>
                        </a:rPr>
                        <a:t>61.8</a:t>
                      </a:r>
                    </a:p>
                  </a:txBody>
                  <a:tcPr marL="54864" marR="54864" anchor="ctr">
                    <a:solidFill>
                      <a:srgbClr val="FFFFFF"/>
                    </a:solidFill>
                  </a:tcPr>
                </a:tc>
                <a:tc>
                  <a:txBody>
                    <a:bodyPr/>
                    <a:lstStyle/>
                    <a:p>
                      <a:pPr algn="ctr"/>
                      <a:r>
                        <a:rPr sz="1150" b="1" i="0">
                          <a:solidFill>
                            <a:srgbClr val="B65C3A"/>
                          </a:solidFill>
                          <a:latin typeface="Aptos"/>
                        </a:rPr>
                        <a:t>62.77</a:t>
                      </a:r>
                    </a:p>
                  </a:txBody>
                  <a:tcPr marL="54864" marR="54864" anchor="ctr">
                    <a:solidFill>
                      <a:srgbClr val="FFFFFF"/>
                    </a:solidFill>
                  </a:tcPr>
                </a:tc>
                <a:tc>
                  <a:txBody>
                    <a:bodyPr/>
                    <a:lstStyle/>
                    <a:p>
                      <a:pPr algn="ctr"/>
                      <a:r>
                        <a:rPr sz="1150" b="0" i="0">
                          <a:solidFill>
                            <a:srgbClr val="202A35"/>
                          </a:solidFill>
                          <a:latin typeface="Aptos"/>
                        </a:rPr>
                        <a:t>+0.97</a:t>
                      </a:r>
                    </a:p>
                  </a:txBody>
                  <a:tcPr marL="54864" marR="54864" anchor="ctr">
                    <a:solidFill>
                      <a:srgbClr val="FFFFFF"/>
                    </a:solidFill>
                  </a:tcPr>
                </a:tc>
                <a:extLst>
                  <a:ext uri="{0D108BD9-81ED-4DB2-BD59-A6C34878D82A}">
                    <a16:rowId xmlns:a16="http://schemas.microsoft.com/office/drawing/2014/main" val="10001"/>
                  </a:ext>
                </a:extLst>
              </a:tr>
              <a:tr h="636422">
                <a:tc>
                  <a:txBody>
                    <a:bodyPr/>
                    <a:lstStyle/>
                    <a:p>
                      <a:pPr algn="l"/>
                      <a:r>
                        <a:rPr sz="1150" b="0" i="0">
                          <a:solidFill>
                            <a:srgbClr val="202A35"/>
                          </a:solidFill>
                          <a:latin typeface="Aptos"/>
                        </a:rPr>
                        <a:t>Random</a:t>
                      </a:r>
                    </a:p>
                  </a:txBody>
                  <a:tcPr marL="54864" marR="54864" anchor="ctr">
                    <a:solidFill>
                      <a:srgbClr val="F2F0EA"/>
                    </a:solidFill>
                  </a:tcPr>
                </a:tc>
                <a:tc>
                  <a:txBody>
                    <a:bodyPr/>
                    <a:lstStyle/>
                    <a:p>
                      <a:pPr algn="ctr"/>
                      <a:r>
                        <a:rPr sz="1150" b="0" i="0">
                          <a:solidFill>
                            <a:srgbClr val="697386"/>
                          </a:solidFill>
                          <a:latin typeface="Aptos"/>
                        </a:rPr>
                        <a:t>60.4</a:t>
                      </a:r>
                    </a:p>
                  </a:txBody>
                  <a:tcPr marL="54864" marR="54864" anchor="ctr">
                    <a:solidFill>
                      <a:srgbClr val="F2F0EA"/>
                    </a:solidFill>
                  </a:tcPr>
                </a:tc>
                <a:tc>
                  <a:txBody>
                    <a:bodyPr/>
                    <a:lstStyle/>
                    <a:p>
                      <a:pPr algn="ctr"/>
                      <a:r>
                        <a:rPr sz="1150" b="1" i="0">
                          <a:solidFill>
                            <a:srgbClr val="B65C3A"/>
                          </a:solidFill>
                          <a:latin typeface="Aptos"/>
                        </a:rPr>
                        <a:t>62.05</a:t>
                      </a:r>
                    </a:p>
                  </a:txBody>
                  <a:tcPr marL="54864" marR="54864" anchor="ctr">
                    <a:solidFill>
                      <a:srgbClr val="F2F0EA"/>
                    </a:solidFill>
                  </a:tcPr>
                </a:tc>
                <a:tc>
                  <a:txBody>
                    <a:bodyPr/>
                    <a:lstStyle/>
                    <a:p>
                      <a:pPr algn="ctr"/>
                      <a:r>
                        <a:rPr sz="1150" b="0" i="0">
                          <a:solidFill>
                            <a:srgbClr val="202A35"/>
                          </a:solidFill>
                          <a:latin typeface="Aptos"/>
                        </a:rPr>
                        <a:t>+1.65</a:t>
                      </a:r>
                    </a:p>
                  </a:txBody>
                  <a:tcPr marL="54864" marR="54864" anchor="ctr">
                    <a:solidFill>
                      <a:srgbClr val="F2F0EA"/>
                    </a:solidFill>
                  </a:tcPr>
                </a:tc>
                <a:extLst>
                  <a:ext uri="{0D108BD9-81ED-4DB2-BD59-A6C34878D82A}">
                    <a16:rowId xmlns:a16="http://schemas.microsoft.com/office/drawing/2014/main" val="10002"/>
                  </a:ext>
                </a:extLst>
              </a:tr>
              <a:tr h="636422">
                <a:tc>
                  <a:txBody>
                    <a:bodyPr/>
                    <a:lstStyle/>
                    <a:p>
                      <a:pPr algn="l"/>
                      <a:r>
                        <a:rPr sz="1150" b="0" i="0">
                          <a:solidFill>
                            <a:srgbClr val="202A35"/>
                          </a:solidFill>
                          <a:latin typeface="Aptos"/>
                        </a:rPr>
                        <a:t>Hard</a:t>
                      </a:r>
                    </a:p>
                  </a:txBody>
                  <a:tcPr marL="54864" marR="54864" anchor="ctr">
                    <a:solidFill>
                      <a:srgbClr val="FFFFFF"/>
                    </a:solidFill>
                  </a:tcPr>
                </a:tc>
                <a:tc>
                  <a:txBody>
                    <a:bodyPr/>
                    <a:lstStyle/>
                    <a:p>
                      <a:pPr algn="ctr"/>
                      <a:r>
                        <a:rPr sz="1150" b="0" i="0">
                          <a:solidFill>
                            <a:srgbClr val="697386"/>
                          </a:solidFill>
                          <a:latin typeface="Aptos"/>
                        </a:rPr>
                        <a:t>62.0</a:t>
                      </a:r>
                    </a:p>
                  </a:txBody>
                  <a:tcPr marL="54864" marR="54864" anchor="ctr">
                    <a:solidFill>
                      <a:srgbClr val="FFFFFF"/>
                    </a:solidFill>
                  </a:tcPr>
                </a:tc>
                <a:tc>
                  <a:txBody>
                    <a:bodyPr/>
                    <a:lstStyle/>
                    <a:p>
                      <a:pPr algn="ctr"/>
                      <a:r>
                        <a:rPr sz="1150" b="1" i="0">
                          <a:solidFill>
                            <a:srgbClr val="B65C3A"/>
                          </a:solidFill>
                          <a:latin typeface="Aptos"/>
                        </a:rPr>
                        <a:t>62.14</a:t>
                      </a:r>
                    </a:p>
                  </a:txBody>
                  <a:tcPr marL="54864" marR="54864" anchor="ctr">
                    <a:solidFill>
                      <a:srgbClr val="FFFFFF"/>
                    </a:solidFill>
                  </a:tcPr>
                </a:tc>
                <a:tc>
                  <a:txBody>
                    <a:bodyPr/>
                    <a:lstStyle/>
                    <a:p>
                      <a:pPr algn="ctr"/>
                      <a:r>
                        <a:rPr sz="1150" b="0" i="0">
                          <a:solidFill>
                            <a:srgbClr val="202A35"/>
                          </a:solidFill>
                          <a:latin typeface="Aptos"/>
                        </a:rPr>
                        <a:t>+0.14</a:t>
                      </a:r>
                    </a:p>
                  </a:txBody>
                  <a:tcPr marL="54864" marR="54864" anchor="ctr">
                    <a:solidFill>
                      <a:srgbClr val="FFFFFF"/>
                    </a:solidFill>
                  </a:tcPr>
                </a:tc>
                <a:extLst>
                  <a:ext uri="{0D108BD9-81ED-4DB2-BD59-A6C34878D82A}">
                    <a16:rowId xmlns:a16="http://schemas.microsoft.com/office/drawing/2014/main" val="10003"/>
                  </a:ext>
                </a:extLst>
              </a:tr>
              <a:tr h="636424">
                <a:tc>
                  <a:txBody>
                    <a:bodyPr/>
                    <a:lstStyle/>
                    <a:p>
                      <a:pPr algn="l"/>
                      <a:r>
                        <a:rPr sz="1150" b="0" i="0">
                          <a:solidFill>
                            <a:srgbClr val="202A35"/>
                          </a:solidFill>
                          <a:latin typeface="Aptos"/>
                        </a:rPr>
                        <a:t>Ambiguous</a:t>
                      </a:r>
                    </a:p>
                  </a:txBody>
                  <a:tcPr marL="54864" marR="54864" anchor="ctr">
                    <a:solidFill>
                      <a:srgbClr val="F2F0EA"/>
                    </a:solidFill>
                  </a:tcPr>
                </a:tc>
                <a:tc>
                  <a:txBody>
                    <a:bodyPr/>
                    <a:lstStyle/>
                    <a:p>
                      <a:pPr algn="ctr"/>
                      <a:r>
                        <a:rPr sz="1150" b="0" i="0">
                          <a:solidFill>
                            <a:srgbClr val="697386"/>
                          </a:solidFill>
                          <a:latin typeface="Aptos"/>
                        </a:rPr>
                        <a:t>63.5</a:t>
                      </a:r>
                    </a:p>
                  </a:txBody>
                  <a:tcPr marL="54864" marR="54864" anchor="ctr">
                    <a:solidFill>
                      <a:srgbClr val="F2F0EA"/>
                    </a:solidFill>
                  </a:tcPr>
                </a:tc>
                <a:tc>
                  <a:txBody>
                    <a:bodyPr/>
                    <a:lstStyle/>
                    <a:p>
                      <a:pPr algn="ctr"/>
                      <a:r>
                        <a:rPr sz="1150" b="1" i="0">
                          <a:solidFill>
                            <a:srgbClr val="B65C3A"/>
                          </a:solidFill>
                          <a:latin typeface="Aptos"/>
                        </a:rPr>
                        <a:t>64.31</a:t>
                      </a:r>
                    </a:p>
                  </a:txBody>
                  <a:tcPr marL="54864" marR="54864" anchor="ctr">
                    <a:solidFill>
                      <a:srgbClr val="F2F0EA"/>
                    </a:solidFill>
                  </a:tcPr>
                </a:tc>
                <a:tc>
                  <a:txBody>
                    <a:bodyPr/>
                    <a:lstStyle/>
                    <a:p>
                      <a:pPr algn="ctr"/>
                      <a:r>
                        <a:rPr sz="1150" b="0" i="0">
                          <a:solidFill>
                            <a:srgbClr val="202A35"/>
                          </a:solidFill>
                          <a:latin typeface="Aptos"/>
                        </a:rPr>
                        <a:t>+0.81</a:t>
                      </a:r>
                    </a:p>
                  </a:txBody>
                  <a:tcPr marL="54864" marR="54864" anchor="ctr">
                    <a:solidFill>
                      <a:srgbClr val="F2F0EA"/>
                    </a:solidFill>
                  </a:tcPr>
                </a:tc>
                <a:extLst>
                  <a:ext uri="{0D108BD9-81ED-4DB2-BD59-A6C34878D82A}">
                    <a16:rowId xmlns:a16="http://schemas.microsoft.com/office/drawing/2014/main" val="10004"/>
                  </a:ext>
                </a:extLst>
              </a:tr>
            </a:tbl>
          </a:graphicData>
        </a:graphic>
      </p:graphicFrame>
      <p:sp>
        <p:nvSpPr>
          <p:cNvPr id="8" name="Rectangle 7"/>
          <p:cNvSpPr/>
          <p:nvPr/>
        </p:nvSpPr>
        <p:spPr>
          <a:xfrm>
            <a:off x="8001000" y="4892040"/>
            <a:ext cx="3337560" cy="1161288"/>
          </a:xfrm>
          <a:prstGeom prst="rect">
            <a:avLst/>
          </a:prstGeom>
          <a:solidFill>
            <a:srgbClr val="F1E8E2"/>
          </a:solidFill>
          <a:ln w="10160">
            <a:solidFill>
              <a:srgbClr val="B6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11312" y="5074920"/>
            <a:ext cx="2907792" cy="2560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000" b="1" i="0">
                <a:solidFill>
                  <a:srgbClr val="B65C3A"/>
                </a:solidFill>
                <a:latin typeface="Aptos"/>
              </a:rPr>
              <a:t>Our Diagnostics ranking</a:t>
            </a:r>
          </a:p>
        </p:txBody>
      </p:sp>
      <p:sp>
        <p:nvSpPr>
          <p:cNvPr id="10" name="Rectangle 9"/>
          <p:cNvSpPr/>
          <p:nvPr/>
        </p:nvSpPr>
        <p:spPr>
          <a:xfrm>
            <a:off x="8211312" y="5330952"/>
            <a:ext cx="2907792" cy="47548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150" b="1" i="0">
                <a:solidFill>
                  <a:srgbClr val="202A35"/>
                </a:solidFill>
                <a:latin typeface="Aptos"/>
              </a:rPr>
              <a:t>Ambiguous  &gt;  Full
&gt;  Hard  &gt;  Random</a:t>
            </a:r>
          </a:p>
        </p:txBody>
      </p:sp>
      <p:sp>
        <p:nvSpPr>
          <p:cNvPr id="11" name="Rectangle 10"/>
          <p:cNvSpPr/>
          <p:nvPr/>
        </p:nvSpPr>
        <p:spPr>
          <a:xfrm>
            <a:off x="822960" y="6053328"/>
            <a:ext cx="68580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000" b="0" i="0">
                <a:solidFill>
                  <a:srgbClr val="5F6B75"/>
                </a:solidFill>
                <a:latin typeface="Aptos"/>
              </a:rPr>
              <a:t>NLI Diagnostics contains 1,104 labeled examples; one seed can move several examples.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B65C3A"/>
                </a:solidFill>
                <a:latin typeface="Aptos"/>
              </a:rPr>
              <a:t>OUR REPRODUCTION</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Reproduced maps agree more on confidence than variability</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19</a:t>
            </a:r>
          </a:p>
        </p:txBody>
      </p:sp>
      <p:pic>
        <p:nvPicPr>
          <p:cNvPr id="6" name="Picture 5" descr="snli_data_map.png"/>
          <p:cNvPicPr>
            <a:picLocks noChangeAspect="1"/>
          </p:cNvPicPr>
          <p:nvPr/>
        </p:nvPicPr>
        <p:blipFill>
          <a:blip r:embed="rId3"/>
          <a:stretch>
            <a:fillRect/>
          </a:stretch>
        </p:blipFill>
        <p:spPr>
          <a:xfrm>
            <a:off x="640080" y="1307591"/>
            <a:ext cx="3733655" cy="2800241"/>
          </a:xfrm>
          <a:prstGeom prst="rect">
            <a:avLst/>
          </a:prstGeom>
        </p:spPr>
      </p:pic>
      <p:pic>
        <p:nvPicPr>
          <p:cNvPr id="7" name="Picture 6" descr="confidence_comparison.png"/>
          <p:cNvPicPr>
            <a:picLocks noChangeAspect="1"/>
          </p:cNvPicPr>
          <p:nvPr/>
        </p:nvPicPr>
        <p:blipFill>
          <a:blip r:embed="rId4"/>
          <a:stretch>
            <a:fillRect/>
          </a:stretch>
        </p:blipFill>
        <p:spPr>
          <a:xfrm>
            <a:off x="4971143" y="1316737"/>
            <a:ext cx="2862217" cy="2862217"/>
          </a:xfrm>
          <a:prstGeom prst="rect">
            <a:avLst/>
          </a:prstGeom>
        </p:spPr>
      </p:pic>
      <p:pic>
        <p:nvPicPr>
          <p:cNvPr id="8" name="Picture 7" descr="variability_comparison.png"/>
          <p:cNvPicPr>
            <a:picLocks noChangeAspect="1"/>
          </p:cNvPicPr>
          <p:nvPr/>
        </p:nvPicPr>
        <p:blipFill>
          <a:blip r:embed="rId5"/>
          <a:stretch>
            <a:fillRect/>
          </a:stretch>
        </p:blipFill>
        <p:spPr>
          <a:xfrm>
            <a:off x="8366615" y="1344022"/>
            <a:ext cx="2862217" cy="2862217"/>
          </a:xfrm>
          <a:prstGeom prst="rect">
            <a:avLst/>
          </a:prstGeom>
        </p:spPr>
      </p:pic>
      <p:sp>
        <p:nvSpPr>
          <p:cNvPr id="9" name="Rectangle 8"/>
          <p:cNvSpPr/>
          <p:nvPr/>
        </p:nvSpPr>
        <p:spPr>
          <a:xfrm>
            <a:off x="640080" y="4315968"/>
            <a:ext cx="246888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950" b="1" i="0">
                <a:solidFill>
                  <a:srgbClr val="5F6B75"/>
                </a:solidFill>
                <a:latin typeface="Aptos"/>
              </a:rPr>
              <a:t>Map coverage</a:t>
            </a:r>
          </a:p>
        </p:txBody>
      </p:sp>
      <p:sp>
        <p:nvSpPr>
          <p:cNvPr id="10" name="Rectangle 9"/>
          <p:cNvSpPr/>
          <p:nvPr/>
        </p:nvSpPr>
        <p:spPr>
          <a:xfrm>
            <a:off x="640080" y="4645152"/>
            <a:ext cx="246888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200" b="1" i="0">
                <a:solidFill>
                  <a:srgbClr val="B65C3A"/>
                </a:solidFill>
                <a:latin typeface="Aptos"/>
              </a:rPr>
              <a:t>99.91%</a:t>
            </a:r>
          </a:p>
        </p:txBody>
      </p:sp>
      <p:sp>
        <p:nvSpPr>
          <p:cNvPr id="11" name="Rectangle 10"/>
          <p:cNvSpPr/>
          <p:nvPr/>
        </p:nvSpPr>
        <p:spPr>
          <a:xfrm>
            <a:off x="3429000" y="4315968"/>
            <a:ext cx="246888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950" b="1" i="0">
                <a:solidFill>
                  <a:srgbClr val="5F6B75"/>
                </a:solidFill>
                <a:latin typeface="Aptos"/>
              </a:rPr>
              <a:t>Confidence Pearson / Spearman</a:t>
            </a:r>
          </a:p>
        </p:txBody>
      </p:sp>
      <p:sp>
        <p:nvSpPr>
          <p:cNvPr id="12" name="Rectangle 11"/>
          <p:cNvSpPr/>
          <p:nvPr/>
        </p:nvSpPr>
        <p:spPr>
          <a:xfrm>
            <a:off x="3429000" y="4645152"/>
            <a:ext cx="246888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200" b="1" i="0">
                <a:solidFill>
                  <a:srgbClr val="2B6F6D"/>
                </a:solidFill>
                <a:latin typeface="Aptos"/>
              </a:rPr>
              <a:t>0.944 / 0.888</a:t>
            </a:r>
          </a:p>
        </p:txBody>
      </p:sp>
      <p:sp>
        <p:nvSpPr>
          <p:cNvPr id="13" name="Rectangle 12"/>
          <p:cNvSpPr/>
          <p:nvPr/>
        </p:nvSpPr>
        <p:spPr>
          <a:xfrm>
            <a:off x="6217920" y="4315968"/>
            <a:ext cx="246888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950" b="1" i="0">
                <a:solidFill>
                  <a:srgbClr val="5F6B75"/>
                </a:solidFill>
                <a:latin typeface="Aptos"/>
              </a:rPr>
              <a:t>Variability Pearson / Spearman</a:t>
            </a:r>
          </a:p>
        </p:txBody>
      </p:sp>
      <p:sp>
        <p:nvSpPr>
          <p:cNvPr id="14" name="Rectangle 13"/>
          <p:cNvSpPr/>
          <p:nvPr/>
        </p:nvSpPr>
        <p:spPr>
          <a:xfrm>
            <a:off x="6217920" y="4645152"/>
            <a:ext cx="246888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200" b="1" i="0">
                <a:solidFill>
                  <a:srgbClr val="B47A2A"/>
                </a:solidFill>
                <a:latin typeface="Aptos"/>
              </a:rPr>
              <a:t>0.708 / 0.772</a:t>
            </a:r>
          </a:p>
        </p:txBody>
      </p:sp>
      <p:sp>
        <p:nvSpPr>
          <p:cNvPr id="15" name="Rectangle 14"/>
          <p:cNvSpPr/>
          <p:nvPr/>
        </p:nvSpPr>
        <p:spPr>
          <a:xfrm>
            <a:off x="9006839" y="4315968"/>
            <a:ext cx="2468880" cy="22860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950" b="1" i="0">
                <a:solidFill>
                  <a:srgbClr val="5F6B75"/>
                </a:solidFill>
                <a:latin typeface="Aptos"/>
              </a:rPr>
              <a:t>Ambiguous-set overlap</a:t>
            </a:r>
          </a:p>
        </p:txBody>
      </p:sp>
      <p:sp>
        <p:nvSpPr>
          <p:cNvPr id="16" name="Rectangle 15"/>
          <p:cNvSpPr/>
          <p:nvPr/>
        </p:nvSpPr>
        <p:spPr>
          <a:xfrm>
            <a:off x="9006839" y="4645152"/>
            <a:ext cx="246888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2200" b="1" i="0">
                <a:solidFill>
                  <a:srgbClr val="697386"/>
                </a:solidFill>
                <a:latin typeface="Aptos"/>
              </a:rPr>
              <a:t>75.2%</a:t>
            </a:r>
          </a:p>
        </p:txBody>
      </p:sp>
      <p:sp>
        <p:nvSpPr>
          <p:cNvPr id="17" name="Rectangle 16"/>
          <p:cNvSpPr/>
          <p:nvPr/>
        </p:nvSpPr>
        <p:spPr>
          <a:xfrm>
            <a:off x="1097280" y="5349240"/>
            <a:ext cx="9966960" cy="658368"/>
          </a:xfrm>
          <a:prstGeom prst="rect">
            <a:avLst/>
          </a:prstGeom>
          <a:solidFill>
            <a:srgbClr val="FFFFFF"/>
          </a:solidFill>
          <a:ln w="10160">
            <a:solidFill>
              <a:srgbClr val="A94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325880" y="5495544"/>
            <a:ext cx="9509760" cy="34747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500" b="1" i="0">
                <a:solidFill>
                  <a:srgbClr val="202A35"/>
                </a:solidFill>
                <a:latin typeface="Aptos"/>
              </a:rPr>
              <a:t>Individual agreement: the paper’s “girl → boy” hard example is also among our lowest-confidence examples.</a:t>
            </a:r>
          </a:p>
        </p:txBody>
      </p:sp>
      <p:sp>
        <p:nvSpPr>
          <p:cNvPr id="19" name="Rectangle 18"/>
          <p:cNvSpPr/>
          <p:nvPr/>
        </p:nvSpPr>
        <p:spPr>
          <a:xfrm>
            <a:off x="694944" y="6199632"/>
            <a:ext cx="1078992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850" b="0" i="0">
                <a:solidFill>
                  <a:srgbClr val="5F6B75"/>
                </a:solidFill>
                <a:latin typeface="Aptos"/>
              </a:rPr>
              <a:t>Coverage excludes 498 examples lacking exactly one observation in every logged epoch; no values were imputed.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lang="en-US" sz="850" b="1" i="0" spc="150" dirty="0">
                <a:solidFill>
                  <a:srgbClr val="697386"/>
                </a:solidFill>
                <a:latin typeface="Aptos"/>
              </a:rPr>
              <a:t>TO CONCLUDE</a:t>
            </a:r>
            <a:endParaRPr sz="850" b="1" i="0" spc="150" dirty="0">
              <a:solidFill>
                <a:srgbClr val="697386"/>
              </a:solidFill>
              <a:latin typeface="Aptos"/>
            </a:endParaRP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The selection result reproduces; map details remain sensitive</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20</a:t>
            </a:r>
          </a:p>
        </p:txBody>
      </p:sp>
      <p:sp>
        <p:nvSpPr>
          <p:cNvPr id="6" name="Rectangle 5"/>
          <p:cNvSpPr/>
          <p:nvPr/>
        </p:nvSpPr>
        <p:spPr>
          <a:xfrm>
            <a:off x="694944" y="1307592"/>
            <a:ext cx="5166360" cy="32918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100" b="1" i="0">
                <a:solidFill>
                  <a:srgbClr val="4F7661"/>
                </a:solidFill>
                <a:latin typeface="Aptos"/>
              </a:rPr>
              <a:t>SUPPORTED BY OUR EVIDENCE</a:t>
            </a:r>
          </a:p>
        </p:txBody>
      </p:sp>
      <p:sp>
        <p:nvSpPr>
          <p:cNvPr id="7" name="Rectangle 6"/>
          <p:cNvSpPr/>
          <p:nvPr/>
        </p:nvSpPr>
        <p:spPr>
          <a:xfrm>
            <a:off x="694944" y="1783080"/>
            <a:ext cx="5212080" cy="24688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spcAft>
                <a:spcPts val="1200"/>
              </a:spcAft>
            </a:pPr>
            <a:r>
              <a:rPr sz="899" b="1" i="0" dirty="0">
                <a:solidFill>
                  <a:srgbClr val="4F7661"/>
                </a:solidFill>
                <a:latin typeface="Aptos"/>
              </a:rPr>
              <a:t>●  </a:t>
            </a:r>
            <a:r>
              <a:rPr sz="1550" b="0" i="0" dirty="0">
                <a:solidFill>
                  <a:srgbClr val="202A35"/>
                </a:solidFill>
                <a:latin typeface="Aptos"/>
              </a:rPr>
              <a:t>Ambiguous 33% matches paper ID accuracy: 92.19 vs 92.2.</a:t>
            </a:r>
          </a:p>
          <a:p>
            <a:pPr algn="ctr">
              <a:spcAft>
                <a:spcPts val="1200"/>
              </a:spcAft>
            </a:pPr>
            <a:r>
              <a:rPr sz="899" b="1" i="0" dirty="0">
                <a:solidFill>
                  <a:srgbClr val="4F7661"/>
                </a:solidFill>
                <a:latin typeface="Aptos"/>
              </a:rPr>
              <a:t>●  </a:t>
            </a:r>
            <a:r>
              <a:rPr sz="1550" b="0" i="0" dirty="0">
                <a:solidFill>
                  <a:srgbClr val="202A35"/>
                </a:solidFill>
                <a:latin typeface="Aptos"/>
              </a:rPr>
              <a:t>Ambiguous remains best on Diagnostics: 64.31.</a:t>
            </a:r>
          </a:p>
          <a:p>
            <a:pPr algn="ctr">
              <a:spcAft>
                <a:spcPts val="1200"/>
              </a:spcAft>
            </a:pPr>
            <a:r>
              <a:rPr sz="899" b="1" i="0" dirty="0">
                <a:solidFill>
                  <a:srgbClr val="4F7661"/>
                </a:solidFill>
                <a:latin typeface="Aptos"/>
              </a:rPr>
              <a:t>●  </a:t>
            </a:r>
            <a:r>
              <a:rPr sz="1550" b="0" i="0" dirty="0">
                <a:solidFill>
                  <a:srgbClr val="202A35"/>
                </a:solidFill>
                <a:latin typeface="Aptos"/>
              </a:rPr>
              <a:t>Confidence structure transfers strongly between maps.</a:t>
            </a:r>
          </a:p>
          <a:p>
            <a:pPr algn="ctr">
              <a:spcAft>
                <a:spcPts val="1200"/>
              </a:spcAft>
            </a:pPr>
            <a:r>
              <a:rPr sz="899" b="1" i="0" dirty="0">
                <a:solidFill>
                  <a:srgbClr val="4F7661"/>
                </a:solidFill>
                <a:latin typeface="Aptos"/>
              </a:rPr>
              <a:t>●  </a:t>
            </a:r>
            <a:r>
              <a:rPr sz="1550" b="0" i="0" dirty="0">
                <a:solidFill>
                  <a:srgbClr val="202A35"/>
                </a:solidFill>
                <a:latin typeface="Aptos"/>
              </a:rPr>
              <a:t>One third of the data approaches full-data performance.</a:t>
            </a:r>
          </a:p>
        </p:txBody>
      </p:sp>
      <p:sp>
        <p:nvSpPr>
          <p:cNvPr id="8" name="Rectangle 7"/>
          <p:cNvSpPr/>
          <p:nvPr/>
        </p:nvSpPr>
        <p:spPr>
          <a:xfrm>
            <a:off x="6263640" y="1307592"/>
            <a:ext cx="5212080" cy="32918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100" b="1" i="0">
                <a:solidFill>
                  <a:srgbClr val="A94B46"/>
                </a:solidFill>
                <a:latin typeface="Aptos"/>
              </a:rPr>
              <a:t>LESS STABLE OR DIFFERENT</a:t>
            </a:r>
          </a:p>
        </p:txBody>
      </p:sp>
      <p:sp>
        <p:nvSpPr>
          <p:cNvPr id="9" name="Rectangle 8"/>
          <p:cNvSpPr/>
          <p:nvPr/>
        </p:nvSpPr>
        <p:spPr>
          <a:xfrm>
            <a:off x="6263640" y="1783080"/>
            <a:ext cx="5074920" cy="24688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spcAft>
                <a:spcPts val="1200"/>
              </a:spcAft>
            </a:pPr>
            <a:r>
              <a:rPr sz="899" b="1" i="0" dirty="0">
                <a:solidFill>
                  <a:srgbClr val="A94B46"/>
                </a:solidFill>
                <a:latin typeface="Aptos"/>
              </a:rPr>
              <a:t>●  </a:t>
            </a:r>
            <a:r>
              <a:rPr sz="1550" b="0" i="0" dirty="0">
                <a:solidFill>
                  <a:srgbClr val="202A35"/>
                </a:solidFill>
                <a:latin typeface="Aptos"/>
              </a:rPr>
              <a:t>Hard-subset ID is 1.38 points below the paper.</a:t>
            </a:r>
          </a:p>
          <a:p>
            <a:pPr algn="ctr">
              <a:spcAft>
                <a:spcPts val="1200"/>
              </a:spcAft>
            </a:pPr>
            <a:r>
              <a:rPr sz="899" b="1" i="0" dirty="0">
                <a:solidFill>
                  <a:srgbClr val="A94B46"/>
                </a:solidFill>
                <a:latin typeface="Aptos"/>
              </a:rPr>
              <a:t>●  </a:t>
            </a:r>
            <a:r>
              <a:rPr sz="1550" b="0" i="0" dirty="0">
                <a:solidFill>
                  <a:srgbClr val="202A35"/>
                </a:solidFill>
                <a:latin typeface="Aptos"/>
              </a:rPr>
              <a:t>Variability agrees less strongly than confidence.</a:t>
            </a:r>
          </a:p>
          <a:p>
            <a:pPr algn="ctr">
              <a:spcAft>
                <a:spcPts val="1200"/>
              </a:spcAft>
            </a:pPr>
            <a:r>
              <a:rPr sz="899" b="1" i="0" dirty="0">
                <a:solidFill>
                  <a:srgbClr val="A94B46"/>
                </a:solidFill>
                <a:latin typeface="Aptos"/>
              </a:rPr>
              <a:t>●  </a:t>
            </a:r>
            <a:r>
              <a:rPr sz="1550" b="0" i="0" dirty="0">
                <a:solidFill>
                  <a:srgbClr val="202A35"/>
                </a:solidFill>
                <a:latin typeface="Aptos"/>
              </a:rPr>
              <a:t>The paper reports best of 3 seeds; we have one.</a:t>
            </a:r>
          </a:p>
          <a:p>
            <a:pPr algn="ctr">
              <a:spcAft>
                <a:spcPts val="1200"/>
              </a:spcAft>
            </a:pPr>
            <a:r>
              <a:rPr sz="899" b="1" i="0" dirty="0">
                <a:solidFill>
                  <a:srgbClr val="A94B46"/>
                </a:solidFill>
                <a:latin typeface="Aptos"/>
              </a:rPr>
              <a:t>●  </a:t>
            </a:r>
            <a:r>
              <a:rPr sz="1550" b="0" i="0" dirty="0">
                <a:solidFill>
                  <a:srgbClr val="202A35"/>
                </a:solidFill>
                <a:latin typeface="Aptos"/>
              </a:rPr>
              <a:t>Hardware, precision, and software stacks differ.</a:t>
            </a:r>
          </a:p>
        </p:txBody>
      </p:sp>
      <p:cxnSp>
        <p:nvCxnSpPr>
          <p:cNvPr id="10" name="Connector 9"/>
          <p:cNvCxnSpPr/>
          <p:nvPr/>
        </p:nvCxnSpPr>
        <p:spPr>
          <a:xfrm>
            <a:off x="749808" y="4480560"/>
            <a:ext cx="10479024"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914400" y="4681728"/>
            <a:ext cx="10287000" cy="62179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2000" b="1" i="0">
                <a:solidFill>
                  <a:srgbClr val="202A35"/>
                </a:solidFill>
                <a:latin typeface="Aptos"/>
              </a:rPr>
              <a:t>Training histories expose structure that final accuracy alone cannot show.</a:t>
            </a:r>
          </a:p>
        </p:txBody>
      </p:sp>
      <p:sp>
        <p:nvSpPr>
          <p:cNvPr id="12" name="Rectangle 11"/>
          <p:cNvSpPr/>
          <p:nvPr/>
        </p:nvSpPr>
        <p:spPr>
          <a:xfrm>
            <a:off x="1078992" y="5376672"/>
            <a:ext cx="9966960" cy="71323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1500" b="1" i="0">
                <a:solidFill>
                  <a:srgbClr val="B65C3A"/>
                </a:solidFill>
                <a:latin typeface="Aptos"/>
              </a:rPr>
              <a:t>In this SNLI reproduction, selecting high-variability examples preserved accuracy and strengthened diagnostic generalization, while exact map coordinates remained sensitive to training details.</a:t>
            </a:r>
          </a:p>
        </p:txBody>
      </p:sp>
      <p:sp>
        <p:nvSpPr>
          <p:cNvPr id="13" name="Rectangle 12"/>
          <p:cNvSpPr/>
          <p:nvPr/>
        </p:nvSpPr>
        <p:spPr>
          <a:xfrm>
            <a:off x="749808" y="6236208"/>
            <a:ext cx="1828800" cy="1828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900" b="0" i="0">
                <a:solidFill>
                  <a:srgbClr val="5F6B75"/>
                </a:solidFill>
                <a:latin typeface="Aptos"/>
              </a:rPr>
              <a:t>Questions</a:t>
            </a:r>
          </a:p>
        </p:txBody>
      </p:sp>
      <p:sp>
        <p:nvSpPr>
          <p:cNvPr id="14" name="Rectangle 13"/>
          <p:cNvSpPr/>
          <p:nvPr/>
        </p:nvSpPr>
        <p:spPr>
          <a:xfrm>
            <a:off x="3886200" y="6199632"/>
            <a:ext cx="740664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850" b="0" i="0">
                <a:solidFill>
                  <a:srgbClr val="5F6B75"/>
                </a:solidFill>
                <a:latin typeface="Aptos"/>
              </a:rPr>
              <a:t>github.com/JuliaMazine/dataset-cartography-reproduction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697386"/>
                </a:solidFill>
                <a:latin typeface="Aptos"/>
              </a:rPr>
              <a:t>APPENDIX</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Exact reproduction hyperparameters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A1</a:t>
            </a:r>
          </a:p>
        </p:txBody>
      </p:sp>
      <p:graphicFrame>
        <p:nvGraphicFramePr>
          <p:cNvPr id="6" name="Table 5"/>
          <p:cNvGraphicFramePr>
            <a:graphicFrameLocks noGrp="1"/>
          </p:cNvGraphicFramePr>
          <p:nvPr/>
        </p:nvGraphicFramePr>
        <p:xfrm>
          <a:off x="1051560" y="1325880"/>
          <a:ext cx="10058400" cy="452628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tblGrid>
              <a:tr h="411480">
                <a:tc>
                  <a:txBody>
                    <a:bodyPr/>
                    <a:lstStyle/>
                    <a:p>
                      <a:pPr algn="l"/>
                      <a:r>
                        <a:rPr sz="1100" b="1" i="0">
                          <a:solidFill>
                            <a:srgbClr val="202A35"/>
                          </a:solidFill>
                          <a:latin typeface="Aptos"/>
                        </a:rPr>
                        <a:t>Setting</a:t>
                      </a:r>
                    </a:p>
                  </a:txBody>
                  <a:tcPr marL="54864" marR="54864">
                    <a:solidFill>
                      <a:srgbClr val="ECE9E2"/>
                    </a:solidFill>
                  </a:tcPr>
                </a:tc>
                <a:tc>
                  <a:txBody>
                    <a:bodyPr/>
                    <a:lstStyle/>
                    <a:p>
                      <a:pPr algn="ctr"/>
                      <a:r>
                        <a:rPr sz="1100" b="1" i="0">
                          <a:solidFill>
                            <a:srgbClr val="202A35"/>
                          </a:solidFill>
                          <a:latin typeface="Aptos"/>
                        </a:rPr>
                        <a:t>Value</a:t>
                      </a:r>
                    </a:p>
                  </a:txBody>
                  <a:tcPr marL="54864" marR="54864">
                    <a:solidFill>
                      <a:srgbClr val="ECE9E2"/>
                    </a:solidFill>
                  </a:tcPr>
                </a:tc>
                <a:extLst>
                  <a:ext uri="{0D108BD9-81ED-4DB2-BD59-A6C34878D82A}">
                    <a16:rowId xmlns:a16="http://schemas.microsoft.com/office/drawing/2014/main" val="10000"/>
                  </a:ext>
                </a:extLst>
              </a:tr>
              <a:tr h="411480">
                <a:tc>
                  <a:txBody>
                    <a:bodyPr/>
                    <a:lstStyle/>
                    <a:p>
                      <a:pPr algn="l"/>
                      <a:r>
                        <a:rPr sz="1200" b="0" i="0">
                          <a:solidFill>
                            <a:srgbClr val="202A35"/>
                          </a:solidFill>
                          <a:latin typeface="Aptos"/>
                        </a:rPr>
                        <a:t>Model</a:t>
                      </a:r>
                    </a:p>
                  </a:txBody>
                  <a:tcPr marL="54864" marR="54864" anchor="ctr">
                    <a:solidFill>
                      <a:srgbClr val="FFFFFF"/>
                    </a:solidFill>
                  </a:tcPr>
                </a:tc>
                <a:tc>
                  <a:txBody>
                    <a:bodyPr/>
                    <a:lstStyle/>
                    <a:p>
                      <a:pPr algn="ctr"/>
                      <a:r>
                        <a:rPr sz="1200" b="1" i="0">
                          <a:solidFill>
                            <a:srgbClr val="B65C3A"/>
                          </a:solidFill>
                          <a:latin typeface="Aptos"/>
                        </a:rPr>
                        <a:t>roberta-large</a:t>
                      </a:r>
                    </a:p>
                  </a:txBody>
                  <a:tcPr marL="54864" marR="54864" anchor="ctr">
                    <a:solidFill>
                      <a:srgbClr val="FFFFFF"/>
                    </a:solidFill>
                  </a:tcPr>
                </a:tc>
                <a:extLst>
                  <a:ext uri="{0D108BD9-81ED-4DB2-BD59-A6C34878D82A}">
                    <a16:rowId xmlns:a16="http://schemas.microsoft.com/office/drawing/2014/main" val="10001"/>
                  </a:ext>
                </a:extLst>
              </a:tr>
              <a:tr h="411480">
                <a:tc>
                  <a:txBody>
                    <a:bodyPr/>
                    <a:lstStyle/>
                    <a:p>
                      <a:pPr algn="l"/>
                      <a:r>
                        <a:rPr sz="1200" b="0" i="0">
                          <a:solidFill>
                            <a:srgbClr val="202A35"/>
                          </a:solidFill>
                          <a:latin typeface="Aptos"/>
                        </a:rPr>
                        <a:t>Seed</a:t>
                      </a:r>
                    </a:p>
                  </a:txBody>
                  <a:tcPr marL="54864" marR="54864" anchor="ctr">
                    <a:solidFill>
                      <a:srgbClr val="F2F0EA"/>
                    </a:solidFill>
                  </a:tcPr>
                </a:tc>
                <a:tc>
                  <a:txBody>
                    <a:bodyPr/>
                    <a:lstStyle/>
                    <a:p>
                      <a:pPr algn="ctr"/>
                      <a:r>
                        <a:rPr sz="1200" b="1" i="0">
                          <a:solidFill>
                            <a:srgbClr val="B65C3A"/>
                          </a:solidFill>
                          <a:latin typeface="Aptos"/>
                        </a:rPr>
                        <a:t>93078</a:t>
                      </a:r>
                    </a:p>
                  </a:txBody>
                  <a:tcPr marL="54864" marR="54864" anchor="ctr">
                    <a:solidFill>
                      <a:srgbClr val="F2F0EA"/>
                    </a:solidFill>
                  </a:tcPr>
                </a:tc>
                <a:extLst>
                  <a:ext uri="{0D108BD9-81ED-4DB2-BD59-A6C34878D82A}">
                    <a16:rowId xmlns:a16="http://schemas.microsoft.com/office/drawing/2014/main" val="10002"/>
                  </a:ext>
                </a:extLst>
              </a:tr>
              <a:tr h="411480">
                <a:tc>
                  <a:txBody>
                    <a:bodyPr/>
                    <a:lstStyle/>
                    <a:p>
                      <a:pPr algn="l"/>
                      <a:r>
                        <a:rPr sz="1200" b="0" i="0">
                          <a:solidFill>
                            <a:srgbClr val="202A35"/>
                          </a:solidFill>
                          <a:latin typeface="Aptos"/>
                        </a:rPr>
                        <a:t>Learning rate</a:t>
                      </a:r>
                    </a:p>
                  </a:txBody>
                  <a:tcPr marL="54864" marR="54864" anchor="ctr">
                    <a:solidFill>
                      <a:srgbClr val="FFFFFF"/>
                    </a:solidFill>
                  </a:tcPr>
                </a:tc>
                <a:tc>
                  <a:txBody>
                    <a:bodyPr/>
                    <a:lstStyle/>
                    <a:p>
                      <a:pPr algn="ctr"/>
                      <a:r>
                        <a:rPr sz="1200" b="1" i="0">
                          <a:solidFill>
                            <a:srgbClr val="B65C3A"/>
                          </a:solidFill>
                          <a:latin typeface="Aptos"/>
                        </a:rPr>
                        <a:t>1.0708609960508476 × 10⁻⁵</a:t>
                      </a:r>
                    </a:p>
                  </a:txBody>
                  <a:tcPr marL="54864" marR="54864" anchor="ctr">
                    <a:solidFill>
                      <a:srgbClr val="FFFFFF"/>
                    </a:solidFill>
                  </a:tcPr>
                </a:tc>
                <a:extLst>
                  <a:ext uri="{0D108BD9-81ED-4DB2-BD59-A6C34878D82A}">
                    <a16:rowId xmlns:a16="http://schemas.microsoft.com/office/drawing/2014/main" val="10003"/>
                  </a:ext>
                </a:extLst>
              </a:tr>
              <a:tr h="411480">
                <a:tc>
                  <a:txBody>
                    <a:bodyPr/>
                    <a:lstStyle/>
                    <a:p>
                      <a:pPr algn="l"/>
                      <a:r>
                        <a:rPr sz="1200" b="0" i="0">
                          <a:solidFill>
                            <a:srgbClr val="202A35"/>
                          </a:solidFill>
                          <a:latin typeface="Aptos"/>
                        </a:rPr>
                        <a:t>Optimizer</a:t>
                      </a:r>
                    </a:p>
                  </a:txBody>
                  <a:tcPr marL="54864" marR="54864" anchor="ctr">
                    <a:solidFill>
                      <a:srgbClr val="F2F0EA"/>
                    </a:solidFill>
                  </a:tcPr>
                </a:tc>
                <a:tc>
                  <a:txBody>
                    <a:bodyPr/>
                    <a:lstStyle/>
                    <a:p>
                      <a:pPr algn="ctr"/>
                      <a:r>
                        <a:rPr sz="1200" b="1" i="0">
                          <a:solidFill>
                            <a:srgbClr val="B65C3A"/>
                          </a:solidFill>
                          <a:latin typeface="Aptos"/>
                        </a:rPr>
                        <a:t>AdamW; ε=1e-8; weight decay 0; max grad norm 1</a:t>
                      </a:r>
                    </a:p>
                  </a:txBody>
                  <a:tcPr marL="54864" marR="54864" anchor="ctr">
                    <a:solidFill>
                      <a:srgbClr val="F2F0EA"/>
                    </a:solidFill>
                  </a:tcPr>
                </a:tc>
                <a:extLst>
                  <a:ext uri="{0D108BD9-81ED-4DB2-BD59-A6C34878D82A}">
                    <a16:rowId xmlns:a16="http://schemas.microsoft.com/office/drawing/2014/main" val="10004"/>
                  </a:ext>
                </a:extLst>
              </a:tr>
              <a:tr h="411480">
                <a:tc>
                  <a:txBody>
                    <a:bodyPr/>
                    <a:lstStyle/>
                    <a:p>
                      <a:pPr algn="l"/>
                      <a:r>
                        <a:rPr sz="1200" b="0" i="0">
                          <a:solidFill>
                            <a:srgbClr val="202A35"/>
                          </a:solidFill>
                          <a:latin typeface="Aptos"/>
                        </a:rPr>
                        <a:t>Schedule</a:t>
                      </a:r>
                    </a:p>
                  </a:txBody>
                  <a:tcPr marL="54864" marR="54864" anchor="ctr">
                    <a:solidFill>
                      <a:srgbClr val="FFFFFF"/>
                    </a:solidFill>
                  </a:tcPr>
                </a:tc>
                <a:tc>
                  <a:txBody>
                    <a:bodyPr/>
                    <a:lstStyle/>
                    <a:p>
                      <a:pPr algn="ctr"/>
                      <a:r>
                        <a:rPr sz="1200" b="1" i="0">
                          <a:solidFill>
                            <a:srgbClr val="B65C3A"/>
                          </a:solidFill>
                          <a:latin typeface="Aptos"/>
                        </a:rPr>
                        <a:t>linear decay; zero warmup</a:t>
                      </a:r>
                    </a:p>
                  </a:txBody>
                  <a:tcPr marL="54864" marR="54864" anchor="ctr">
                    <a:solidFill>
                      <a:srgbClr val="FFFFFF"/>
                    </a:solidFill>
                  </a:tcPr>
                </a:tc>
                <a:extLst>
                  <a:ext uri="{0D108BD9-81ED-4DB2-BD59-A6C34878D82A}">
                    <a16:rowId xmlns:a16="http://schemas.microsoft.com/office/drawing/2014/main" val="10005"/>
                  </a:ext>
                </a:extLst>
              </a:tr>
              <a:tr h="411480">
                <a:tc>
                  <a:txBody>
                    <a:bodyPr/>
                    <a:lstStyle/>
                    <a:p>
                      <a:pPr algn="l"/>
                      <a:r>
                        <a:rPr sz="1200" b="0" i="0">
                          <a:solidFill>
                            <a:srgbClr val="202A35"/>
                          </a:solidFill>
                          <a:latin typeface="Aptos"/>
                        </a:rPr>
                        <a:t>Maximum length</a:t>
                      </a:r>
                    </a:p>
                  </a:txBody>
                  <a:tcPr marL="54864" marR="54864" anchor="ctr">
                    <a:solidFill>
                      <a:srgbClr val="F2F0EA"/>
                    </a:solidFill>
                  </a:tcPr>
                </a:tc>
                <a:tc>
                  <a:txBody>
                    <a:bodyPr/>
                    <a:lstStyle/>
                    <a:p>
                      <a:pPr algn="ctr"/>
                      <a:r>
                        <a:rPr sz="1200" b="1" i="0">
                          <a:solidFill>
                            <a:srgbClr val="B65C3A"/>
                          </a:solidFill>
                          <a:latin typeface="Aptos"/>
                        </a:rPr>
                        <a:t>128 tokens</a:t>
                      </a:r>
                    </a:p>
                  </a:txBody>
                  <a:tcPr marL="54864" marR="54864" anchor="ctr">
                    <a:solidFill>
                      <a:srgbClr val="F2F0EA"/>
                    </a:solidFill>
                  </a:tcPr>
                </a:tc>
                <a:extLst>
                  <a:ext uri="{0D108BD9-81ED-4DB2-BD59-A6C34878D82A}">
                    <a16:rowId xmlns:a16="http://schemas.microsoft.com/office/drawing/2014/main" val="10006"/>
                  </a:ext>
                </a:extLst>
              </a:tr>
              <a:tr h="411480">
                <a:tc>
                  <a:txBody>
                    <a:bodyPr/>
                    <a:lstStyle/>
                    <a:p>
                      <a:pPr algn="l"/>
                      <a:r>
                        <a:rPr sz="1200" b="0" i="0">
                          <a:solidFill>
                            <a:srgbClr val="202A35"/>
                          </a:solidFill>
                          <a:latin typeface="Aptos"/>
                        </a:rPr>
                        <a:t>Batch</a:t>
                      </a:r>
                    </a:p>
                  </a:txBody>
                  <a:tcPr marL="54864" marR="54864" anchor="ctr">
                    <a:solidFill>
                      <a:srgbClr val="FFFFFF"/>
                    </a:solidFill>
                  </a:tcPr>
                </a:tc>
                <a:tc>
                  <a:txBody>
                    <a:bodyPr/>
                    <a:lstStyle/>
                    <a:p>
                      <a:pPr algn="ctr"/>
                      <a:r>
                        <a:rPr sz="1200" b="1" i="0">
                          <a:solidFill>
                            <a:srgbClr val="B65C3A"/>
                          </a:solidFill>
                          <a:latin typeface="Aptos"/>
                        </a:rPr>
                        <a:t>32 physical × 3 accumulation = 96 effective</a:t>
                      </a:r>
                    </a:p>
                  </a:txBody>
                  <a:tcPr marL="54864" marR="54864" anchor="ctr">
                    <a:solidFill>
                      <a:srgbClr val="FFFFFF"/>
                    </a:solidFill>
                  </a:tcPr>
                </a:tc>
                <a:extLst>
                  <a:ext uri="{0D108BD9-81ED-4DB2-BD59-A6C34878D82A}">
                    <a16:rowId xmlns:a16="http://schemas.microsoft.com/office/drawing/2014/main" val="10007"/>
                  </a:ext>
                </a:extLst>
              </a:tr>
              <a:tr h="411480">
                <a:tc>
                  <a:txBody>
                    <a:bodyPr/>
                    <a:lstStyle/>
                    <a:p>
                      <a:pPr algn="l"/>
                      <a:r>
                        <a:rPr sz="1200" b="0" i="0">
                          <a:solidFill>
                            <a:srgbClr val="202A35"/>
                          </a:solidFill>
                          <a:latin typeface="Aptos"/>
                        </a:rPr>
                        <a:t>Precision</a:t>
                      </a:r>
                    </a:p>
                  </a:txBody>
                  <a:tcPr marL="54864" marR="54864" anchor="ctr">
                    <a:solidFill>
                      <a:srgbClr val="F2F0EA"/>
                    </a:solidFill>
                  </a:tcPr>
                </a:tc>
                <a:tc>
                  <a:txBody>
                    <a:bodyPr/>
                    <a:lstStyle/>
                    <a:p>
                      <a:pPr algn="ctr"/>
                      <a:r>
                        <a:rPr sz="1200" b="1" i="0">
                          <a:solidFill>
                            <a:srgbClr val="B65C3A"/>
                          </a:solidFill>
                          <a:latin typeface="Aptos"/>
                        </a:rPr>
                        <a:t>BF16</a:t>
                      </a:r>
                    </a:p>
                  </a:txBody>
                  <a:tcPr marL="54864" marR="54864" anchor="ctr">
                    <a:solidFill>
                      <a:srgbClr val="F2F0EA"/>
                    </a:solidFill>
                  </a:tcPr>
                </a:tc>
                <a:extLst>
                  <a:ext uri="{0D108BD9-81ED-4DB2-BD59-A6C34878D82A}">
                    <a16:rowId xmlns:a16="http://schemas.microsoft.com/office/drawing/2014/main" val="10008"/>
                  </a:ext>
                </a:extLst>
              </a:tr>
              <a:tr h="411480">
                <a:tc>
                  <a:txBody>
                    <a:bodyPr/>
                    <a:lstStyle/>
                    <a:p>
                      <a:pPr algn="l"/>
                      <a:r>
                        <a:rPr sz="1200" b="0" i="0">
                          <a:solidFill>
                            <a:srgbClr val="202A35"/>
                          </a:solidFill>
                          <a:latin typeface="Aptos"/>
                        </a:rPr>
                        <a:t>Checkpoint</a:t>
                      </a:r>
                    </a:p>
                  </a:txBody>
                  <a:tcPr marL="54864" marR="54864" anchor="ctr">
                    <a:solidFill>
                      <a:srgbClr val="FFFFFF"/>
                    </a:solidFill>
                  </a:tcPr>
                </a:tc>
                <a:tc>
                  <a:txBody>
                    <a:bodyPr/>
                    <a:lstStyle/>
                    <a:p>
                      <a:pPr algn="ctr"/>
                      <a:r>
                        <a:rPr sz="1200" b="1" i="0">
                          <a:solidFill>
                            <a:srgbClr val="B65C3A"/>
                          </a:solidFill>
                          <a:latin typeface="Aptos"/>
                        </a:rPr>
                        <a:t>highest SNLI validation accuracy</a:t>
                      </a:r>
                    </a:p>
                  </a:txBody>
                  <a:tcPr marL="54864" marR="54864" anchor="ctr">
                    <a:solidFill>
                      <a:srgbClr val="FFFFFF"/>
                    </a:solidFill>
                  </a:tcPr>
                </a:tc>
                <a:extLst>
                  <a:ext uri="{0D108BD9-81ED-4DB2-BD59-A6C34878D82A}">
                    <a16:rowId xmlns:a16="http://schemas.microsoft.com/office/drawing/2014/main" val="10009"/>
                  </a:ext>
                </a:extLst>
              </a:tr>
              <a:tr h="411480">
                <a:tc>
                  <a:txBody>
                    <a:bodyPr/>
                    <a:lstStyle/>
                    <a:p>
                      <a:pPr algn="l"/>
                      <a:r>
                        <a:rPr sz="1200" b="0" i="0">
                          <a:solidFill>
                            <a:srgbClr val="202A35"/>
                          </a:solidFill>
                          <a:latin typeface="Aptos"/>
                        </a:rPr>
                        <a:t>Epoch cap</a:t>
                      </a:r>
                    </a:p>
                  </a:txBody>
                  <a:tcPr marL="54864" marR="54864" anchor="ctr">
                    <a:solidFill>
                      <a:srgbClr val="F2F0EA"/>
                    </a:solidFill>
                  </a:tcPr>
                </a:tc>
                <a:tc>
                  <a:txBody>
                    <a:bodyPr/>
                    <a:lstStyle/>
                    <a:p>
                      <a:pPr algn="ctr"/>
                      <a:r>
                        <a:rPr sz="1200" b="1" i="0">
                          <a:solidFill>
                            <a:srgbClr val="B65C3A"/>
                          </a:solidFill>
                          <a:latin typeface="Aptos"/>
                        </a:rPr>
                        <a:t>6; patience 3</a:t>
                      </a:r>
                    </a:p>
                  </a:txBody>
                  <a:tcPr marL="54864" marR="54864" anchor="ctr">
                    <a:solidFill>
                      <a:srgbClr val="F2F0EA"/>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697386"/>
                </a:solidFill>
                <a:latin typeface="Aptos"/>
              </a:rPr>
              <a:t>APPENDIX</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Individual run metrics</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A2</a:t>
            </a:r>
          </a:p>
        </p:txBody>
      </p:sp>
      <p:graphicFrame>
        <p:nvGraphicFramePr>
          <p:cNvPr id="6" name="Table 5"/>
          <p:cNvGraphicFramePr>
            <a:graphicFrameLocks noGrp="1"/>
          </p:cNvGraphicFramePr>
          <p:nvPr/>
        </p:nvGraphicFramePr>
        <p:xfrm>
          <a:off x="502920" y="1371600"/>
          <a:ext cx="11109960" cy="30175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91640">
                  <a:extLst>
                    <a:ext uri="{9D8B030D-6E8A-4147-A177-3AD203B41FA5}">
                      <a16:colId xmlns:a16="http://schemas.microsoft.com/office/drawing/2014/main" val="20004"/>
                    </a:ext>
                  </a:extLst>
                </a:gridCol>
                <a:gridCol w="1691640">
                  <a:extLst>
                    <a:ext uri="{9D8B030D-6E8A-4147-A177-3AD203B41FA5}">
                      <a16:colId xmlns:a16="http://schemas.microsoft.com/office/drawing/2014/main" val="20005"/>
                    </a:ext>
                  </a:extLst>
                </a:gridCol>
                <a:gridCol w="1920240">
                  <a:extLst>
                    <a:ext uri="{9D8B030D-6E8A-4147-A177-3AD203B41FA5}">
                      <a16:colId xmlns:a16="http://schemas.microsoft.com/office/drawing/2014/main" val="20006"/>
                    </a:ext>
                  </a:extLst>
                </a:gridCol>
              </a:tblGrid>
              <a:tr h="603504">
                <a:tc>
                  <a:txBody>
                    <a:bodyPr/>
                    <a:lstStyle/>
                    <a:p>
                      <a:pPr algn="l"/>
                      <a:r>
                        <a:rPr sz="1050" b="1" i="0">
                          <a:solidFill>
                            <a:srgbClr val="202A35"/>
                          </a:solidFill>
                          <a:latin typeface="Aptos"/>
                        </a:rPr>
                        <a:t>Run</a:t>
                      </a:r>
                    </a:p>
                  </a:txBody>
                  <a:tcPr marL="54864" marR="54864">
                    <a:solidFill>
                      <a:srgbClr val="ECE9E2"/>
                    </a:solidFill>
                  </a:tcPr>
                </a:tc>
                <a:tc>
                  <a:txBody>
                    <a:bodyPr/>
                    <a:lstStyle/>
                    <a:p>
                      <a:pPr algn="ctr"/>
                      <a:r>
                        <a:rPr sz="1050" b="1" i="0">
                          <a:solidFill>
                            <a:srgbClr val="202A35"/>
                          </a:solidFill>
                          <a:latin typeface="Aptos"/>
                        </a:rPr>
                        <a:t>Train N</a:t>
                      </a:r>
                    </a:p>
                  </a:txBody>
                  <a:tcPr marL="54864" marR="54864">
                    <a:solidFill>
                      <a:srgbClr val="ECE9E2"/>
                    </a:solidFill>
                  </a:tcPr>
                </a:tc>
                <a:tc>
                  <a:txBody>
                    <a:bodyPr/>
                    <a:lstStyle/>
                    <a:p>
                      <a:pPr algn="ctr"/>
                      <a:r>
                        <a:rPr sz="1050" b="1" i="0">
                          <a:solidFill>
                            <a:srgbClr val="202A35"/>
                          </a:solidFill>
                          <a:latin typeface="Aptos"/>
                        </a:rPr>
                        <a:t>Epochs</a:t>
                      </a:r>
                    </a:p>
                  </a:txBody>
                  <a:tcPr marL="54864" marR="54864">
                    <a:solidFill>
                      <a:srgbClr val="ECE9E2"/>
                    </a:solidFill>
                  </a:tcPr>
                </a:tc>
                <a:tc>
                  <a:txBody>
                    <a:bodyPr/>
                    <a:lstStyle/>
                    <a:p>
                      <a:pPr algn="ctr"/>
                      <a:r>
                        <a:rPr sz="1050" b="1" i="0">
                          <a:solidFill>
                            <a:srgbClr val="202A35"/>
                          </a:solidFill>
                          <a:latin typeface="Aptos"/>
                        </a:rPr>
                        <a:t>Runtime</a:t>
                      </a:r>
                    </a:p>
                  </a:txBody>
                  <a:tcPr marL="54864" marR="54864">
                    <a:solidFill>
                      <a:srgbClr val="ECE9E2"/>
                    </a:solidFill>
                  </a:tcPr>
                </a:tc>
                <a:tc>
                  <a:txBody>
                    <a:bodyPr/>
                    <a:lstStyle/>
                    <a:p>
                      <a:pPr algn="ctr"/>
                      <a:r>
                        <a:rPr sz="1050" b="1" i="0">
                          <a:solidFill>
                            <a:srgbClr val="202A35"/>
                          </a:solidFill>
                          <a:latin typeface="Aptos"/>
                        </a:rPr>
                        <a:t>Validation</a:t>
                      </a:r>
                    </a:p>
                  </a:txBody>
                  <a:tcPr marL="54864" marR="54864">
                    <a:solidFill>
                      <a:srgbClr val="ECE9E2"/>
                    </a:solidFill>
                  </a:tcPr>
                </a:tc>
                <a:tc>
                  <a:txBody>
                    <a:bodyPr/>
                    <a:lstStyle/>
                    <a:p>
                      <a:pPr algn="ctr"/>
                      <a:r>
                        <a:rPr sz="1050" b="1" i="0">
                          <a:solidFill>
                            <a:srgbClr val="202A35"/>
                          </a:solidFill>
                          <a:latin typeface="Aptos"/>
                        </a:rPr>
                        <a:t>SNLI test</a:t>
                      </a:r>
                    </a:p>
                  </a:txBody>
                  <a:tcPr marL="54864" marR="54864">
                    <a:solidFill>
                      <a:srgbClr val="ECE9E2"/>
                    </a:solidFill>
                  </a:tcPr>
                </a:tc>
                <a:tc>
                  <a:txBody>
                    <a:bodyPr/>
                    <a:lstStyle/>
                    <a:p>
                      <a:pPr algn="ctr"/>
                      <a:r>
                        <a:rPr sz="1050" b="1" i="0">
                          <a:solidFill>
                            <a:srgbClr val="202A35"/>
                          </a:solidFill>
                          <a:latin typeface="Aptos"/>
                        </a:rPr>
                        <a:t>Diagnostics</a:t>
                      </a:r>
                    </a:p>
                  </a:txBody>
                  <a:tcPr marL="54864" marR="54864">
                    <a:solidFill>
                      <a:srgbClr val="ECE9E2"/>
                    </a:solidFill>
                  </a:tcPr>
                </a:tc>
                <a:extLst>
                  <a:ext uri="{0D108BD9-81ED-4DB2-BD59-A6C34878D82A}">
                    <a16:rowId xmlns:a16="http://schemas.microsoft.com/office/drawing/2014/main" val="10000"/>
                  </a:ext>
                </a:extLst>
              </a:tr>
              <a:tr h="603504">
                <a:tc>
                  <a:txBody>
                    <a:bodyPr/>
                    <a:lstStyle/>
                    <a:p>
                      <a:pPr algn="l"/>
                      <a:r>
                        <a:rPr sz="1150" b="0" i="0">
                          <a:solidFill>
                            <a:srgbClr val="202A35"/>
                          </a:solidFill>
                          <a:latin typeface="Aptos"/>
                        </a:rPr>
                        <a:t>Full</a:t>
                      </a:r>
                    </a:p>
                  </a:txBody>
                  <a:tcPr marL="54864" marR="54864" anchor="ctr">
                    <a:solidFill>
                      <a:srgbClr val="FFFFFF"/>
                    </a:solidFill>
                  </a:tcPr>
                </a:tc>
                <a:tc>
                  <a:txBody>
                    <a:bodyPr/>
                    <a:lstStyle/>
                    <a:p>
                      <a:pPr algn="ctr"/>
                      <a:r>
                        <a:rPr sz="1150" b="0" i="0">
                          <a:solidFill>
                            <a:srgbClr val="202A35"/>
                          </a:solidFill>
                          <a:latin typeface="Aptos"/>
                        </a:rPr>
                        <a:t>549,367</a:t>
                      </a:r>
                    </a:p>
                  </a:txBody>
                  <a:tcPr marL="54864" marR="54864" anchor="ctr">
                    <a:solidFill>
                      <a:srgbClr val="FFFFFF"/>
                    </a:solidFill>
                  </a:tcPr>
                </a:tc>
                <a:tc>
                  <a:txBody>
                    <a:bodyPr/>
                    <a:lstStyle/>
                    <a:p>
                      <a:pPr algn="ctr"/>
                      <a:r>
                        <a:rPr sz="1150" b="0" i="0">
                          <a:solidFill>
                            <a:srgbClr val="202A35"/>
                          </a:solidFill>
                          <a:latin typeface="Aptos"/>
                        </a:rPr>
                        <a:t>5.00</a:t>
                      </a:r>
                    </a:p>
                  </a:txBody>
                  <a:tcPr marL="54864" marR="54864" anchor="ctr">
                    <a:solidFill>
                      <a:srgbClr val="FFFFFF"/>
                    </a:solidFill>
                  </a:tcPr>
                </a:tc>
                <a:tc>
                  <a:txBody>
                    <a:bodyPr/>
                    <a:lstStyle/>
                    <a:p>
                      <a:pPr algn="ctr"/>
                      <a:r>
                        <a:rPr sz="1150" b="0" i="0">
                          <a:solidFill>
                            <a:srgbClr val="202A35"/>
                          </a:solidFill>
                          <a:latin typeface="Aptos"/>
                        </a:rPr>
                        <a:t>120.0 min</a:t>
                      </a:r>
                    </a:p>
                  </a:txBody>
                  <a:tcPr marL="54864" marR="54864" anchor="ctr">
                    <a:solidFill>
                      <a:srgbClr val="FFFFFF"/>
                    </a:solidFill>
                  </a:tcPr>
                </a:tc>
                <a:tc>
                  <a:txBody>
                    <a:bodyPr/>
                    <a:lstStyle/>
                    <a:p>
                      <a:pPr algn="ctr"/>
                      <a:r>
                        <a:rPr sz="1150" b="1" i="0">
                          <a:solidFill>
                            <a:srgbClr val="B65C3A"/>
                          </a:solidFill>
                          <a:latin typeface="Aptos"/>
                        </a:rPr>
                        <a:t>93.23</a:t>
                      </a:r>
                    </a:p>
                  </a:txBody>
                  <a:tcPr marL="54864" marR="54864" anchor="ctr">
                    <a:solidFill>
                      <a:srgbClr val="FFFFFF"/>
                    </a:solidFill>
                  </a:tcPr>
                </a:tc>
                <a:tc>
                  <a:txBody>
                    <a:bodyPr/>
                    <a:lstStyle/>
                    <a:p>
                      <a:pPr algn="ctr"/>
                      <a:r>
                        <a:rPr sz="1150" b="1" i="0">
                          <a:solidFill>
                            <a:srgbClr val="B65C3A"/>
                          </a:solidFill>
                          <a:latin typeface="Aptos"/>
                        </a:rPr>
                        <a:t>92.53</a:t>
                      </a:r>
                    </a:p>
                  </a:txBody>
                  <a:tcPr marL="54864" marR="54864" anchor="ctr">
                    <a:solidFill>
                      <a:srgbClr val="FFFFFF"/>
                    </a:solidFill>
                  </a:tcPr>
                </a:tc>
                <a:tc>
                  <a:txBody>
                    <a:bodyPr/>
                    <a:lstStyle/>
                    <a:p>
                      <a:pPr algn="ctr"/>
                      <a:r>
                        <a:rPr sz="1150" b="1" i="0">
                          <a:solidFill>
                            <a:srgbClr val="B65C3A"/>
                          </a:solidFill>
                          <a:latin typeface="Aptos"/>
                        </a:rPr>
                        <a:t>62.77</a:t>
                      </a:r>
                    </a:p>
                  </a:txBody>
                  <a:tcPr marL="54864" marR="54864" anchor="ctr">
                    <a:solidFill>
                      <a:srgbClr val="FFFFFF"/>
                    </a:solidFill>
                  </a:tcPr>
                </a:tc>
                <a:extLst>
                  <a:ext uri="{0D108BD9-81ED-4DB2-BD59-A6C34878D82A}">
                    <a16:rowId xmlns:a16="http://schemas.microsoft.com/office/drawing/2014/main" val="10001"/>
                  </a:ext>
                </a:extLst>
              </a:tr>
              <a:tr h="603504">
                <a:tc>
                  <a:txBody>
                    <a:bodyPr/>
                    <a:lstStyle/>
                    <a:p>
                      <a:pPr algn="l"/>
                      <a:r>
                        <a:rPr sz="1150" b="0" i="0">
                          <a:solidFill>
                            <a:srgbClr val="202A35"/>
                          </a:solidFill>
                          <a:latin typeface="Aptos"/>
                        </a:rPr>
                        <a:t>Random 33%</a:t>
                      </a:r>
                    </a:p>
                  </a:txBody>
                  <a:tcPr marL="54864" marR="54864" anchor="ctr">
                    <a:solidFill>
                      <a:srgbClr val="F2F0EA"/>
                    </a:solidFill>
                  </a:tcPr>
                </a:tc>
                <a:tc>
                  <a:txBody>
                    <a:bodyPr/>
                    <a:lstStyle/>
                    <a:p>
                      <a:pPr algn="ctr"/>
                      <a:r>
                        <a:rPr sz="1150" b="0" i="0">
                          <a:solidFill>
                            <a:srgbClr val="202A35"/>
                          </a:solidFill>
                          <a:latin typeface="Aptos"/>
                        </a:rPr>
                        <a:t>181,291</a:t>
                      </a:r>
                    </a:p>
                  </a:txBody>
                  <a:tcPr marL="54864" marR="54864" anchor="ctr">
                    <a:solidFill>
                      <a:srgbClr val="F2F0EA"/>
                    </a:solidFill>
                  </a:tcPr>
                </a:tc>
                <a:tc>
                  <a:txBody>
                    <a:bodyPr/>
                    <a:lstStyle/>
                    <a:p>
                      <a:pPr algn="ctr"/>
                      <a:r>
                        <a:rPr sz="1150" b="0" i="0">
                          <a:solidFill>
                            <a:srgbClr val="202A35"/>
                          </a:solidFill>
                          <a:latin typeface="Aptos"/>
                        </a:rPr>
                        <a:t>5.00</a:t>
                      </a:r>
                    </a:p>
                  </a:txBody>
                  <a:tcPr marL="54864" marR="54864" anchor="ctr">
                    <a:solidFill>
                      <a:srgbClr val="F2F0EA"/>
                    </a:solidFill>
                  </a:tcPr>
                </a:tc>
                <a:tc>
                  <a:txBody>
                    <a:bodyPr/>
                    <a:lstStyle/>
                    <a:p>
                      <a:pPr algn="ctr"/>
                      <a:r>
                        <a:rPr sz="1150" b="0" i="0">
                          <a:solidFill>
                            <a:srgbClr val="202A35"/>
                          </a:solidFill>
                          <a:latin typeface="Aptos"/>
                        </a:rPr>
                        <a:t>40.6 min</a:t>
                      </a:r>
                    </a:p>
                  </a:txBody>
                  <a:tcPr marL="54864" marR="54864" anchor="ctr">
                    <a:solidFill>
                      <a:srgbClr val="F2F0EA"/>
                    </a:solidFill>
                  </a:tcPr>
                </a:tc>
                <a:tc>
                  <a:txBody>
                    <a:bodyPr/>
                    <a:lstStyle/>
                    <a:p>
                      <a:pPr algn="ctr"/>
                      <a:r>
                        <a:rPr sz="1150" b="1" i="0">
                          <a:solidFill>
                            <a:srgbClr val="B65C3A"/>
                          </a:solidFill>
                          <a:latin typeface="Aptos"/>
                        </a:rPr>
                        <a:t>92.40</a:t>
                      </a:r>
                    </a:p>
                  </a:txBody>
                  <a:tcPr marL="54864" marR="54864" anchor="ctr">
                    <a:solidFill>
                      <a:srgbClr val="F2F0EA"/>
                    </a:solidFill>
                  </a:tcPr>
                </a:tc>
                <a:tc>
                  <a:txBody>
                    <a:bodyPr/>
                    <a:lstStyle/>
                    <a:p>
                      <a:pPr algn="ctr"/>
                      <a:r>
                        <a:rPr sz="1150" b="1" i="0">
                          <a:solidFill>
                            <a:srgbClr val="B65C3A"/>
                          </a:solidFill>
                          <a:latin typeface="Aptos"/>
                        </a:rPr>
                        <a:t>91.82</a:t>
                      </a:r>
                    </a:p>
                  </a:txBody>
                  <a:tcPr marL="54864" marR="54864" anchor="ctr">
                    <a:solidFill>
                      <a:srgbClr val="F2F0EA"/>
                    </a:solidFill>
                  </a:tcPr>
                </a:tc>
                <a:tc>
                  <a:txBody>
                    <a:bodyPr/>
                    <a:lstStyle/>
                    <a:p>
                      <a:pPr algn="ctr"/>
                      <a:r>
                        <a:rPr sz="1150" b="1" i="0">
                          <a:solidFill>
                            <a:srgbClr val="B65C3A"/>
                          </a:solidFill>
                          <a:latin typeface="Aptos"/>
                        </a:rPr>
                        <a:t>62.05</a:t>
                      </a:r>
                    </a:p>
                  </a:txBody>
                  <a:tcPr marL="54864" marR="54864" anchor="ctr">
                    <a:solidFill>
                      <a:srgbClr val="F2F0EA"/>
                    </a:solidFill>
                  </a:tcPr>
                </a:tc>
                <a:extLst>
                  <a:ext uri="{0D108BD9-81ED-4DB2-BD59-A6C34878D82A}">
                    <a16:rowId xmlns:a16="http://schemas.microsoft.com/office/drawing/2014/main" val="10002"/>
                  </a:ext>
                </a:extLst>
              </a:tr>
              <a:tr h="603504">
                <a:tc>
                  <a:txBody>
                    <a:bodyPr/>
                    <a:lstStyle/>
                    <a:p>
                      <a:pPr algn="l"/>
                      <a:r>
                        <a:rPr sz="1150" b="0" i="0">
                          <a:solidFill>
                            <a:srgbClr val="202A35"/>
                          </a:solidFill>
                          <a:latin typeface="Aptos"/>
                        </a:rPr>
                        <a:t>Hard 33%</a:t>
                      </a:r>
                    </a:p>
                  </a:txBody>
                  <a:tcPr marL="54864" marR="54864" anchor="ctr">
                    <a:solidFill>
                      <a:srgbClr val="FFFFFF"/>
                    </a:solidFill>
                  </a:tcPr>
                </a:tc>
                <a:tc>
                  <a:txBody>
                    <a:bodyPr/>
                    <a:lstStyle/>
                    <a:p>
                      <a:pPr algn="ctr"/>
                      <a:r>
                        <a:rPr sz="1150" b="0" i="0">
                          <a:solidFill>
                            <a:srgbClr val="202A35"/>
                          </a:solidFill>
                          <a:latin typeface="Aptos"/>
                        </a:rPr>
                        <a:t>182,335</a:t>
                      </a:r>
                    </a:p>
                  </a:txBody>
                  <a:tcPr marL="54864" marR="54864" anchor="ctr">
                    <a:solidFill>
                      <a:srgbClr val="FFFFFF"/>
                    </a:solidFill>
                  </a:tcPr>
                </a:tc>
                <a:tc>
                  <a:txBody>
                    <a:bodyPr/>
                    <a:lstStyle/>
                    <a:p>
                      <a:pPr algn="ctr"/>
                      <a:r>
                        <a:rPr sz="1150" b="0" i="0">
                          <a:solidFill>
                            <a:srgbClr val="202A35"/>
                          </a:solidFill>
                          <a:latin typeface="Aptos"/>
                        </a:rPr>
                        <a:t>4.00</a:t>
                      </a:r>
                    </a:p>
                  </a:txBody>
                  <a:tcPr marL="54864" marR="54864" anchor="ctr">
                    <a:solidFill>
                      <a:srgbClr val="FFFFFF"/>
                    </a:solidFill>
                  </a:tcPr>
                </a:tc>
                <a:tc>
                  <a:txBody>
                    <a:bodyPr/>
                    <a:lstStyle/>
                    <a:p>
                      <a:pPr algn="ctr"/>
                      <a:r>
                        <a:rPr sz="1150" b="0" i="0">
                          <a:solidFill>
                            <a:srgbClr val="202A35"/>
                          </a:solidFill>
                          <a:latin typeface="Aptos"/>
                        </a:rPr>
                        <a:t>33.9 min</a:t>
                      </a:r>
                    </a:p>
                  </a:txBody>
                  <a:tcPr marL="54864" marR="54864" anchor="ctr">
                    <a:solidFill>
                      <a:srgbClr val="FFFFFF"/>
                    </a:solidFill>
                  </a:tcPr>
                </a:tc>
                <a:tc>
                  <a:txBody>
                    <a:bodyPr/>
                    <a:lstStyle/>
                    <a:p>
                      <a:pPr algn="ctr"/>
                      <a:r>
                        <a:rPr sz="1150" b="1" i="0">
                          <a:solidFill>
                            <a:srgbClr val="B65C3A"/>
                          </a:solidFill>
                          <a:latin typeface="Aptos"/>
                        </a:rPr>
                        <a:t>91.21</a:t>
                      </a:r>
                    </a:p>
                  </a:txBody>
                  <a:tcPr marL="54864" marR="54864" anchor="ctr">
                    <a:solidFill>
                      <a:srgbClr val="FFFFFF"/>
                    </a:solidFill>
                  </a:tcPr>
                </a:tc>
                <a:tc>
                  <a:txBody>
                    <a:bodyPr/>
                    <a:lstStyle/>
                    <a:p>
                      <a:pPr algn="ctr"/>
                      <a:r>
                        <a:rPr sz="1150" b="1" i="0">
                          <a:solidFill>
                            <a:srgbClr val="B65C3A"/>
                          </a:solidFill>
                          <a:latin typeface="Aptos"/>
                        </a:rPr>
                        <a:t>90.42</a:t>
                      </a:r>
                    </a:p>
                  </a:txBody>
                  <a:tcPr marL="54864" marR="54864" anchor="ctr">
                    <a:solidFill>
                      <a:srgbClr val="FFFFFF"/>
                    </a:solidFill>
                  </a:tcPr>
                </a:tc>
                <a:tc>
                  <a:txBody>
                    <a:bodyPr/>
                    <a:lstStyle/>
                    <a:p>
                      <a:pPr algn="ctr"/>
                      <a:r>
                        <a:rPr sz="1150" b="1" i="0">
                          <a:solidFill>
                            <a:srgbClr val="B65C3A"/>
                          </a:solidFill>
                          <a:latin typeface="Aptos"/>
                        </a:rPr>
                        <a:t>62.14</a:t>
                      </a:r>
                    </a:p>
                  </a:txBody>
                  <a:tcPr marL="54864" marR="54864" anchor="ctr">
                    <a:solidFill>
                      <a:srgbClr val="FFFFFF"/>
                    </a:solidFill>
                  </a:tcPr>
                </a:tc>
                <a:extLst>
                  <a:ext uri="{0D108BD9-81ED-4DB2-BD59-A6C34878D82A}">
                    <a16:rowId xmlns:a16="http://schemas.microsoft.com/office/drawing/2014/main" val="10003"/>
                  </a:ext>
                </a:extLst>
              </a:tr>
              <a:tr h="603504">
                <a:tc>
                  <a:txBody>
                    <a:bodyPr/>
                    <a:lstStyle/>
                    <a:p>
                      <a:pPr algn="l"/>
                      <a:r>
                        <a:rPr sz="1150" b="0" i="0">
                          <a:solidFill>
                            <a:srgbClr val="202A35"/>
                          </a:solidFill>
                          <a:latin typeface="Aptos"/>
                        </a:rPr>
                        <a:t>Ambiguous 33%</a:t>
                      </a:r>
                    </a:p>
                  </a:txBody>
                  <a:tcPr marL="54864" marR="54864" anchor="ctr">
                    <a:solidFill>
                      <a:srgbClr val="F2F0EA"/>
                    </a:solidFill>
                  </a:tcPr>
                </a:tc>
                <a:tc>
                  <a:txBody>
                    <a:bodyPr/>
                    <a:lstStyle/>
                    <a:p>
                      <a:pPr algn="ctr"/>
                      <a:r>
                        <a:rPr sz="1150" b="0" i="0">
                          <a:solidFill>
                            <a:srgbClr val="202A35"/>
                          </a:solidFill>
                          <a:latin typeface="Aptos"/>
                        </a:rPr>
                        <a:t>182,335</a:t>
                      </a:r>
                    </a:p>
                  </a:txBody>
                  <a:tcPr marL="54864" marR="54864" anchor="ctr">
                    <a:solidFill>
                      <a:srgbClr val="F2F0EA"/>
                    </a:solidFill>
                  </a:tcPr>
                </a:tc>
                <a:tc>
                  <a:txBody>
                    <a:bodyPr/>
                    <a:lstStyle/>
                    <a:p>
                      <a:pPr algn="ctr"/>
                      <a:r>
                        <a:rPr sz="1150" b="0" i="0">
                          <a:solidFill>
                            <a:srgbClr val="202A35"/>
                          </a:solidFill>
                          <a:latin typeface="Aptos"/>
                        </a:rPr>
                        <a:t>6.00</a:t>
                      </a:r>
                    </a:p>
                  </a:txBody>
                  <a:tcPr marL="54864" marR="54864" anchor="ctr">
                    <a:solidFill>
                      <a:srgbClr val="F2F0EA"/>
                    </a:solidFill>
                  </a:tcPr>
                </a:tc>
                <a:tc>
                  <a:txBody>
                    <a:bodyPr/>
                    <a:lstStyle/>
                    <a:p>
                      <a:pPr algn="ctr"/>
                      <a:r>
                        <a:rPr sz="1150" b="0" i="0">
                          <a:solidFill>
                            <a:srgbClr val="202A35"/>
                          </a:solidFill>
                          <a:latin typeface="Aptos"/>
                        </a:rPr>
                        <a:t>50.5 min</a:t>
                      </a:r>
                    </a:p>
                  </a:txBody>
                  <a:tcPr marL="54864" marR="54864" anchor="ctr">
                    <a:solidFill>
                      <a:srgbClr val="F2F0EA"/>
                    </a:solidFill>
                  </a:tcPr>
                </a:tc>
                <a:tc>
                  <a:txBody>
                    <a:bodyPr/>
                    <a:lstStyle/>
                    <a:p>
                      <a:pPr algn="ctr"/>
                      <a:r>
                        <a:rPr sz="1150" b="1" i="0">
                          <a:solidFill>
                            <a:srgbClr val="B65C3A"/>
                          </a:solidFill>
                          <a:latin typeface="Aptos"/>
                        </a:rPr>
                        <a:t>93.05</a:t>
                      </a:r>
                    </a:p>
                  </a:txBody>
                  <a:tcPr marL="54864" marR="54864" anchor="ctr">
                    <a:solidFill>
                      <a:srgbClr val="F2F0EA"/>
                    </a:solidFill>
                  </a:tcPr>
                </a:tc>
                <a:tc>
                  <a:txBody>
                    <a:bodyPr/>
                    <a:lstStyle/>
                    <a:p>
                      <a:pPr algn="ctr"/>
                      <a:r>
                        <a:rPr sz="1150" b="1" i="0">
                          <a:solidFill>
                            <a:srgbClr val="B65C3A"/>
                          </a:solidFill>
                          <a:latin typeface="Aptos"/>
                        </a:rPr>
                        <a:t>92.19</a:t>
                      </a:r>
                    </a:p>
                  </a:txBody>
                  <a:tcPr marL="54864" marR="54864" anchor="ctr">
                    <a:solidFill>
                      <a:srgbClr val="F2F0EA"/>
                    </a:solidFill>
                  </a:tcPr>
                </a:tc>
                <a:tc>
                  <a:txBody>
                    <a:bodyPr/>
                    <a:lstStyle/>
                    <a:p>
                      <a:pPr algn="ctr"/>
                      <a:r>
                        <a:rPr sz="1150" b="1" i="0">
                          <a:solidFill>
                            <a:srgbClr val="B65C3A"/>
                          </a:solidFill>
                          <a:latin typeface="Aptos"/>
                        </a:rPr>
                        <a:t>64.31</a:t>
                      </a:r>
                    </a:p>
                  </a:txBody>
                  <a:tcPr marL="54864" marR="54864" anchor="ctr">
                    <a:solidFill>
                      <a:srgbClr val="F2F0EA"/>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749808" y="4800600"/>
            <a:ext cx="10698480" cy="41148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600" b="1" i="0">
                <a:solidFill>
                  <a:srgbClr val="202A35"/>
                </a:solidFill>
                <a:latin typeface="Aptos"/>
              </a:rPr>
              <a:t>All runs use one seed. Epoch counts differ because early stopping selected the best validation checkpoint.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697386"/>
                </a:solidFill>
                <a:latin typeface="Aptos"/>
              </a:rPr>
              <a:t>APPENDIX</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Subset construction</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A3</a:t>
            </a:r>
          </a:p>
        </p:txBody>
      </p:sp>
      <p:sp>
        <p:nvSpPr>
          <p:cNvPr id="6" name="Rounded Rectangle 5"/>
          <p:cNvSpPr/>
          <p:nvPr/>
        </p:nvSpPr>
        <p:spPr>
          <a:xfrm>
            <a:off x="777240" y="1325880"/>
            <a:ext cx="1691640" cy="292608"/>
          </a:xfrm>
          <a:prstGeom prst="roundRect">
            <a:avLst/>
          </a:prstGeom>
          <a:solidFill>
            <a:srgbClr val="F7F5F0"/>
          </a:solidFill>
          <a:ln>
            <a:solidFill>
              <a:srgbClr val="697386"/>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697386"/>
                </a:solidFill>
                <a:latin typeface="Aptos"/>
              </a:rPr>
              <a:t>RANDOM 33%</a:t>
            </a:r>
          </a:p>
        </p:txBody>
      </p:sp>
      <p:sp>
        <p:nvSpPr>
          <p:cNvPr id="7" name="Rectangle 6"/>
          <p:cNvSpPr/>
          <p:nvPr/>
        </p:nvSpPr>
        <p:spPr>
          <a:xfrm>
            <a:off x="2788920" y="1344168"/>
            <a:ext cx="1828800" cy="2926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500" b="1" i="0">
                <a:solidFill>
                  <a:srgbClr val="697386"/>
                </a:solidFill>
                <a:latin typeface="Aptos"/>
              </a:rPr>
              <a:t>181,291 examples</a:t>
            </a:r>
          </a:p>
        </p:txBody>
      </p:sp>
      <p:sp>
        <p:nvSpPr>
          <p:cNvPr id="8" name="Rectangle 7"/>
          <p:cNvSpPr/>
          <p:nvPr/>
        </p:nvSpPr>
        <p:spPr>
          <a:xfrm>
            <a:off x="4709160" y="1289304"/>
            <a:ext cx="6080760" cy="47548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600" b="0" i="0">
                <a:solidFill>
                  <a:srgbClr val="202A35"/>
                </a:solidFill>
                <a:latin typeface="Aptos"/>
              </a:rPr>
              <a:t>Pandas sample with the recovered subset seed 725862.</a:t>
            </a:r>
          </a:p>
        </p:txBody>
      </p:sp>
      <p:sp>
        <p:nvSpPr>
          <p:cNvPr id="9" name="Rounded Rectangle 8"/>
          <p:cNvSpPr/>
          <p:nvPr/>
        </p:nvSpPr>
        <p:spPr>
          <a:xfrm>
            <a:off x="777240" y="2459736"/>
            <a:ext cx="1691640" cy="292608"/>
          </a:xfrm>
          <a:prstGeom prst="roundRect">
            <a:avLst/>
          </a:prstGeom>
          <a:solidFill>
            <a:srgbClr val="F7F5F0"/>
          </a:solidFill>
          <a:ln>
            <a:solidFill>
              <a:srgbClr val="B47A2A"/>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B47A2A"/>
                </a:solidFill>
                <a:latin typeface="Aptos"/>
              </a:rPr>
              <a:t>AMBIGUOUS 33%</a:t>
            </a:r>
          </a:p>
        </p:txBody>
      </p:sp>
      <p:sp>
        <p:nvSpPr>
          <p:cNvPr id="10" name="Rectangle 9"/>
          <p:cNvSpPr/>
          <p:nvPr/>
        </p:nvSpPr>
        <p:spPr>
          <a:xfrm>
            <a:off x="2788920" y="2478024"/>
            <a:ext cx="1828800" cy="2926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500" b="1" i="0">
                <a:solidFill>
                  <a:srgbClr val="B47A2A"/>
                </a:solidFill>
                <a:latin typeface="Aptos"/>
              </a:rPr>
              <a:t>182,335 examples</a:t>
            </a:r>
          </a:p>
        </p:txBody>
      </p:sp>
      <p:sp>
        <p:nvSpPr>
          <p:cNvPr id="11" name="Rectangle 10"/>
          <p:cNvSpPr/>
          <p:nvPr/>
        </p:nvSpPr>
        <p:spPr>
          <a:xfrm>
            <a:off x="4709160" y="2423160"/>
            <a:ext cx="6080760" cy="47548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600" b="0" i="0">
                <a:solidFill>
                  <a:srgbClr val="202A35"/>
                </a:solidFill>
                <a:latin typeface="Aptos"/>
              </a:rPr>
              <a:t>Sort released coordinates by highest variability.</a:t>
            </a:r>
          </a:p>
        </p:txBody>
      </p:sp>
      <p:sp>
        <p:nvSpPr>
          <p:cNvPr id="12" name="Rounded Rectangle 11"/>
          <p:cNvSpPr/>
          <p:nvPr/>
        </p:nvSpPr>
        <p:spPr>
          <a:xfrm>
            <a:off x="777240" y="3593591"/>
            <a:ext cx="1691640" cy="292608"/>
          </a:xfrm>
          <a:prstGeom prst="roundRect">
            <a:avLst/>
          </a:prstGeom>
          <a:solidFill>
            <a:srgbClr val="F7F5F0"/>
          </a:solidFill>
          <a:ln>
            <a:solidFill>
              <a:srgbClr val="A94B46"/>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A94B46"/>
                </a:solidFill>
                <a:latin typeface="Aptos"/>
              </a:rPr>
              <a:t>HARD-TO-LEARN 33%</a:t>
            </a:r>
          </a:p>
        </p:txBody>
      </p:sp>
      <p:sp>
        <p:nvSpPr>
          <p:cNvPr id="13" name="Rectangle 12"/>
          <p:cNvSpPr/>
          <p:nvPr/>
        </p:nvSpPr>
        <p:spPr>
          <a:xfrm>
            <a:off x="2788920" y="3611879"/>
            <a:ext cx="1828800" cy="2926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500" b="1" i="0">
                <a:solidFill>
                  <a:srgbClr val="A94B46"/>
                </a:solidFill>
                <a:latin typeface="Aptos"/>
              </a:rPr>
              <a:t>182,335 examples</a:t>
            </a:r>
          </a:p>
        </p:txBody>
      </p:sp>
      <p:sp>
        <p:nvSpPr>
          <p:cNvPr id="14" name="Rectangle 13"/>
          <p:cNvSpPr/>
          <p:nvPr/>
        </p:nvSpPr>
        <p:spPr>
          <a:xfrm>
            <a:off x="4709160" y="3557015"/>
            <a:ext cx="6080760" cy="47548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600" b="0" i="0">
                <a:solidFill>
                  <a:srgbClr val="202A35"/>
                </a:solidFill>
                <a:latin typeface="Aptos"/>
              </a:rPr>
              <a:t>Sort released coordinates by lowest confidence.</a:t>
            </a:r>
          </a:p>
        </p:txBody>
      </p:sp>
      <p:sp>
        <p:nvSpPr>
          <p:cNvPr id="15" name="Rounded Rectangle 14"/>
          <p:cNvSpPr/>
          <p:nvPr/>
        </p:nvSpPr>
        <p:spPr>
          <a:xfrm>
            <a:off x="777240" y="4727448"/>
            <a:ext cx="1691640" cy="292608"/>
          </a:xfrm>
          <a:prstGeom prst="roundRect">
            <a:avLst/>
          </a:prstGeom>
          <a:solidFill>
            <a:srgbClr val="F7F5F0"/>
          </a:solidFill>
          <a:ln>
            <a:solidFill>
              <a:srgbClr val="4F7661"/>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ctr"/>
          <a:lstStyle/>
          <a:p>
            <a:pPr algn="ctr"/>
            <a:r>
              <a:rPr sz="850" b="1" i="0">
                <a:solidFill>
                  <a:srgbClr val="4F7661"/>
                </a:solidFill>
                <a:latin typeface="Aptos"/>
              </a:rPr>
              <a:t>FULL</a:t>
            </a:r>
          </a:p>
        </p:txBody>
      </p:sp>
      <p:sp>
        <p:nvSpPr>
          <p:cNvPr id="16" name="Rectangle 15"/>
          <p:cNvSpPr/>
          <p:nvPr/>
        </p:nvSpPr>
        <p:spPr>
          <a:xfrm>
            <a:off x="2788920" y="4745736"/>
            <a:ext cx="1828800" cy="29260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500" b="1" i="0">
                <a:solidFill>
                  <a:srgbClr val="4F7661"/>
                </a:solidFill>
                <a:latin typeface="Aptos"/>
              </a:rPr>
              <a:t>549,367 examples</a:t>
            </a:r>
          </a:p>
        </p:txBody>
      </p:sp>
      <p:sp>
        <p:nvSpPr>
          <p:cNvPr id="17" name="Rectangle 16"/>
          <p:cNvSpPr/>
          <p:nvPr/>
        </p:nvSpPr>
        <p:spPr>
          <a:xfrm>
            <a:off x="4709160" y="4690872"/>
            <a:ext cx="6080760" cy="47548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1600" b="0" i="0">
                <a:solidFill>
                  <a:srgbClr val="202A35"/>
                </a:solidFill>
                <a:latin typeface="Aptos"/>
              </a:rPr>
              <a:t>Every official SNLI training example with a valid label.</a:t>
            </a:r>
          </a:p>
        </p:txBody>
      </p:sp>
      <p:sp>
        <p:nvSpPr>
          <p:cNvPr id="18" name="Rectangle 17"/>
          <p:cNvSpPr/>
          <p:nvPr/>
        </p:nvSpPr>
        <p:spPr>
          <a:xfrm>
            <a:off x="914400" y="5961888"/>
            <a:ext cx="10287000" cy="274320"/>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500" b="1" i="0">
                <a:solidFill>
                  <a:srgbClr val="202A35"/>
                </a:solidFill>
                <a:latin typeface="Aptos"/>
              </a:rPr>
              <a:t>All coordinate joins are one-to-one and cover every valid training ID before selection.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502920" y="219456"/>
            <a:ext cx="2743200" cy="20116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850" b="1" i="0" spc="150">
                <a:solidFill>
                  <a:srgbClr val="697386"/>
                </a:solidFill>
                <a:latin typeface="Aptos"/>
              </a:rPr>
              <a:t>APPENDIX</a:t>
            </a:r>
          </a:p>
        </p:txBody>
      </p:sp>
      <p:sp>
        <p:nvSpPr>
          <p:cNvPr id="3" name="Rectangle 2"/>
          <p:cNvSpPr/>
          <p:nvPr/>
        </p:nvSpPr>
        <p:spPr>
          <a:xfrm>
            <a:off x="502920" y="475488"/>
            <a:ext cx="11064240" cy="438912"/>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l"/>
            <a:r>
              <a:rPr sz="2400" b="1" i="0">
                <a:solidFill>
                  <a:srgbClr val="202A35"/>
                </a:solidFill>
                <a:latin typeface="Aptos"/>
              </a:rPr>
              <a:t>Complete paper-versus-reproduction table</a:t>
            </a:r>
          </a:p>
        </p:txBody>
      </p:sp>
      <p:cxnSp>
        <p:nvCxnSpPr>
          <p:cNvPr id="4" name="Connector 3"/>
          <p:cNvCxnSpPr/>
          <p:nvPr/>
        </p:nvCxnSpPr>
        <p:spPr>
          <a:xfrm>
            <a:off x="502920" y="1024128"/>
            <a:ext cx="10698480" cy="0"/>
          </a:xfrm>
          <a:prstGeom prst="line">
            <a:avLst/>
          </a:prstGeom>
          <a:ln w="12700">
            <a:solidFill>
              <a:srgbClr val="D8D4CC"/>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1228832" y="6528816"/>
            <a:ext cx="411480" cy="146304"/>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r"/>
            <a:r>
              <a:rPr sz="750" b="0" i="0">
                <a:solidFill>
                  <a:srgbClr val="5F6B75"/>
                </a:solidFill>
                <a:latin typeface="Aptos"/>
              </a:rPr>
              <a:t>A4</a:t>
            </a:r>
          </a:p>
        </p:txBody>
      </p:sp>
      <p:graphicFrame>
        <p:nvGraphicFramePr>
          <p:cNvPr id="6" name="Table 5"/>
          <p:cNvGraphicFramePr>
            <a:graphicFrameLocks noGrp="1"/>
          </p:cNvGraphicFramePr>
          <p:nvPr/>
        </p:nvGraphicFramePr>
        <p:xfrm>
          <a:off x="512064" y="1353312"/>
          <a:ext cx="10881360" cy="31089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gridCol w="1554480">
                  <a:extLst>
                    <a:ext uri="{9D8B030D-6E8A-4147-A177-3AD203B41FA5}">
                      <a16:colId xmlns:a16="http://schemas.microsoft.com/office/drawing/2014/main" val="20006"/>
                    </a:ext>
                  </a:extLst>
                </a:gridCol>
              </a:tblGrid>
              <a:tr h="621792">
                <a:tc>
                  <a:txBody>
                    <a:bodyPr/>
                    <a:lstStyle/>
                    <a:p>
                      <a:pPr algn="l"/>
                      <a:r>
                        <a:rPr sz="1050" b="1" i="0">
                          <a:solidFill>
                            <a:srgbClr val="202A35"/>
                          </a:solidFill>
                          <a:latin typeface="Aptos"/>
                        </a:rPr>
                        <a:t>Subset</a:t>
                      </a:r>
                    </a:p>
                  </a:txBody>
                  <a:tcPr marL="54864" marR="54864">
                    <a:solidFill>
                      <a:srgbClr val="ECE9E2"/>
                    </a:solidFill>
                  </a:tcPr>
                </a:tc>
                <a:tc>
                  <a:txBody>
                    <a:bodyPr/>
                    <a:lstStyle/>
                    <a:p>
                      <a:pPr algn="ctr"/>
                      <a:r>
                        <a:rPr sz="1050" b="1" i="0">
                          <a:solidFill>
                            <a:srgbClr val="202A35"/>
                          </a:solidFill>
                          <a:latin typeface="Aptos"/>
                        </a:rPr>
                        <a:t>Paper ID</a:t>
                      </a:r>
                    </a:p>
                  </a:txBody>
                  <a:tcPr marL="54864" marR="54864">
                    <a:solidFill>
                      <a:srgbClr val="ECE9E2"/>
                    </a:solidFill>
                  </a:tcPr>
                </a:tc>
                <a:tc>
                  <a:txBody>
                    <a:bodyPr/>
                    <a:lstStyle/>
                    <a:p>
                      <a:pPr algn="ctr"/>
                      <a:r>
                        <a:rPr sz="1050" b="1" i="0">
                          <a:solidFill>
                            <a:srgbClr val="202A35"/>
                          </a:solidFill>
                          <a:latin typeface="Aptos"/>
                        </a:rPr>
                        <a:t>Our ID</a:t>
                      </a:r>
                    </a:p>
                  </a:txBody>
                  <a:tcPr marL="54864" marR="54864">
                    <a:solidFill>
                      <a:srgbClr val="ECE9E2"/>
                    </a:solidFill>
                  </a:tcPr>
                </a:tc>
                <a:tc>
                  <a:txBody>
                    <a:bodyPr/>
                    <a:lstStyle/>
                    <a:p>
                      <a:pPr algn="ctr"/>
                      <a:r>
                        <a:rPr sz="1050" b="1" i="0">
                          <a:solidFill>
                            <a:srgbClr val="202A35"/>
                          </a:solidFill>
                          <a:latin typeface="Aptos"/>
                        </a:rPr>
                        <a:t>Δ ID</a:t>
                      </a:r>
                    </a:p>
                  </a:txBody>
                  <a:tcPr marL="54864" marR="54864">
                    <a:solidFill>
                      <a:srgbClr val="ECE9E2"/>
                    </a:solidFill>
                  </a:tcPr>
                </a:tc>
                <a:tc>
                  <a:txBody>
                    <a:bodyPr/>
                    <a:lstStyle/>
                    <a:p>
                      <a:pPr algn="ctr"/>
                      <a:r>
                        <a:rPr sz="1050" b="1" i="0">
                          <a:solidFill>
                            <a:srgbClr val="202A35"/>
                          </a:solidFill>
                          <a:latin typeface="Aptos"/>
                        </a:rPr>
                        <a:t>Paper OOD</a:t>
                      </a:r>
                    </a:p>
                  </a:txBody>
                  <a:tcPr marL="54864" marR="54864">
                    <a:solidFill>
                      <a:srgbClr val="ECE9E2"/>
                    </a:solidFill>
                  </a:tcPr>
                </a:tc>
                <a:tc>
                  <a:txBody>
                    <a:bodyPr/>
                    <a:lstStyle/>
                    <a:p>
                      <a:pPr algn="ctr"/>
                      <a:r>
                        <a:rPr sz="1050" b="1" i="0">
                          <a:solidFill>
                            <a:srgbClr val="202A35"/>
                          </a:solidFill>
                          <a:latin typeface="Aptos"/>
                        </a:rPr>
                        <a:t>Our OOD</a:t>
                      </a:r>
                    </a:p>
                  </a:txBody>
                  <a:tcPr marL="54864" marR="54864">
                    <a:solidFill>
                      <a:srgbClr val="ECE9E2"/>
                    </a:solidFill>
                  </a:tcPr>
                </a:tc>
                <a:tc>
                  <a:txBody>
                    <a:bodyPr/>
                    <a:lstStyle/>
                    <a:p>
                      <a:pPr algn="ctr"/>
                      <a:r>
                        <a:rPr sz="1050" b="1" i="0">
                          <a:solidFill>
                            <a:srgbClr val="202A35"/>
                          </a:solidFill>
                          <a:latin typeface="Aptos"/>
                        </a:rPr>
                        <a:t>Δ OOD</a:t>
                      </a:r>
                    </a:p>
                  </a:txBody>
                  <a:tcPr marL="54864" marR="54864">
                    <a:solidFill>
                      <a:srgbClr val="ECE9E2"/>
                    </a:solidFill>
                  </a:tcPr>
                </a:tc>
                <a:extLst>
                  <a:ext uri="{0D108BD9-81ED-4DB2-BD59-A6C34878D82A}">
                    <a16:rowId xmlns:a16="http://schemas.microsoft.com/office/drawing/2014/main" val="10000"/>
                  </a:ext>
                </a:extLst>
              </a:tr>
              <a:tr h="621792">
                <a:tc>
                  <a:txBody>
                    <a:bodyPr/>
                    <a:lstStyle/>
                    <a:p>
                      <a:pPr algn="l"/>
                      <a:r>
                        <a:rPr sz="1150" b="0" i="0">
                          <a:solidFill>
                            <a:srgbClr val="202A35"/>
                          </a:solidFill>
                          <a:latin typeface="Aptos"/>
                        </a:rPr>
                        <a:t>Full</a:t>
                      </a:r>
                    </a:p>
                  </a:txBody>
                  <a:tcPr marL="54864" marR="54864" anchor="ctr">
                    <a:solidFill>
                      <a:srgbClr val="FFFFFF"/>
                    </a:solidFill>
                  </a:tcPr>
                </a:tc>
                <a:tc>
                  <a:txBody>
                    <a:bodyPr/>
                    <a:lstStyle/>
                    <a:p>
                      <a:pPr algn="ctr"/>
                      <a:r>
                        <a:rPr sz="1150" b="0" i="0">
                          <a:solidFill>
                            <a:srgbClr val="697386"/>
                          </a:solidFill>
                          <a:latin typeface="Aptos"/>
                        </a:rPr>
                        <a:t>92.0</a:t>
                      </a:r>
                    </a:p>
                  </a:txBody>
                  <a:tcPr marL="54864" marR="54864" anchor="ctr">
                    <a:solidFill>
                      <a:srgbClr val="FFFFFF"/>
                    </a:solidFill>
                  </a:tcPr>
                </a:tc>
                <a:tc>
                  <a:txBody>
                    <a:bodyPr/>
                    <a:lstStyle/>
                    <a:p>
                      <a:pPr algn="ctr"/>
                      <a:r>
                        <a:rPr sz="1150" b="1" i="0">
                          <a:solidFill>
                            <a:srgbClr val="B65C3A"/>
                          </a:solidFill>
                          <a:latin typeface="Aptos"/>
                        </a:rPr>
                        <a:t>92.53</a:t>
                      </a:r>
                    </a:p>
                  </a:txBody>
                  <a:tcPr marL="54864" marR="54864" anchor="ctr">
                    <a:solidFill>
                      <a:srgbClr val="FFFFFF"/>
                    </a:solidFill>
                  </a:tcPr>
                </a:tc>
                <a:tc>
                  <a:txBody>
                    <a:bodyPr/>
                    <a:lstStyle/>
                    <a:p>
                      <a:pPr algn="ctr"/>
                      <a:r>
                        <a:rPr sz="1150" b="0" i="0">
                          <a:solidFill>
                            <a:srgbClr val="202A35"/>
                          </a:solidFill>
                          <a:latin typeface="Aptos"/>
                        </a:rPr>
                        <a:t>+0.53</a:t>
                      </a:r>
                    </a:p>
                  </a:txBody>
                  <a:tcPr marL="54864" marR="54864" anchor="ctr">
                    <a:solidFill>
                      <a:srgbClr val="FFFFFF"/>
                    </a:solidFill>
                  </a:tcPr>
                </a:tc>
                <a:tc>
                  <a:txBody>
                    <a:bodyPr/>
                    <a:lstStyle/>
                    <a:p>
                      <a:pPr algn="ctr"/>
                      <a:r>
                        <a:rPr sz="1150" b="0" i="0">
                          <a:solidFill>
                            <a:srgbClr val="697386"/>
                          </a:solidFill>
                          <a:latin typeface="Aptos"/>
                        </a:rPr>
                        <a:t>61.8</a:t>
                      </a:r>
                    </a:p>
                  </a:txBody>
                  <a:tcPr marL="54864" marR="54864" anchor="ctr">
                    <a:solidFill>
                      <a:srgbClr val="FFFFFF"/>
                    </a:solidFill>
                  </a:tcPr>
                </a:tc>
                <a:tc>
                  <a:txBody>
                    <a:bodyPr/>
                    <a:lstStyle/>
                    <a:p>
                      <a:pPr algn="ctr"/>
                      <a:r>
                        <a:rPr sz="1150" b="1" i="0">
                          <a:solidFill>
                            <a:srgbClr val="B65C3A"/>
                          </a:solidFill>
                          <a:latin typeface="Aptos"/>
                        </a:rPr>
                        <a:t>62.77</a:t>
                      </a:r>
                    </a:p>
                  </a:txBody>
                  <a:tcPr marL="54864" marR="54864" anchor="ctr">
                    <a:solidFill>
                      <a:srgbClr val="FFFFFF"/>
                    </a:solidFill>
                  </a:tcPr>
                </a:tc>
                <a:tc>
                  <a:txBody>
                    <a:bodyPr/>
                    <a:lstStyle/>
                    <a:p>
                      <a:pPr algn="ctr"/>
                      <a:r>
                        <a:rPr sz="1150" b="0" i="0">
                          <a:solidFill>
                            <a:srgbClr val="202A35"/>
                          </a:solidFill>
                          <a:latin typeface="Aptos"/>
                        </a:rPr>
                        <a:t>+0.97</a:t>
                      </a:r>
                    </a:p>
                  </a:txBody>
                  <a:tcPr marL="54864" marR="54864" anchor="ctr">
                    <a:solidFill>
                      <a:srgbClr val="FFFFFF"/>
                    </a:solidFill>
                  </a:tcPr>
                </a:tc>
                <a:extLst>
                  <a:ext uri="{0D108BD9-81ED-4DB2-BD59-A6C34878D82A}">
                    <a16:rowId xmlns:a16="http://schemas.microsoft.com/office/drawing/2014/main" val="10001"/>
                  </a:ext>
                </a:extLst>
              </a:tr>
              <a:tr h="621792">
                <a:tc>
                  <a:txBody>
                    <a:bodyPr/>
                    <a:lstStyle/>
                    <a:p>
                      <a:pPr algn="l"/>
                      <a:r>
                        <a:rPr sz="1150" b="0" i="0">
                          <a:solidFill>
                            <a:srgbClr val="202A35"/>
                          </a:solidFill>
                          <a:latin typeface="Aptos"/>
                        </a:rPr>
                        <a:t>Random 33%</a:t>
                      </a:r>
                    </a:p>
                  </a:txBody>
                  <a:tcPr marL="54864" marR="54864" anchor="ctr">
                    <a:solidFill>
                      <a:srgbClr val="F2F0EA"/>
                    </a:solidFill>
                  </a:tcPr>
                </a:tc>
                <a:tc>
                  <a:txBody>
                    <a:bodyPr/>
                    <a:lstStyle/>
                    <a:p>
                      <a:pPr algn="ctr"/>
                      <a:r>
                        <a:rPr sz="1150" b="0" i="0">
                          <a:solidFill>
                            <a:srgbClr val="697386"/>
                          </a:solidFill>
                          <a:latin typeface="Aptos"/>
                        </a:rPr>
                        <a:t>91.3</a:t>
                      </a:r>
                    </a:p>
                  </a:txBody>
                  <a:tcPr marL="54864" marR="54864" anchor="ctr">
                    <a:solidFill>
                      <a:srgbClr val="F2F0EA"/>
                    </a:solidFill>
                  </a:tcPr>
                </a:tc>
                <a:tc>
                  <a:txBody>
                    <a:bodyPr/>
                    <a:lstStyle/>
                    <a:p>
                      <a:pPr algn="ctr"/>
                      <a:r>
                        <a:rPr sz="1150" b="1" i="0">
                          <a:solidFill>
                            <a:srgbClr val="B65C3A"/>
                          </a:solidFill>
                          <a:latin typeface="Aptos"/>
                        </a:rPr>
                        <a:t>91.82</a:t>
                      </a:r>
                    </a:p>
                  </a:txBody>
                  <a:tcPr marL="54864" marR="54864" anchor="ctr">
                    <a:solidFill>
                      <a:srgbClr val="F2F0EA"/>
                    </a:solidFill>
                  </a:tcPr>
                </a:tc>
                <a:tc>
                  <a:txBody>
                    <a:bodyPr/>
                    <a:lstStyle/>
                    <a:p>
                      <a:pPr algn="ctr"/>
                      <a:r>
                        <a:rPr sz="1150" b="0" i="0">
                          <a:solidFill>
                            <a:srgbClr val="202A35"/>
                          </a:solidFill>
                          <a:latin typeface="Aptos"/>
                        </a:rPr>
                        <a:t>+0.52</a:t>
                      </a:r>
                    </a:p>
                  </a:txBody>
                  <a:tcPr marL="54864" marR="54864" anchor="ctr">
                    <a:solidFill>
                      <a:srgbClr val="F2F0EA"/>
                    </a:solidFill>
                  </a:tcPr>
                </a:tc>
                <a:tc>
                  <a:txBody>
                    <a:bodyPr/>
                    <a:lstStyle/>
                    <a:p>
                      <a:pPr algn="ctr"/>
                      <a:r>
                        <a:rPr sz="1150" b="0" i="0">
                          <a:solidFill>
                            <a:srgbClr val="697386"/>
                          </a:solidFill>
                          <a:latin typeface="Aptos"/>
                        </a:rPr>
                        <a:t>60.4</a:t>
                      </a:r>
                    </a:p>
                  </a:txBody>
                  <a:tcPr marL="54864" marR="54864" anchor="ctr">
                    <a:solidFill>
                      <a:srgbClr val="F2F0EA"/>
                    </a:solidFill>
                  </a:tcPr>
                </a:tc>
                <a:tc>
                  <a:txBody>
                    <a:bodyPr/>
                    <a:lstStyle/>
                    <a:p>
                      <a:pPr algn="ctr"/>
                      <a:r>
                        <a:rPr sz="1150" b="1" i="0">
                          <a:solidFill>
                            <a:srgbClr val="B65C3A"/>
                          </a:solidFill>
                          <a:latin typeface="Aptos"/>
                        </a:rPr>
                        <a:t>62.05</a:t>
                      </a:r>
                    </a:p>
                  </a:txBody>
                  <a:tcPr marL="54864" marR="54864" anchor="ctr">
                    <a:solidFill>
                      <a:srgbClr val="F2F0EA"/>
                    </a:solidFill>
                  </a:tcPr>
                </a:tc>
                <a:tc>
                  <a:txBody>
                    <a:bodyPr/>
                    <a:lstStyle/>
                    <a:p>
                      <a:pPr algn="ctr"/>
                      <a:r>
                        <a:rPr sz="1150" b="0" i="0">
                          <a:solidFill>
                            <a:srgbClr val="202A35"/>
                          </a:solidFill>
                          <a:latin typeface="Aptos"/>
                        </a:rPr>
                        <a:t>+1.65</a:t>
                      </a:r>
                    </a:p>
                  </a:txBody>
                  <a:tcPr marL="54864" marR="54864" anchor="ctr">
                    <a:solidFill>
                      <a:srgbClr val="F2F0EA"/>
                    </a:solidFill>
                  </a:tcPr>
                </a:tc>
                <a:extLst>
                  <a:ext uri="{0D108BD9-81ED-4DB2-BD59-A6C34878D82A}">
                    <a16:rowId xmlns:a16="http://schemas.microsoft.com/office/drawing/2014/main" val="10002"/>
                  </a:ext>
                </a:extLst>
              </a:tr>
              <a:tr h="621792">
                <a:tc>
                  <a:txBody>
                    <a:bodyPr/>
                    <a:lstStyle/>
                    <a:p>
                      <a:pPr algn="l"/>
                      <a:r>
                        <a:rPr sz="1150" b="0" i="0">
                          <a:solidFill>
                            <a:srgbClr val="202A35"/>
                          </a:solidFill>
                          <a:latin typeface="Aptos"/>
                        </a:rPr>
                        <a:t>Hard 33%</a:t>
                      </a:r>
                    </a:p>
                  </a:txBody>
                  <a:tcPr marL="54864" marR="54864" anchor="ctr">
                    <a:solidFill>
                      <a:srgbClr val="FFFFFF"/>
                    </a:solidFill>
                  </a:tcPr>
                </a:tc>
                <a:tc>
                  <a:txBody>
                    <a:bodyPr/>
                    <a:lstStyle/>
                    <a:p>
                      <a:pPr algn="ctr"/>
                      <a:r>
                        <a:rPr sz="1150" b="0" i="0">
                          <a:solidFill>
                            <a:srgbClr val="697386"/>
                          </a:solidFill>
                          <a:latin typeface="Aptos"/>
                        </a:rPr>
                        <a:t>91.8</a:t>
                      </a:r>
                    </a:p>
                  </a:txBody>
                  <a:tcPr marL="54864" marR="54864" anchor="ctr">
                    <a:solidFill>
                      <a:srgbClr val="FFFFFF"/>
                    </a:solidFill>
                  </a:tcPr>
                </a:tc>
                <a:tc>
                  <a:txBody>
                    <a:bodyPr/>
                    <a:lstStyle/>
                    <a:p>
                      <a:pPr algn="ctr"/>
                      <a:r>
                        <a:rPr sz="1150" b="1" i="0">
                          <a:solidFill>
                            <a:srgbClr val="B65C3A"/>
                          </a:solidFill>
                          <a:latin typeface="Aptos"/>
                        </a:rPr>
                        <a:t>90.42</a:t>
                      </a:r>
                    </a:p>
                  </a:txBody>
                  <a:tcPr marL="54864" marR="54864" anchor="ctr">
                    <a:solidFill>
                      <a:srgbClr val="FFFFFF"/>
                    </a:solidFill>
                  </a:tcPr>
                </a:tc>
                <a:tc>
                  <a:txBody>
                    <a:bodyPr/>
                    <a:lstStyle/>
                    <a:p>
                      <a:pPr algn="ctr"/>
                      <a:r>
                        <a:rPr sz="1150" b="0" i="0">
                          <a:solidFill>
                            <a:srgbClr val="202A35"/>
                          </a:solidFill>
                          <a:latin typeface="Aptos"/>
                        </a:rPr>
                        <a:t>-1.38</a:t>
                      </a:r>
                    </a:p>
                  </a:txBody>
                  <a:tcPr marL="54864" marR="54864" anchor="ctr">
                    <a:solidFill>
                      <a:srgbClr val="FFFFFF"/>
                    </a:solidFill>
                  </a:tcPr>
                </a:tc>
                <a:tc>
                  <a:txBody>
                    <a:bodyPr/>
                    <a:lstStyle/>
                    <a:p>
                      <a:pPr algn="ctr"/>
                      <a:r>
                        <a:rPr sz="1150" b="0" i="0">
                          <a:solidFill>
                            <a:srgbClr val="697386"/>
                          </a:solidFill>
                          <a:latin typeface="Aptos"/>
                        </a:rPr>
                        <a:t>62.0</a:t>
                      </a:r>
                    </a:p>
                  </a:txBody>
                  <a:tcPr marL="54864" marR="54864" anchor="ctr">
                    <a:solidFill>
                      <a:srgbClr val="FFFFFF"/>
                    </a:solidFill>
                  </a:tcPr>
                </a:tc>
                <a:tc>
                  <a:txBody>
                    <a:bodyPr/>
                    <a:lstStyle/>
                    <a:p>
                      <a:pPr algn="ctr"/>
                      <a:r>
                        <a:rPr sz="1150" b="1" i="0">
                          <a:solidFill>
                            <a:srgbClr val="B65C3A"/>
                          </a:solidFill>
                          <a:latin typeface="Aptos"/>
                        </a:rPr>
                        <a:t>62.14</a:t>
                      </a:r>
                    </a:p>
                  </a:txBody>
                  <a:tcPr marL="54864" marR="54864" anchor="ctr">
                    <a:solidFill>
                      <a:srgbClr val="FFFFFF"/>
                    </a:solidFill>
                  </a:tcPr>
                </a:tc>
                <a:tc>
                  <a:txBody>
                    <a:bodyPr/>
                    <a:lstStyle/>
                    <a:p>
                      <a:pPr algn="ctr"/>
                      <a:r>
                        <a:rPr sz="1150" b="0" i="0">
                          <a:solidFill>
                            <a:srgbClr val="202A35"/>
                          </a:solidFill>
                          <a:latin typeface="Aptos"/>
                        </a:rPr>
                        <a:t>+0.14</a:t>
                      </a:r>
                    </a:p>
                  </a:txBody>
                  <a:tcPr marL="54864" marR="54864" anchor="ctr">
                    <a:solidFill>
                      <a:srgbClr val="FFFFFF"/>
                    </a:solidFill>
                  </a:tcPr>
                </a:tc>
                <a:extLst>
                  <a:ext uri="{0D108BD9-81ED-4DB2-BD59-A6C34878D82A}">
                    <a16:rowId xmlns:a16="http://schemas.microsoft.com/office/drawing/2014/main" val="10003"/>
                  </a:ext>
                </a:extLst>
              </a:tr>
              <a:tr h="621792">
                <a:tc>
                  <a:txBody>
                    <a:bodyPr/>
                    <a:lstStyle/>
                    <a:p>
                      <a:pPr algn="l"/>
                      <a:r>
                        <a:rPr sz="1150" b="0" i="0">
                          <a:solidFill>
                            <a:srgbClr val="202A35"/>
                          </a:solidFill>
                          <a:latin typeface="Aptos"/>
                        </a:rPr>
                        <a:t>Ambiguous 33%</a:t>
                      </a:r>
                    </a:p>
                  </a:txBody>
                  <a:tcPr marL="54864" marR="54864" anchor="ctr">
                    <a:solidFill>
                      <a:srgbClr val="F2F0EA"/>
                    </a:solidFill>
                  </a:tcPr>
                </a:tc>
                <a:tc>
                  <a:txBody>
                    <a:bodyPr/>
                    <a:lstStyle/>
                    <a:p>
                      <a:pPr algn="ctr"/>
                      <a:r>
                        <a:rPr sz="1150" b="0" i="0">
                          <a:solidFill>
                            <a:srgbClr val="697386"/>
                          </a:solidFill>
                          <a:latin typeface="Aptos"/>
                        </a:rPr>
                        <a:t>92.2</a:t>
                      </a:r>
                    </a:p>
                  </a:txBody>
                  <a:tcPr marL="54864" marR="54864" anchor="ctr">
                    <a:solidFill>
                      <a:srgbClr val="F2F0EA"/>
                    </a:solidFill>
                  </a:tcPr>
                </a:tc>
                <a:tc>
                  <a:txBody>
                    <a:bodyPr/>
                    <a:lstStyle/>
                    <a:p>
                      <a:pPr algn="ctr"/>
                      <a:r>
                        <a:rPr sz="1150" b="1" i="0">
                          <a:solidFill>
                            <a:srgbClr val="B65C3A"/>
                          </a:solidFill>
                          <a:latin typeface="Aptos"/>
                        </a:rPr>
                        <a:t>92.19</a:t>
                      </a:r>
                    </a:p>
                  </a:txBody>
                  <a:tcPr marL="54864" marR="54864" anchor="ctr">
                    <a:solidFill>
                      <a:srgbClr val="F2F0EA"/>
                    </a:solidFill>
                  </a:tcPr>
                </a:tc>
                <a:tc>
                  <a:txBody>
                    <a:bodyPr/>
                    <a:lstStyle/>
                    <a:p>
                      <a:pPr algn="ctr"/>
                      <a:r>
                        <a:rPr sz="1150" b="0" i="0">
                          <a:solidFill>
                            <a:srgbClr val="202A35"/>
                          </a:solidFill>
                          <a:latin typeface="Aptos"/>
                        </a:rPr>
                        <a:t>-0.01</a:t>
                      </a:r>
                    </a:p>
                  </a:txBody>
                  <a:tcPr marL="54864" marR="54864" anchor="ctr">
                    <a:solidFill>
                      <a:srgbClr val="F2F0EA"/>
                    </a:solidFill>
                  </a:tcPr>
                </a:tc>
                <a:tc>
                  <a:txBody>
                    <a:bodyPr/>
                    <a:lstStyle/>
                    <a:p>
                      <a:pPr algn="ctr"/>
                      <a:r>
                        <a:rPr sz="1150" b="0" i="0">
                          <a:solidFill>
                            <a:srgbClr val="697386"/>
                          </a:solidFill>
                          <a:latin typeface="Aptos"/>
                        </a:rPr>
                        <a:t>63.5</a:t>
                      </a:r>
                    </a:p>
                  </a:txBody>
                  <a:tcPr marL="54864" marR="54864" anchor="ctr">
                    <a:solidFill>
                      <a:srgbClr val="F2F0EA"/>
                    </a:solidFill>
                  </a:tcPr>
                </a:tc>
                <a:tc>
                  <a:txBody>
                    <a:bodyPr/>
                    <a:lstStyle/>
                    <a:p>
                      <a:pPr algn="ctr"/>
                      <a:r>
                        <a:rPr sz="1150" b="1" i="0">
                          <a:solidFill>
                            <a:srgbClr val="B65C3A"/>
                          </a:solidFill>
                          <a:latin typeface="Aptos"/>
                        </a:rPr>
                        <a:t>64.31</a:t>
                      </a:r>
                    </a:p>
                  </a:txBody>
                  <a:tcPr marL="54864" marR="54864" anchor="ctr">
                    <a:solidFill>
                      <a:srgbClr val="F2F0EA"/>
                    </a:solidFill>
                  </a:tcPr>
                </a:tc>
                <a:tc>
                  <a:txBody>
                    <a:bodyPr/>
                    <a:lstStyle/>
                    <a:p>
                      <a:pPr algn="ctr"/>
                      <a:r>
                        <a:rPr sz="1150" b="0" i="0">
                          <a:solidFill>
                            <a:srgbClr val="202A35"/>
                          </a:solidFill>
                          <a:latin typeface="Aptos"/>
                        </a:rPr>
                        <a:t>+0.81</a:t>
                      </a:r>
                    </a:p>
                  </a:txBody>
                  <a:tcPr marL="54864" marR="54864" anchor="ctr">
                    <a:solidFill>
                      <a:srgbClr val="F2F0EA"/>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777240" y="4828032"/>
            <a:ext cx="10607040" cy="384048"/>
          </a:xfrm>
          <a:prstGeom prst="rect">
            <a:avLst/>
          </a:prstGeom>
          <a:solidFill>
            <a:srgbClr val="F7F5F0"/>
          </a:solidFill>
          <a:ln>
            <a:solidFill>
              <a:srgbClr val="F7F5F0"/>
            </a:solidFill>
          </a:ln>
        </p:spPr>
        <p:style>
          <a:lnRef idx="1">
            <a:schemeClr val="accent1"/>
          </a:lnRef>
          <a:fillRef idx="3">
            <a:schemeClr val="accent1"/>
          </a:fillRef>
          <a:effectRef idx="2">
            <a:schemeClr val="accent1"/>
          </a:effectRef>
          <a:fontRef idx="minor">
            <a:schemeClr val="lt1"/>
          </a:fontRef>
        </p:style>
        <p:txBody>
          <a:bodyPr lIns="36576" tIns="36576" rIns="36576" bIns="36576" rtlCol="0" anchor="t"/>
          <a:lstStyle/>
          <a:p>
            <a:pPr algn="ctr"/>
            <a:r>
              <a:rPr sz="1600" b="1" i="0">
                <a:solidFill>
                  <a:srgbClr val="202A35"/>
                </a:solidFill>
                <a:latin typeface="Aptos"/>
              </a:rPr>
              <a:t>Paper values are best-of-three; reproduction values are one run with seed 93078.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4241</Words>
  <Application>Microsoft Office PowerPoint</Application>
  <PresentationFormat>Широкоэкранный</PresentationFormat>
  <Paragraphs>524</Paragraphs>
  <Slides>24</Slides>
  <Notes>24</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24</vt:i4>
      </vt:variant>
    </vt:vector>
  </HeadingPairs>
  <TitlesOfParts>
    <vt:vector size="28" baseType="lpstr">
      <vt:lpstr>Aptos</vt:lpstr>
      <vt:lpstr>Arial</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Julia Mazine</cp:lastModifiedBy>
  <cp:revision>3</cp:revision>
  <dcterms:created xsi:type="dcterms:W3CDTF">2013-01-27T09:14:16Z</dcterms:created>
  <dcterms:modified xsi:type="dcterms:W3CDTF">2026-09-24T07:50:28Z</dcterms:modified>
  <cp:category/>
</cp:coreProperties>
</file>